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2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Credit Risk Scoring</a:t>
            </a:r>
            <a:br/>
            <a:r>
              <a:t>&amp; Portfolio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DEE"/>
                </a:solidFill>
                <a:latin typeface="Calibri"/>
              </a:defRPr>
            </a:pPr>
            <a:r>
              <a:t>Technical Methodology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  <a:latin typeface="Calibri"/>
              </a:defRPr>
            </a:pPr>
            <a:r>
              <a:t>End-to-end pipeline for multi-segment credit decisioning</a:t>
            </a:r>
            <a:br/>
            <a:r>
              <a:t>with MILP optimization, reject inference, and automated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AABB"/>
                </a:solidFill>
                <a:latin typeface="Calibri"/>
              </a:defRPr>
            </a:pPr>
            <a:r>
              <a:t>March 2026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1.   Pipeline Architecture &amp; End-to-End Flow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2.   Data Populations &amp; Risk Metric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3.   Preprocessing &amp; Binning Methodology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4.   Risk Adjustment Pipeline (Stress, RI, Tasa Fin)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5.   Model Inference (Hurdle, Tweedie, XGBoost, LightGBM)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6.   MILP Optimization &amp; Pareto Frontier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7.   Reject Inference &amp; Selection Bias Correction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8.   Scenario Analysis &amp; Bootstrap CI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9.   Stability (PSI/CSI) &amp; MR Validation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10.   Sensitivity, Marginal Impact &amp; Fixed-Cell Constraints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11.   Batch Processing &amp; Global Allocation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12.   Trend Analysis &amp; SPC Anomaly Detection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13.   Consolidated Reporting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2C2C2C"/>
                </a:solidFill>
                <a:latin typeface="Calibri"/>
              </a:defRPr>
            </a:pPr>
            <a:r>
              <a:t>  14.   Recent Improvements &amp;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End-to-end flow from raw data to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28600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Config</a:t>
            </a:r>
            <a:br/>
            <a:r>
              <a:t>(Pydantic)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011680"/>
            <a:ext cx="228600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Data Load</a:t>
            </a:r>
            <a:br/>
            <a:r>
              <a:t>(SAS files)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488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28600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Preprocess</a:t>
            </a:r>
            <a:br/>
            <a:r>
              <a:t>(DQ + Bins)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1488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2011680"/>
            <a:ext cx="228600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Inference</a:t>
            </a:r>
            <a:br/>
            <a:r>
              <a:t>(Models + CV)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2286000" cy="640080"/>
          </a:xfrm>
          <a:prstGeom prst="rect">
            <a:avLst/>
          </a:prstGeom>
          <a:solidFill>
            <a:srgbClr val="3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 Optimization</a:t>
            </a:r>
            <a:br/>
            <a:r>
              <a:t>(MILP / Pareto)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3200400"/>
            <a:ext cx="2286000" cy="640080"/>
          </a:xfrm>
          <a:prstGeom prst="rect">
            <a:avLst/>
          </a:prstGeom>
          <a:solidFill>
            <a:srgbClr val="3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6. Scenarios</a:t>
            </a:r>
            <a:br/>
            <a:r>
              <a:t>(Pessim/Base/Opt)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2286000" cy="640080"/>
          </a:xfrm>
          <a:prstGeom prst="rect">
            <a:avLst/>
          </a:prstGeom>
          <a:solidFill>
            <a:srgbClr val="3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7. Stability</a:t>
            </a:r>
            <a:br/>
            <a:r>
              <a:t>(PSI + MR)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337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200400"/>
            <a:ext cx="2286000" cy="640080"/>
          </a:xfrm>
          <a:prstGeom prst="rect">
            <a:avLst/>
          </a:prstGeom>
          <a:solidFill>
            <a:srgbClr val="3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8. Reporting</a:t>
            </a:r>
            <a:br/>
            <a:r>
              <a:t>(HTML)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Optional Pipeline Extensions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2C2C2C"/>
                </a:solidFill>
                <a:latin typeface="Calibri"/>
              </a:rPr>
              <a:t>6b. </a:t>
            </a:r>
            <a:r>
              <a:rPr sz="1300">
                <a:solidFill>
                  <a:srgbClr val="2C2C2C"/>
                </a:solidFill>
                <a:latin typeface="Calibri"/>
              </a:rPr>
              <a:t>Sensitivity analysis: risk perturbation across grid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2C2C2C"/>
                </a:solidFill>
                <a:latin typeface="Calibri"/>
              </a:rPr>
              <a:t>6c. </a:t>
            </a:r>
            <a:r>
              <a:rPr sz="1300">
                <a:solidFill>
                  <a:srgbClr val="2C2C2C"/>
                </a:solidFill>
                <a:latin typeface="Calibri"/>
              </a:rPr>
              <a:t>RI parameter optimization: grid search / Optuna TPE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2C2C2C"/>
                </a:solidFill>
                <a:latin typeface="Calibri"/>
              </a:rPr>
              <a:t>6d. </a:t>
            </a:r>
            <a:r>
              <a:rPr sz="1300">
                <a:solidFill>
                  <a:srgbClr val="2C2C2C"/>
                </a:solidFill>
                <a:latin typeface="Calibri"/>
              </a:rPr>
              <a:t>Re-optimization with tuned RI parameters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2C2C2C"/>
                </a:solidFill>
                <a:latin typeface="Calibri"/>
              </a:rPr>
              <a:t>7b. </a:t>
            </a:r>
            <a:r>
              <a:rPr sz="1300">
                <a:solidFill>
                  <a:srgbClr val="2C2C2C"/>
                </a:solidFill>
                <a:latin typeface="Calibri"/>
              </a:rPr>
              <a:t>Trend analysis: monthly SPC 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Key Design Principles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2C2C2C"/>
                </a:solidFill>
                <a:latin typeface="Calibri"/>
              </a:rPr>
              <a:t>Path Mgmt: </a:t>
            </a:r>
            <a:r>
              <a:rPr sz="1300">
                <a:solidFill>
                  <a:srgbClr val="2C2C2C"/>
                </a:solidFill>
                <a:latin typeface="Calibri"/>
              </a:rPr>
              <a:t>Centralized OutputPaths dataclass for all file I/O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2C2C2C"/>
                </a:solidFill>
                <a:latin typeface="Calibri"/>
              </a:rPr>
              <a:t>Isolation: </a:t>
            </a:r>
            <a:r>
              <a:rPr sz="1300">
                <a:solidFill>
                  <a:srgbClr val="2C2C2C"/>
                </a:solidFill>
                <a:latin typeface="Calibri"/>
              </a:rPr>
              <a:t>Non-blocking optional steps (trends, reporting, sensitivity)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2C2C2C"/>
                </a:solidFill>
                <a:latin typeface="Calibri"/>
              </a:rPr>
              <a:t>Typed Returns: </a:t>
            </a:r>
            <a:r>
              <a:rPr sz="1300">
                <a:solidFill>
                  <a:srgbClr val="2C2C2C"/>
                </a:solidFill>
                <a:latin typeface="Calibri"/>
              </a:rPr>
              <a:t>PreprocessingResult dataclass for phase outputs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2C2C2C"/>
                </a:solidFill>
                <a:latin typeface="Calibri"/>
              </a:rPr>
              <a:t>Early Exit: </a:t>
            </a:r>
            <a:r>
              <a:rPr sz="1300">
                <a:solidFill>
                  <a:srgbClr val="2C2C2C"/>
                </a:solidFill>
                <a:latin typeface="Calibri"/>
              </a:rPr>
              <a:t>Training-only mode, pre-trained model loading, skip DQ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3/18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Populations &amp; Risk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Three populations, one risk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800" b="1">
                <a:solidFill>
                  <a:srgbClr val="2E528F"/>
                </a:solidFill>
                <a:latin typeface="Calibri"/>
              </a:defRPr>
            </a:pPr>
            <a:r>
              <a:t>Application Populations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377440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 in Optimization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Booked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Approved and disbursed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Observed outcomes (risk + production)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Score-rejected (repesca)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Rejected by credit score cutoff (09-score)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Candidates for cutoff changes; outcomes inferred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Policy-rejected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Rejected for non-score reasons (08-other)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Excluded -- rejection unrelated to creditworthiness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800" b="1">
                <a:solidFill>
                  <a:srgbClr val="2E528F"/>
                </a:solidFill>
                <a:latin typeface="Calibri"/>
              </a:defRPr>
            </a:pPr>
            <a:r>
              <a:t>Risk Metric: b2_ever_h6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663440"/>
            <a:ext cx="640080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  <a:r>
              <a:t>b2_ever_h6 = multiplier x todu_30ever_h6 / todu_amt_pile_h6</a:t>
            </a:r>
          </a:p>
          <a:p>
            <a:pPr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  <a:r>
              <a:t>           (default multiplier = 7 for H6, 4 for H3)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Annualization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All indicators scaled by: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2C2C2C"/>
                </a:solidFill>
                <a:latin typeface="Calibri"/>
              </a:defRPr>
            </a:pPr>
            <a:r>
              <a:t>annual_coef = 12 / n_months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Normalizes to 12-month equivalent across different observation periods.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4/18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Preprocessing &amp; Binning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Data quality, filtering, and discretization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Data Quality &amp; Filtering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2C2C2C"/>
                </a:solidFill>
                <a:latin typeface="Calibri"/>
              </a:defRPr>
            </a:pPr>
            <a:r>
              <a:t>  Schema validation, missing values, date range checks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2C2C2C"/>
                </a:solidFill>
                <a:latin typeface="Calibri"/>
              </a:defRPr>
            </a:pPr>
            <a:r>
              <a:t>  Fraud / out-of-norm / legal entity filtering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2C2C2C"/>
                </a:solidFill>
                <a:latin typeface="Calibri"/>
              </a:defRPr>
            </a:pPr>
            <a:r>
              <a:t>  Outlier flagging via Z-score (configurable threshold)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2C2C2C"/>
                </a:solidFill>
                <a:latin typeface="Calibri"/>
              </a:defRPr>
            </a:pPr>
            <a:r>
              <a:t>  Status / reject-reason reclassification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2C2C2C"/>
                </a:solidFill>
                <a:latin typeface="Calibri"/>
              </a:defRPr>
            </a:pPr>
            <a:r>
              <a:t>  Monthly distribution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Monotonicity Direction Inference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Weighted Spearman correlation on booked data (weighted by production).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Direction = -1: higher bin = safer (e.g., credit scores)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Direction = +1: higher bin = riskier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Can be overridden via [preprocessing.directions] config.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Binning Methods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389120"/>
          <a:ext cx="105156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quantile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Equal-count quantile splits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Unsupervised, avoids target leakage</a:t>
                      </a:r>
                    </a:p>
                  </a:txBody>
                  <a:tcPr anchor="ctr"/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optimization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DecisionTreeRegressor + production weights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Maximize risk separation across bins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BinConfig (per variable)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720"/>
            <a:ext cx="548640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source_col: str     # Raw column (e.g., 'income_t1t2_m')</a:t>
            </a:r>
          </a:p>
          <a:p>
            <a:pPr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output_col: str     # Binned column (e.g., 'income_bin')</a:t>
            </a:r>
          </a:p>
          <a:p>
            <a:pPr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bin_edges | max_bins # Fixed edges or supervised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03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Gini Retention Assessment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Compares AUC-based Gini for raw score vs. binned score.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Reports gini_raw, gini_binned, and retention 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5/18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Risk Adjustment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Three sequential corrections for the rejected population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286000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  <a:br/>
            <a:r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057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920240"/>
            <a:ext cx="2286000" cy="640080"/>
          </a:xfrm>
          <a:prstGeom prst="rect">
            <a:avLst/>
          </a:prstGeom>
          <a:solidFill>
            <a:srgbClr val="3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Stress</a:t>
            </a:r>
            <a:br/>
            <a:r>
              <a:t>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57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2286000" cy="6400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Reject</a:t>
            </a:r>
            <a:br/>
            <a: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057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920240"/>
            <a:ext cx="22860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Tasa Fin</a:t>
            </a:r>
            <a:br/>
            <a:r>
              <a:t>(Transf. Rate)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Stress Factor (3 modes)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Global: </a:t>
            </a:r>
            <a:r>
              <a:rPr sz="1200">
                <a:solidFill>
                  <a:srgbClr val="2C2C2C"/>
                </a:solidFill>
                <a:latin typeface="Calibri"/>
              </a:rPr>
              <a:t>stress_factor = worst_5%_risk / overall_risk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Per-bin: </a:t>
            </a:r>
            <a:r>
              <a:rPr sz="1200">
                <a:solidFill>
                  <a:srgbClr val="2C2C2C"/>
                </a:solidFill>
                <a:latin typeface="Calibri"/>
              </a:rPr>
              <a:t>Separate stress per grid cell (fallback to global for bins &lt; 20 obs)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Disabled: </a:t>
            </a:r>
            <a:r>
              <a:rPr sz="1200">
                <a:solidFill>
                  <a:srgbClr val="2C2C2C"/>
                </a:solidFill>
                <a:latin typeface="Calibri"/>
              </a:rPr>
              <a:t>No stress (factor = 1.0). Recommended when parceling is active</a:t>
            </a:r>
          </a:p>
          <a:p>
            <a:pPr algn="l">
              <a:spcBef>
                <a:spcPts val="200"/>
              </a:spcBef>
              <a:defRPr sz="6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Transformation Rate (tasa_fin)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tasa_fin = booked_amount / eligible_amount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Applied to ALL repesca indicators after reject inference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per_bin_tasa_fin: </a:t>
            </a:r>
            <a:r>
              <a:rPr sz="1200">
                <a:solidFill>
                  <a:srgbClr val="2C2C2C"/>
                </a:solidFill>
                <a:latin typeface="Calibri"/>
              </a:rPr>
              <a:t>Per-bin mode: computes tasa_fin per grid cell (bins &lt; 10 obs fall back to global)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Integration Sequence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1. Aggregate repesca by N-D grid (sum indicators x annual_coef)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2. Predict risk via trained model (stress embedded)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3. Apply reject inference parceling multiplier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4. Scale ALL indicators by tasa_fin (global or per-bin)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5. Merge with booked summary → CellGrid → MILP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Booked data: no adjustments needed -- observed values used directly.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Double-counting warning: using global stress + parceling may overcorrect. Consider stress_mode='disabled' when parceling is active.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6/18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Custom estimators, feature engineering,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Estimators Evaluated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286000"/>
          <a:ext cx="5029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Estimator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Property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LinearRegression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Baseline, fully interpretable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Ridge / Lasso / ElasticNet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Regularized linear models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HurdleRegressor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Two-stage: P(Y&gt;0) x E[Y|Y&gt;0]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TweedieGLM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Compound Poisson-Gamma (power=1.5)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Monotonic constraints, Optuna tuning</a:t>
                      </a:r>
                    </a:p>
                  </a:txBody>
                  <a:tcPr anchor="ctr"/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Monotonic constraints, Optuna tuning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Feature Engineering &amp; Selection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286000"/>
          <a:ext cx="5303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Set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degree_1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Raw variables only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degree_2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Interactions + squared terms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degree_3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Full cubic polynomial + interactions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7548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Cross-Validation Strategy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K-Fold CV (configurable, default k=4)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Validation folds split on raw data BEFORE aggregation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RMSE weighted by group size (exposure-weighted)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Optuna HPO for tree models (XGBoost, LightGBM)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One-Standard-Error Rule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Among models within 1 SE of the best CV RMSE, select the simplest. Applied twice: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Model type selection (Linear vs Ridge vs XGBoost...)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Feature set selection (degree_1 vs degree_2 vs degree_3)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Prevents overfitting from unnecessarily complex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7/18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MILP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Maximize production subject to risk budget and monotonicity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858000" cy="18288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  <a:r>
              <a:t>Decision:     x[i] in {0, 1}   for each cell i in the N-D grid</a:t>
            </a:r>
          </a:p>
          <a:p>
            <a:pPr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  <a:r>
              <a:t>Objective:    max  SUM( oa_amt_h0[i] * x[i] )</a:t>
            </a:r>
          </a:p>
          <a:p>
            <a:pPr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  <a:r>
              <a:t>Risk budget:  SUM( (mult * todu_30ever_h6[i]</a:t>
            </a:r>
          </a:p>
          <a:p>
            <a:pPr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  <a:r>
              <a:t>                   - target_risk/100 * todu_amt_pile_h6[i]) * x[i] ) &lt;= 0</a:t>
            </a:r>
          </a:p>
          <a:p>
            <a:pPr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  <a:r>
              <a:t>Monotonicity: x[riskier] - x[safer] &lt;= 0   (per dimension, per adjacent pair)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Monotonicity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If a riskier cell is rejected, all cells riskier along that dimension must also be rejected.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Creates a "staircase" acceptance pattern. Enforced marginally (per dimension independently).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Optional MILP Constraints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Swap-in production: </a:t>
            </a:r>
            <a:r>
              <a:rPr sz="1200">
                <a:solidFill>
                  <a:srgbClr val="2C2C2C"/>
                </a:solidFill>
                <a:latin typeface="Calibri"/>
              </a:rPr>
              <a:t>Cap % of production from swap-in (repesca)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Swap-in risk: </a:t>
            </a:r>
            <a:r>
              <a:rPr sz="1200">
                <a:solidFill>
                  <a:srgbClr val="2C2C2C"/>
                </a:solidFill>
                <a:latin typeface="Calibri"/>
              </a:rPr>
              <a:t>Cap risk of swap-in population alone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Fixed cells: </a:t>
            </a:r>
            <a:r>
              <a:rPr sz="1200">
                <a:solidFill>
                  <a:srgbClr val="2C2C2C"/>
                </a:solidFill>
                <a:latin typeface="Calibri"/>
              </a:rPr>
              <a:t>Pin cells as forced-accept or forced-reject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Solver &amp; Fallback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Primary: </a:t>
            </a:r>
            <a:r>
              <a:rPr sz="1200">
                <a:solidFill>
                  <a:srgbClr val="2C2C2C"/>
                </a:solidFill>
                <a:latin typeface="Calibri"/>
              </a:rPr>
              <a:t>scipy.optimize.milp (configurable timeout, default 30s)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Fallback: </a:t>
            </a:r>
            <a:r>
              <a:rPr sz="1200">
                <a:solidFill>
                  <a:srgbClr val="2C2C2C"/>
                </a:solidFill>
                <a:latin typeface="Calibri"/>
              </a:rPr>
              <a:t>pymoo Genetic Algorithm (N &gt; 2 variables)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Legacy: </a:t>
            </a:r>
            <a:r>
              <a:rPr sz="1200">
                <a:solidFill>
                  <a:srgbClr val="2C2C2C"/>
                </a:solidFill>
                <a:latin typeface="Calibri"/>
              </a:rPr>
              <a:t>Legacy brute-force enumeration (2 variables)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Built as sparse CSC matrix for ~100x faster constraint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8/18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Pareto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Risk vs. production trade-off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Frontier Construction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Step 1: </a:t>
            </a:r>
            <a:r>
              <a:rPr sz="1200">
                <a:solidFill>
                  <a:srgbClr val="2C2C2C"/>
                </a:solidFill>
                <a:latin typeface="Calibri"/>
              </a:rPr>
              <a:t>50 linearly-spaced risk targets from 0.01% to max_risk x 1.1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Step 2: </a:t>
            </a:r>
            <a:r>
              <a:rPr sz="1200">
                <a:solidFill>
                  <a:srgbClr val="2C2C2C"/>
                </a:solidFill>
                <a:latin typeface="Calibri"/>
              </a:rPr>
              <a:t>MILP solve at each target → (risk, production, mask) tuples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Step 3: </a:t>
            </a:r>
            <a:r>
              <a:rPr sz="1200">
                <a:solidFill>
                  <a:srgbClr val="2C2C2C"/>
                </a:solidFill>
                <a:latin typeface="Calibri"/>
              </a:rPr>
              <a:t>Deduplicate by unique binary acceptance masks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Step 4: </a:t>
            </a:r>
            <a:r>
              <a:rPr sz="1200">
                <a:solidFill>
                  <a:srgbClr val="2C2C2C"/>
                </a:solidFill>
                <a:latin typeface="Calibri"/>
              </a:rPr>
              <a:t>Sort by ascending risk, filter to strictly increasing production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Step 5: </a:t>
            </a:r>
            <a:r>
              <a:rPr sz="1200">
                <a:solidFill>
                  <a:srgbClr val="2C2C2C"/>
                </a:solidFill>
                <a:latin typeface="Calibri"/>
              </a:rPr>
              <a:t>Full dominance verification: remove any remaining dominated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Scenario Selection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286000"/>
          <a:ext cx="5303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Target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Pessimistic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optimum_risk - risk_step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Conservative: lower risk tolerance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optimum_risk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Central estimate: target risk level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Optimistic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optimum_risk + risk_step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Aggressive: higher risk tolerance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Per-Scenario Outputs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Risk/production summary table (Actual vs Optimum vs Swap-in/Swap-out)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Optimal solution with per-variable cutoff values and KPIs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Interactive Pareto dashboard (Plotly HTML) with selected point highlighted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Acceptance grid heatmap and cutoff summary (wide + long format)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9/18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Reject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Correcting selection bias in observed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The Problem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Risk models trained on booked data systematically underestimate risk for rejected applicants. Reject inference corrects this bias proportionally to how selective each bin's original acceptance was.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Parceling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749039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Behavior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Linear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 = 1 + factor x (1 - 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Linear increase as acceptance rate drops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Power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 = (1 / AR) ^ factor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Exponential growth at low acceptance rates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Sigmoid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 = 1 + factor / (1 + exp(10 x (AR - 0.5)))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Smooth S-curve, steep around 50% AR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Enhancements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Bayesian smoothing: </a:t>
            </a:r>
            <a:r>
              <a:rPr sz="1200">
                <a:solidFill>
                  <a:srgbClr val="2C2C2C"/>
                </a:solidFill>
                <a:latin typeface="Calibri"/>
              </a:rPr>
              <a:t>Beta-Binomial smoothing of noisy acceptance rates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Monotonicity: </a:t>
            </a:r>
            <a:r>
              <a:rPr sz="1200">
                <a:solidFill>
                  <a:srgbClr val="2C2C2C"/>
                </a:solidFill>
                <a:latin typeface="Calibri"/>
              </a:rPr>
              <a:t>Isotonic regression per variable axis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Confidence scores: </a:t>
            </a:r>
            <a:r>
              <a:rPr sz="1200">
                <a:solidFill>
                  <a:srgbClr val="2C2C2C"/>
                </a:solidFill>
                <a:latin typeface="Calibri"/>
              </a:rPr>
              <a:t>1 - exp(-n/50) per 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Algorithm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AR[bin] = n_booked / (n_booked + n_score_rejected)  →  multiplier = f(AR)  →  cap at max_risk_multiplier  →  todu_30ever_h6 *= multiplier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Only risk is adjusted. Production (oa_amt) is observable for all applications. Multipliers floored at 1.0 (risk never adjusted downward). Parameters auto-tunable via RI optimizer (grid search or Optuna).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10/18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Scenario Analysis &amp; Bootstrap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Quantifying uncertainty and validating cutoffs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Bootstrap Confidence Intervals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Record-level resampling of the booked portfolio (default: 1,000 iterations). At each resample, recalculates production and risk respecting the selected cutoff.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2.5th and 97.5th percentiles → 95% CI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Standard error reported alongside point estimates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Configurable: n_bootstraps (100 - 50,000)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Audit Tables (Record-Level)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28600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keep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Booked and passes proposed cutoff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swap_out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Booked but fails proposed cutoff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swap_in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Score-rejected but passes cutoff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rejected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Score-rejected and still fails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rejected_other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Policy rejections (not candidates)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RI Parameter Optimizer (Optional)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Automated search over (uplift_factor, max_risk_multiplier) to minimize calibration error against the selection-bias model: target = booked_risk / AR^gamma.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Grid search (exhaustive, default 11 x 9 = 99 combos) or Optuna TPE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Selection: min calibration error among feasible solutions; ties within 5% broken by max production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MR validation: reports degradation_ratio = mr_error / main_error (near 1.0 = temporally stable)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If better params found, re-runs full optimization pipeline automatically (Step 6d)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11/18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Stability &amp; MR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PSI/CSI monitoring and out-of-time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Population Stability Index (PSI)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114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200">
                <a:solidFill>
                  <a:srgbClr val="2C2C2C"/>
                </a:solidFill>
                <a:latin typeface="Consolas"/>
              </a:defRPr>
            </a:pPr>
            <a:r>
              <a:t>PSI = SUM( (Actual% - Expected%) x ln(Actual% / Expected%) 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83464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PSI Range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&lt; 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 action needed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0.10 - 0.25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Moderate shift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Monitor closely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&gt;= 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Significant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Investigate &amp; recalibrate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MR (Out-of-Time) Validation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Apply optimized cutoffs to recent holdout period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Compare realized risk/production vs. main period estimates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Swap-in / swap-out breakdown per scenario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PSI computed per variable between main and MR periods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Hybrid MR Risk Estimation (4-tier fallback)</a:t>
            </a:r>
          </a:p>
          <a:p>
            <a:pPr algn="l">
              <a:spcBef>
                <a:spcPts val="100"/>
              </a:spcBef>
              <a:defRPr sz="2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60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H3→H6 extrapolation methods: linear, power, logistic, or auto (fits curvature via weighted log-log regression from main-period data).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475488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MR observed 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Enough valid MR H6 observations in the bin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H3 extrapolated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H3 mature, valid main-period H6/H3 ratio available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Main imputed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Main-period bin exists but MR evidence insufficient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Model fallback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Bin only exists in MR, no observed outcomes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12/18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Sensitivity, Marginal Impact &amp; Fixed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Robustness analysis and interactive re-optimization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Sensitivity Analysis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Perturbs risk indicator (todu_30ever_h6_rep) by configurable percentages and re-solves the MILP at each level.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Default levels: +/-5%, 10%, 20%, 30%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Counts cells that flip accept→reject and reject→accept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Per-cell flip threshold: minimum perturbation to change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Marginal Impact (O(N) Analytical)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For each cell, computes the exact production and risk change from flipping its accept/reject status.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delta_production: absolute change in portfolio production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delta_risk_pct: percentage point change in b2_ever_h6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Computed analytically from baseline sums -- no re-solving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Fixed-Cell Constraints (Pin Mode)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Individual cells can be pinned as forced-accept or forced-reject. The MILP enforces pins by setting lb = ub on those variables. Monotonicity and risk constraints remain active.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Programmatic: solve_with_fixed_cells() in optimization_utils.py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Interactive: Pin Mode in dashboard Cutoff Explorer (click cells to cycle: unpinned → accept → reject → unpinned)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Returns None if pins are contradictory or make risk target infeasible.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13/18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Batch Processing &amp; Global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Multi-segment execution and portfolio-level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Batch Runner (run_batch.py)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Two-tier config: config.toml + per-segment segments.toml overrides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Global bin learning: learn edges once on full population, share across segments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Parallel execution via ProcessPoolExecutor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Supersegment training: train on combined data, optimize per segment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Consolidated HTML report with cross-segment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029200" cy="82296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uv run python run_batch.py                    # all segments</a:t>
            </a:r>
          </a:p>
          <a:p>
            <a:pPr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uv run python run_batch.py -s seg1 seg2       # specific</a:t>
            </a:r>
          </a:p>
          <a:p>
            <a:pPr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uv run python run_batch.py --parallel -w 4    #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Global Allocation (run_allocation.py)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Given N segment Pareto frontiers, select one operating point per segment to maximize global production subject to a weighted-average global risk constraint.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3017520"/>
          <a:ext cx="53035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Trade-off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Exact (MILP)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Binary vars per (segment, solution)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Globally optimal</a:t>
                      </a:r>
                    </a:p>
                  </a:txBody>
                  <a:tcPr anchor="ctr"/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Greedy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Hill-climbing heuristic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Faster, local optima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Per-Segment Constraints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min_risk, max_risk bounds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min_production (production floor)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locked_sol_fac (lock to specific frontier point)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Portfolio-wide --production-floor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14/18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Trend Analysis &amp; SPC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Monthly monitoring with statistical process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Monthly Metric Aggregation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Approval rate, total records, booked count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Mean production, total production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Risk rate per score bin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Score distribution means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Output: monthly_metrics_{segment}.csv + interactive Plotly charts.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Robust SPC Anomaly Detection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Uses a one-period-lagged rolling estimator to avoid lookahead bias:</a:t>
            </a:r>
          </a:p>
          <a:p>
            <a:pPr algn="l">
              <a:spcBef>
                <a:spcPts val="100"/>
              </a:spcBef>
              <a:defRPr sz="2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5600"/>
              </a:spcBef>
              <a:defRPr sz="1100" b="0">
                <a:solidFill>
                  <a:srgbClr val="666666"/>
                </a:solidFill>
                <a:latin typeface="Calibri"/>
              </a:defRPr>
            </a:pPr>
            <a:r>
              <a:t>Robust to outliers (median + MAD instead of mean + std). Student-t critical value for short windows instead of fixed z-score.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530352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Center:  median(x_{t-w}, ..., x_{t-1})     [lagged]</a:t>
            </a:r>
          </a:p>
          <a:p>
            <a:pPr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Scale:   MAD x 1.4826  (std-equivalent)    [robust]</a:t>
            </a:r>
          </a:p>
          <a:p>
            <a:pPr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Threshold: t-distribution critical value    [small-sample]</a:t>
            </a:r>
          </a:p>
          <a:p>
            <a:pPr>
              <a:spcBef>
                <a:spcPts val="100"/>
              </a:spcBef>
              <a:defRPr sz="1100">
                <a:solidFill>
                  <a:srgbClr val="2C2C2C"/>
                </a:solidFill>
                <a:latin typeface="Consolas"/>
              </a:defRPr>
            </a:pPr>
            <a:r>
              <a:t>Anomaly:  |x_t - center| &gt; threshold x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Score Discriminance (run_score_metrics.py)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Gini coefficient and KS statistic per score variable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Lift tables (decile-based), precision-recall and ROC curves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DeLong test for pairwise statistical comparison between score models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Per-segment, per-supersegment, main period vs. MR period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15/18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Consolidated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Segment reports and cross-segment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Per-Segment HTML Report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Self-contained Jinja2 template with embedded Plotly charts: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Risk vs. production scatter (preprocessing)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Pareto frontier with scenario selection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Acceptance grid heatmaps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MR validation comparison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PSI/CSI stability dashboard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  Monthly trend charts with anomaly markers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Consolidated Cross-Segment Report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Generated after batch processing: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Table: </a:t>
            </a:r>
            <a:r>
              <a:rPr sz="1200">
                <a:solidFill>
                  <a:srgbClr val="2C2C2C"/>
                </a:solidFill>
                <a:latin typeface="Calibri"/>
              </a:rPr>
              <a:t>Scenario KPI summary: 1 row per (segment x scenario)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Grids: </a:t>
            </a:r>
            <a:r>
              <a:rPr sz="1200">
                <a:solidFill>
                  <a:srgbClr val="2C2C2C"/>
                </a:solidFill>
                <a:latin typeface="Calibri"/>
              </a:rPr>
              <a:t>Colored acceptance matrices per segment (green/red/grey)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N-D: </a:t>
            </a:r>
            <a:r>
              <a:rPr sz="1200">
                <a:solidFill>
                  <a:srgbClr val="2C2C2C"/>
                </a:solidFill>
                <a:latin typeface="Calibri"/>
              </a:rPr>
              <a:t>N-variable slicing with sub-tables (max 12 combinations)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C2C2C"/>
                </a:solidFill>
                <a:latin typeface="Calibri"/>
              </a:rPr>
              <a:t>Portfolio: </a:t>
            </a:r>
            <a:r>
              <a:rPr sz="1200">
                <a:solidFill>
                  <a:srgbClr val="2C2C2C"/>
                </a:solidFill>
                <a:latin typeface="Calibri"/>
              </a:rPr>
              <a:t>Portfolio-level aggregated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Interactive Dashboards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5212080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Entry Point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Results Explorer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dashboard.py (Dash, port 8050)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Scenario comparison, cutoff explorer, pin mode, uncertainty overlays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Global Allocator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interactive_allocator.py (Dash, port 8051)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Real-time portfolio allocation, per-segment risk sliders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Gradio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gradio_dashboard.py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Simplified results exploration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16/18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E5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Configuration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Calibri"/>
              </a:defRPr>
            </a:pPr>
            <a:r>
              <a:t>Two-tier Pydantic-validated config with 50+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config.toml -- Key Parameter Groups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286000"/>
          <a:ext cx="50292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Parameters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variables, indicators, keep_vars, dates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Binning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bins.*, octroi_bins/efx_bins, directions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Economic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multiplier, optimum_risk, risk_step, n_months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Stress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stress_mode (global / per_bin / disabled)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Tasa Fin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per_bin_tasa_fin (global / per-bin)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Reject Inf.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method, parceling, uplift, max_mult, Bayesian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RI 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method (grid/optuna), gamma, ranges, steps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MR Period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dates, use_mr_outcomes, extrapolation_method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MILP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milp_time_limit, pareto_n_points, n_bootstraps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max_swapin_production_pct, max_swapin_risk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run_sensitivity, sensitivity_levels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segments.toml -- Per-Segment Overrides</a:t>
            </a:r>
          </a:p>
          <a:p>
            <a:pPr algn="l">
              <a:spcBef>
                <a:spcPts val="100"/>
              </a:spcBef>
              <a:defRPr sz="2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2C2C2C"/>
                </a:solidFill>
                <a:latin typeface="Calibri"/>
              </a:defRPr>
            </a:pPr>
            <a:r>
              <a:t>Any config.toml field can be overridden per segment via recursive merge.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74320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E3B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segment_filter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Segment regex (required)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optimum_risk / risk_step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Per-segment risk appetite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supersegment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Shared model name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min_risk / max_risk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Allocation bounds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min_production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Production floor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locked_sol_fac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Lock to frontier point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fixed_cutoffs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Skip MILP, use predefined cutoffs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bins.*, directions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Override binning per segment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5212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2E528F"/>
                </a:solidFill>
                <a:latin typeface="Calibri"/>
              </a:defRPr>
            </a:pPr>
            <a:r>
              <a:t>Pydantic Validation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C2C2C"/>
                </a:solidFill>
                <a:latin typeface="Calibri"/>
              </a:defRPr>
            </a:pPr>
            <a:r>
              <a:t>  Field validators: non-empty lists, date formats, ranges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C2C2C"/>
                </a:solidFill>
                <a:latin typeface="Calibri"/>
              </a:defRPr>
            </a:pPr>
            <a:r>
              <a:t>  Model validators: date ordering, MR pair consistency, bin auto-population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2C2C2C"/>
                </a:solidFill>
                <a:latin typeface="Calibri"/>
              </a:defRPr>
            </a:pPr>
            <a:r>
              <a:t>  variables &gt;= 2, unique, inference_variables subset of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17/18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2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DD"/>
                </a:solidFill>
                <a:latin typeface="Calibri"/>
              </a:defRPr>
            </a:pPr>
            <a:r>
              <a:t>A complete, production-ready credit decisioning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Multi-segment batch processing with parallel execution and supersegment models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N-dimensional score grids with quantile and optimization-aware binning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7 ML estimators (Hurdle, Tweedie, XGBoost, LightGBM, Ridge, Lasso, ElasticNet) with CV + 1SE rule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MILP optimization with monotonicity, swap-in, and fixed-cell constraints on Pareto frontier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Reject inference (3 methods) with Bayesian smoothing, monotonicity, and automated parameter tuning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Configurable stress factor (global / per-bin / disabled) and per-bin transformation rate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H3→H6 extrapolation with auto-calibrated curvature for MR validation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Bootstrap CI, PSI/CSI stability, sensitivity analysis, and marginal impact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Robust SPC trend monitoring with median + MAD + Student-t anomaly detection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799 tests, Pydantic config, 50+ configurable parameters, Docker-ready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Credit Risk Scoring &amp; Portfolio Optimization  |  Slide 18/18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