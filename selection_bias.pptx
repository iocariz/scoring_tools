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06040"/>
            <a:ext cx="9966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3498DB"/>
                </a:solidFill>
                <a:latin typeface="Calibri"/>
              </a:defRPr>
            </a:pPr>
            <a:r>
              <a:t>Score Discriminance Under Range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966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F8C8D"/>
                </a:solidFill>
                <a:latin typeface="Calibri"/>
              </a:defRPr>
            </a:pPr>
            <a:r>
              <a:t>Credit Risk Scoring Pipeline  |  12 Complementary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BDC3C7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Risk Score RF: genuine 14-19% attenuation. Corrected Gini 0.41-0.53; RI-imputed 0.45-0.72.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Score RF in 'known' (Gini 0.23): NOT primarily selection bias. Thorndike recovers only 2 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Score RF has high Selection Gini (0.56-0.67) but low Outcome Gini -- classic selection-bias signature.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Most rejection is non-score-based (77-100% baseline). Effective score-based acceptance is 42%, not 15%.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Combined logistic score (Gini 0.37-0.64) outperforms both. Scores weakly correlated (r ~ 0.25).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3246120"/>
            <a:ext cx="182880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Core 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ABC9C"/>
                </a:solidFill>
                <a:latin typeface="Calibri"/>
              </a:defRPr>
            </a:pPr>
            <a:r>
              <a:t>Distribution, Thorndike, Simulation, Temporal, Rejection, Cross-Group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1. Distribution Truncation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7F8C8D"/>
                </a:solidFill>
                <a:latin typeface="Calibri"/>
              </a:defRPr>
            </a:pPr>
            <a:r>
              <a:t>u = SD(booked) / SD(demand).  u &lt; 1 indicates range restriction.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06727" y="1463040"/>
          <a:ext cx="8778240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645920"/>
                <a:gridCol w="1188720"/>
                <a:gridCol w="1097280"/>
                <a:gridCol w="1280160"/>
                <a:gridCol w="128016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Accept Rate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 ratio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 demand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SD booked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KS stat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28.64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26.39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15.4%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0.845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26.71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22.57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0.199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28.41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2.4%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28.94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24.13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26.84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7.1%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0.792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28.98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22.94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0.328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Risk Score RF consistently truncated (u = 0.79-0.85). Score RF in 'others' has u &gt; 1 -- selection is not score-based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3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Distribution Truncation: Known</a:t>
            </a:r>
          </a:p>
        </p:txBody>
      </p:sp>
      <p:pic>
        <p:nvPicPr>
          <p:cNvPr id="4" name="Picture 3" descr="truncation_known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7F8C8D"/>
                </a:solidFill>
                <a:latin typeface="Calibri"/>
              </a:defRPr>
            </a:pPr>
            <a:r>
              <a:t>Booked KDE (green) is narrower than demand, especially for Risk Score RF.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4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Distribution Truncation: Others</a:t>
            </a:r>
          </a:p>
        </p:txBody>
      </p:sp>
      <p:pic>
        <p:nvPicPr>
          <p:cNvPr id="4" name="Picture 3" descr="truncation_other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9441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7F8C8D"/>
                </a:solidFill>
                <a:latin typeface="Calibri"/>
              </a:defRPr>
            </a:pPr>
            <a:r>
              <a:t>Score RF booked (green) is wider than demand (u &gt; 1); Risk Score RF shows clear truncation.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5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Distribution Truncation: Total</a:t>
            </a:r>
          </a:p>
        </p:txBody>
      </p:sp>
      <p:pic>
        <p:nvPicPr>
          <p:cNvPr id="4" name="Picture 3" descr="truncation_tot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6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2. Thorndike Case 2 Correction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26767" y="1280160"/>
          <a:ext cx="8138160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645920"/>
                <a:gridCol w="1463040"/>
                <a:gridCol w="1097280"/>
                <a:gridCol w="146304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Gini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 ratio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Corrected Gini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Attenuation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0.349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0.845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0.380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0.792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0.469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Risk Score RF: 14-19% attenuation. Score RF: minimal correction -- low Gini is genuine.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7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Thorndike Correction</a:t>
            </a:r>
          </a:p>
        </p:txBody>
      </p:sp>
      <p:pic>
        <p:nvPicPr>
          <p:cNvPr id="4" name="Picture 3" descr="thorndike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8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3. Simulated Range Restriction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46807" y="1280160"/>
          <a:ext cx="7498080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1600"/>
                <a:gridCol w="1828800"/>
                <a:gridCol w="1554480"/>
                <a:gridCol w="155448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Gini @100%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Gini @50%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0.349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0.305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-1.9%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0.380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0.354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Score RF: 36-49% Gini loss -- relies on tails. Risk Score RF: robust (7-13% loss).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9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Simulated Restriction: Gini Sensitivity</a:t>
            </a:r>
          </a:p>
        </p:txBody>
      </p:sp>
      <p:pic>
        <p:nvPicPr>
          <p:cNvPr id="4" name="Picture 3" descr="simulated_restr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10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4. Temporal: Rolling Acceptance Rate vs Gini</a:t>
            </a:r>
          </a:p>
        </p:txBody>
      </p:sp>
      <p:pic>
        <p:nvPicPr>
          <p:cNvPr id="4" name="Picture 3" descr="temporal_acceptance_vs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Inconclusive: acceptance rate barely varies in 'known'; too-small samples in 'others'.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11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5. Rejection Profile: Known</a:t>
            </a:r>
          </a:p>
        </p:txBody>
      </p:sp>
      <p:pic>
        <p:nvPicPr>
          <p:cNvPr id="4" name="Picture 3" descr="rejection_profile_known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77% to 99% gradient, but even the safest decile has 77% rejection (non-score-based).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12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5. Rejection Profile: Others</a:t>
            </a:r>
          </a:p>
        </p:txBody>
      </p:sp>
      <p:pic>
        <p:nvPicPr>
          <p:cNvPr id="4" name="Picture 3" descr="rejection_profile_other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89-100% rejection across ALL deciles. Selection is overwhelmingly non-score-based.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13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5. Rejection Profile: Total</a:t>
            </a:r>
          </a:p>
        </p:txBody>
      </p:sp>
      <p:pic>
        <p:nvPicPr>
          <p:cNvPr id="4" name="Picture 3" descr="rejection_profile_tot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14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6. Cross-Group: Acceptance Rate vs Gini</a:t>
            </a:r>
          </a:p>
        </p:txBody>
      </p:sp>
      <p:pic>
        <p:nvPicPr>
          <p:cNvPr id="4" name="Picture 3" descr="cross_segment_acceptance_vs_g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Inverted pattern (lower acceptance = higher Gini). Confounded by population differences -- supplementary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15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3246120"/>
            <a:ext cx="182880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Extended Analyses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ABC9C"/>
                </a:solidFill>
                <a:latin typeface="Calibri"/>
              </a:defRPr>
            </a:pPr>
            <a:r>
              <a:t>Selection Gini, Score-Only Truncation, Bad Rate, Correlation, RI Gini, PSI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16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7. Selection Gini vs Outcome Gini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7F8C8D"/>
                </a:solidFill>
                <a:latin typeface="Calibri"/>
              </a:defRPr>
            </a:pPr>
            <a:r>
              <a:t>Selection Gini = ability to separate booked from rejected (no early_bad needed).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83967" y="1463040"/>
          <a:ext cx="7223760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645920"/>
                <a:gridCol w="1645920"/>
                <a:gridCol w="16459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Selection Gini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 Gini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0.327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0.349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-0.022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+0.242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0.488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+0.038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0.380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+0.076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Score RF: high Selection Gini but low Outcome Gini -- classic selection-bias signature. Risk Score RF: outcome exceeds selection in 'known'.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17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Selection Gini vs Outcome Gini</a:t>
            </a:r>
          </a:p>
        </p:txBody>
      </p:sp>
      <p:pic>
        <p:nvPicPr>
          <p:cNvPr id="4" name="Picture 3" descr="booked_vs_rejected_discrim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18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8. Score-Rejection-Only Truncation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7F8C8D"/>
                </a:solidFill>
                <a:latin typeface="Calibri"/>
              </a:defRPr>
            </a:pPr>
            <a:r>
              <a:t>Demand filtered to booked + score-rejected only (excluding policy rejections).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09647" y="1463040"/>
          <a:ext cx="7772400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188720"/>
                <a:gridCol w="164592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 (all demand)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 (score-only)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Score-only Accept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0.845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41.9%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0.906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0.792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0.862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15.9%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Effective score-based acceptance is 42% (not 15%). Truncation is much milder than raw rates suggest.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19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Variance Ratio: All Demand vs Score-Rejection Only</a:t>
            </a:r>
          </a:p>
        </p:txBody>
      </p:sp>
      <p:pic>
        <p:nvPicPr>
          <p:cNvPr id="4" name="Picture 3" descr="trunc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20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9. Bad Rate by Score Decile: Known</a:t>
            </a:r>
          </a:p>
        </p:txBody>
      </p:sp>
      <p:pic>
        <p:nvPicPr>
          <p:cNvPr id="4" name="Picture 3" descr="bad_rate_decile_known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Score RF: ~4x gradient (0.75% to 3.08%). Risk Score RF: ~8x gradient (0.74% to 6.00%).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21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9. Bad Rate by Score Decile: Others</a:t>
            </a:r>
          </a:p>
        </p:txBody>
      </p:sp>
      <p:pic>
        <p:nvPicPr>
          <p:cNvPr id="4" name="Picture 3" descr="bad_rate_decile_other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Both scores show strong gradients in 'others' (~10-12x).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22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9. Bad Rate by Score Decile: Total</a:t>
            </a:r>
          </a:p>
        </p:txBody>
      </p:sp>
      <p:pic>
        <p:nvPicPr>
          <p:cNvPr id="4" name="Picture 3" descr="bad_rate_decile_tot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23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10. Score-to-Score Correlation (Full Demand)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38247" y="1280160"/>
          <a:ext cx="7315200" cy="13898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Pearson 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Spearman r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records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148,743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0.270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0.256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261,112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409,855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Weakly correlated (r ~ 0.25). Selection on one does NOT truncate the other. Explains why Combined outperforms.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24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11. Reject Inference Gini (Full-Population Estimate)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7F8C8D"/>
                </a:solidFill>
                <a:latin typeface="Calibri"/>
              </a:defRPr>
            </a:pPr>
            <a:r>
              <a:t>Outcomes imputed for rejected using per-decile bad rates x 1.5 uplift (50 bootstrap replicates).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63927" y="1463040"/>
          <a:ext cx="7863840" cy="24323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005840"/>
                <a:gridCol w="1463040"/>
                <a:gridCol w="1280160"/>
                <a:gridCol w="1280160"/>
                <a:gridCol w="11887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Thorndike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 Gini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 95% CI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[0.269, 0.292]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known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0.349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0.407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[0.443, 0.463]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[0.326, 0.340]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0.450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0.526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[0.714, 0.721]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Score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[0.404, 0.418]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Risk Score RF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0.380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0.469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0.603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[0.597, 0.607]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Risk Score RF RI Gini: 0.45-0.72. Confirms strong unrestricted power. Note: RI is circular -- treat as upper bound.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25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Observed vs Corrected vs RI-Imputed Gini</a:t>
            </a:r>
          </a:p>
        </p:txBody>
      </p:sp>
      <p:pic>
        <p:nvPicPr>
          <p:cNvPr id="4" name="Picture 3" descr="ri_gin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26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12. Score Stability (PSI): Known</a:t>
            </a:r>
          </a:p>
        </p:txBody>
      </p:sp>
      <p:pic>
        <p:nvPicPr>
          <p:cNvPr id="4" name="Picture 3" descr="monthly_psi_known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Both scores stable (PSI &lt; 0.07). Gini fluctuations are not driven by score distribution drift.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27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12. Score Stability (PSI): Others</a:t>
            </a:r>
          </a:p>
        </p:txBody>
      </p:sp>
      <p:pic>
        <p:nvPicPr>
          <p:cNvPr id="4" name="Picture 3" descr="monthly_psi_other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Score RF: moderate shift (PSI 0.13-0.18 from Mar 2025). Population composition is changing.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28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12. Score Stability (PSI): Total</a:t>
            </a:r>
          </a:p>
        </p:txBody>
      </p:sp>
      <p:pic>
        <p:nvPicPr>
          <p:cNvPr id="4" name="Picture 3" descr="monthly_psi_total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742432"/>
            <a:ext cx="1072865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2C3E50"/>
                </a:solidFill>
                <a:latin typeface="Calibri"/>
              </a:defRPr>
            </a:pPr>
            <a:r>
              <a:t>Both scores stable at aggregate level (PSI &lt; 0.04).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29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3246120"/>
            <a:ext cx="182880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ABC9C"/>
                </a:solidFill>
                <a:latin typeface="Calibri"/>
              </a:defRPr>
            </a:pPr>
            <a:r>
              <a:t>Summary of findings and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30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What Selection Bias Explains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Risk Score RF loses 14-19% of discriminance. Corrected Gini: 0.41-0.53 (Thorndike), 0.45-0.72 (RI).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Risk Score RF is truncated consistently (u = 0.79-0.85), even after isolating score-based rejections.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Score RF has very high Selection Gini (0.56-0.67) but low Outcome Gini -- power consumed by acceptance.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31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What Selection Bias Does NOT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Score RF's low Gini in 'known' (0.23): all corrections modest (Thorndike 0.25, RI 0.28). Weak ~4x bad-rate gradient.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Gap between scores: Risk Score RF outperforms even after corrections (RI 0.45 vs 0.28 in 'known').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Temporal instability: Score RF Gini varies 0.12-0.30 while PSI &lt; 0.03 and acceptance 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Scores are weakly correlated (r ~ 0.25). Selection on one does not truncate the other.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32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Interpret Risk Score RF with +20-60% correction when comparing to unrestricted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Score RF's low discriminance in 'known' is genuine -- investigate feature relevance / retraining.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Prefer Combined logistic score (Gini 0.37-0.64) for monitoring. Weak correlation confirms complementarity.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Monitor PSI monthly in 'others'. Moderate shift (PSI 0.13-0.18) may signal population drift.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Decompose by reject_reason before attributing low Gini to selection bias.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33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2C3E50"/>
                </a:solidFill>
                <a:latin typeface="Calibri"/>
              </a:defRPr>
            </a:pPr>
            <a:r>
              <a:t>Caveats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1430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Thorndike assumes bivariate normality. Corrections are approximate upper bounds.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RI Gini is circular: score informs both selection and imputation. Treat as upper bound.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early_bad only observed for booked. No direct unrestricted Gini is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Cross-group scatter has 3 data points with heavy population confounding.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28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498DB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10545775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Temporal analysis limited by stable acceptance ('known') and small samples ('others').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BDC3C7"/>
                </a:solidFill>
                <a:latin typeface="Calibri"/>
              </a:defRPr>
            </a:pPr>
            <a:r>
              <a:t>Selection Bias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53796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BDC3C7"/>
                </a:solidFill>
                <a:latin typeface="Calibri"/>
              </a:defRPr>
            </a:pPr>
            <a:r>
              <a:t>34 /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9966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1ABC9C"/>
                </a:solidFill>
                <a:latin typeface="Calibri"/>
              </a:defRPr>
            </a:pPr>
            <a:r>
              <a:t>12 analyses  |  19 plots  |  Full methodology in selection_bias.md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