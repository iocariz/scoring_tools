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34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737360"/>
            <a:ext cx="11057839" cy="365760"/>
          </a:xfrm>
          <a:prstGeom prst="rect">
            <a:avLst/>
          </a:prstGeom>
          <a:noFill/>
        </p:spPr>
        <p:txBody>
          <a:bodyPr wrap="square">
            <a:spAutoFit/>
          </a:bodyPr>
          <a:lstStyle/>
          <a:p>
            <a:pPr algn="l">
              <a:lnSpc>
                <a:spcPct val="100000"/>
              </a:lnSpc>
            </a:pPr>
            <a:r>
              <a:rPr sz="1300" b="1">
                <a:solidFill>
                  <a:srgbClr val="3498DB"/>
                </a:solidFill>
                <a:latin typeface="Arial"/>
              </a:rPr>
              <a:t>ESTUDIO DE RIESGO · APPLE</a:t>
            </a:r>
          </a:p>
        </p:txBody>
      </p:sp>
      <p:sp>
        <p:nvSpPr>
          <p:cNvPr id="4" name="TextBox 3"/>
          <p:cNvSpPr txBox="1"/>
          <p:nvPr/>
        </p:nvSpPr>
        <p:spPr>
          <a:xfrm>
            <a:off x="566928" y="2148840"/>
            <a:ext cx="11057839" cy="1371600"/>
          </a:xfrm>
          <a:prstGeom prst="rect">
            <a:avLst/>
          </a:prstGeom>
          <a:noFill/>
        </p:spPr>
        <p:txBody>
          <a:bodyPr wrap="square">
            <a:spAutoFit/>
          </a:bodyPr>
          <a:lstStyle/>
          <a:p>
            <a:pPr algn="l">
              <a:lnSpc>
                <a:spcPct val="105000"/>
              </a:lnSpc>
            </a:pPr>
            <a:r>
              <a:rPr sz="4000" b="1">
                <a:solidFill>
                  <a:srgbClr val="2C3E50"/>
                </a:solidFill>
                <a:latin typeface="Arial"/>
              </a:rPr>
              <a:t>Extensión del score Equifax</a:t>
            </a:r>
          </a:p>
          <a:p>
            <a:pPr algn="l">
              <a:lnSpc>
                <a:spcPct val="105000"/>
              </a:lnSpc>
            </a:pPr>
            <a:r>
              <a:rPr sz="4000" b="1">
                <a:solidFill>
                  <a:srgbClr val="2C3E50"/>
                </a:solidFill>
                <a:latin typeface="Arial"/>
              </a:rPr>
              <a:t>de e-commerce a tienda</a:t>
            </a:r>
          </a:p>
        </p:txBody>
      </p:sp>
      <p:sp>
        <p:nvSpPr>
          <p:cNvPr id="5" name="TextBox 4"/>
          <p:cNvSpPr txBox="1"/>
          <p:nvPr/>
        </p:nvSpPr>
        <p:spPr>
          <a:xfrm>
            <a:off x="566928" y="3886200"/>
            <a:ext cx="7863840" cy="1097280"/>
          </a:xfrm>
          <a:prstGeom prst="rect">
            <a:avLst/>
          </a:prstGeom>
          <a:noFill/>
        </p:spPr>
        <p:txBody>
          <a:bodyPr wrap="square">
            <a:spAutoFit/>
          </a:bodyPr>
          <a:lstStyle/>
          <a:p>
            <a:pPr algn="l">
              <a:lnSpc>
                <a:spcPct val="125000"/>
              </a:lnSpc>
            </a:pPr>
            <a:r>
              <a:rPr sz="1500" b="0">
                <a:solidFill>
                  <a:srgbClr val="5D6D7E"/>
                </a:solidFill>
                <a:latin typeface="Arial"/>
              </a:rPr>
              <a:t>Aplicar la parrilla de Apple Online a Apple Stores gana aceptación y baja riesgo a la vez. El riesgo de tienda sigue siendo estimado, pero su nivel ya está anclado a la morosidad real de tienda: solo se asume que el score ordena igual, no cuánto riesgo hay.</a:t>
            </a:r>
          </a:p>
        </p:txBody>
      </p:sp>
      <p:sp>
        <p:nvSpPr>
          <p:cNvPr id="6" name="TextBox 5"/>
          <p:cNvSpPr txBox="1"/>
          <p:nvPr/>
        </p:nvSpPr>
        <p:spPr>
          <a:xfrm>
            <a:off x="566928" y="5852160"/>
            <a:ext cx="11057839" cy="365760"/>
          </a:xfrm>
          <a:prstGeom prst="rect">
            <a:avLst/>
          </a:prstGeom>
          <a:noFill/>
        </p:spPr>
        <p:txBody>
          <a:bodyPr wrap="square">
            <a:spAutoFit/>
          </a:bodyPr>
          <a:lstStyle/>
          <a:p>
            <a:pPr algn="l">
              <a:lnSpc>
                <a:spcPct val="100000"/>
              </a:lnSpc>
            </a:pPr>
            <a:r>
              <a:rPr sz="1100" b="0">
                <a:solidFill>
                  <a:srgbClr val="5D6D7E"/>
                </a:solidFill>
                <a:latin typeface="Arial"/>
              </a:rPr>
              <a:t>Riesgos  ·  14-10-2026  ·  perímetro Apple Propio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RESUMEN EJECUTIVO</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Online mar-2025 a feb-2026  ·  tienda ago-2026 a sep-2026</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Lo que dice el estudio</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63624"/>
            <a:ext cx="2761488" cy="1481328"/>
          </a:xfrm>
          <a:prstGeom prst="rect">
            <a:avLst/>
          </a:prstGeom>
          <a:solidFill>
            <a:srgbClr val="F6F7F9"/>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91640"/>
            <a:ext cx="2432304" cy="365760"/>
          </a:xfrm>
          <a:prstGeom prst="rect">
            <a:avLst/>
          </a:prstGeom>
          <a:noFill/>
        </p:spPr>
        <p:txBody>
          <a:bodyPr wrap="square">
            <a:spAutoFit/>
          </a:bodyPr>
          <a:lstStyle/>
          <a:p>
            <a:pPr algn="l">
              <a:lnSpc>
                <a:spcPct val="100000"/>
              </a:lnSpc>
            </a:pPr>
            <a:r>
              <a:rPr sz="1100" b="0">
                <a:solidFill>
                  <a:srgbClr val="5D6D7E"/>
                </a:solidFill>
                <a:latin typeface="Arial"/>
              </a:rPr>
              <a:t>Riesgo real Apple Online</a:t>
            </a:r>
          </a:p>
        </p:txBody>
      </p:sp>
      <p:sp>
        <p:nvSpPr>
          <p:cNvPr id="8" name="TextBox 7"/>
          <p:cNvSpPr txBox="1"/>
          <p:nvPr/>
        </p:nvSpPr>
        <p:spPr>
          <a:xfrm>
            <a:off x="731520" y="1984248"/>
            <a:ext cx="2432304" cy="566928"/>
          </a:xfrm>
          <a:prstGeom prst="rect">
            <a:avLst/>
          </a:prstGeom>
          <a:noFill/>
        </p:spPr>
        <p:txBody>
          <a:bodyPr wrap="square">
            <a:spAutoFit/>
          </a:bodyPr>
          <a:lstStyle/>
          <a:p>
            <a:pPr algn="l">
              <a:lnSpc>
                <a:spcPct val="100000"/>
              </a:lnSpc>
            </a:pPr>
            <a:r>
              <a:rPr sz="3000" b="1">
                <a:solidFill>
                  <a:srgbClr val="E74C3C"/>
                </a:solidFill>
                <a:latin typeface="Arial"/>
              </a:rPr>
              <a:t>4,18%</a:t>
            </a:r>
          </a:p>
        </p:txBody>
      </p:sp>
      <p:sp>
        <p:nvSpPr>
          <p:cNvPr id="9" name="TextBox 8"/>
          <p:cNvSpPr txBox="1"/>
          <p:nvPr/>
        </p:nvSpPr>
        <p:spPr>
          <a:xfrm>
            <a:off x="731520" y="2569464"/>
            <a:ext cx="2432304" cy="384048"/>
          </a:xfrm>
          <a:prstGeom prst="rect">
            <a:avLst/>
          </a:prstGeom>
          <a:noFill/>
        </p:spPr>
        <p:txBody>
          <a:bodyPr wrap="square">
            <a:spAutoFit/>
          </a:bodyPr>
          <a:lstStyle/>
          <a:p>
            <a:pPr algn="l">
              <a:lnSpc>
                <a:spcPct val="100000"/>
              </a:lnSpc>
            </a:pPr>
            <a:r>
              <a:rPr sz="1000" b="0">
                <a:solidFill>
                  <a:srgbClr val="5D6D7E"/>
                </a:solidFill>
                <a:latin typeface="Arial"/>
              </a:rPr>
              <a:t>medido sobre cartera madura</a:t>
            </a:r>
          </a:p>
        </p:txBody>
      </p:sp>
      <p:sp>
        <p:nvSpPr>
          <p:cNvPr id="10" name="Rectangle 9"/>
          <p:cNvSpPr/>
          <p:nvPr/>
        </p:nvSpPr>
        <p:spPr>
          <a:xfrm>
            <a:off x="3493008" y="1563624"/>
            <a:ext cx="2761488" cy="1481328"/>
          </a:xfrm>
          <a:prstGeom prst="rect">
            <a:avLst/>
          </a:prstGeom>
          <a:solidFill>
            <a:srgbClr val="F6F7F9"/>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691640"/>
            <a:ext cx="2432304" cy="365760"/>
          </a:xfrm>
          <a:prstGeom prst="rect">
            <a:avLst/>
          </a:prstGeom>
          <a:noFill/>
        </p:spPr>
        <p:txBody>
          <a:bodyPr wrap="square">
            <a:spAutoFit/>
          </a:bodyPr>
          <a:lstStyle/>
          <a:p>
            <a:pPr algn="l">
              <a:lnSpc>
                <a:spcPct val="100000"/>
              </a:lnSpc>
            </a:pPr>
            <a:r>
              <a:rPr sz="1100" b="0">
                <a:solidFill>
                  <a:srgbClr val="5D6D7E"/>
                </a:solidFill>
                <a:latin typeface="Arial"/>
              </a:rPr>
              <a:t>Tasa de aceptación Online</a:t>
            </a:r>
          </a:p>
        </p:txBody>
      </p:sp>
      <p:sp>
        <p:nvSpPr>
          <p:cNvPr id="12" name="TextBox 11"/>
          <p:cNvSpPr txBox="1"/>
          <p:nvPr/>
        </p:nvSpPr>
        <p:spPr>
          <a:xfrm>
            <a:off x="3657600" y="1984248"/>
            <a:ext cx="2432304" cy="566928"/>
          </a:xfrm>
          <a:prstGeom prst="rect">
            <a:avLst/>
          </a:prstGeom>
          <a:noFill/>
        </p:spPr>
        <p:txBody>
          <a:bodyPr wrap="square">
            <a:spAutoFit/>
          </a:bodyPr>
          <a:lstStyle/>
          <a:p>
            <a:pPr algn="l">
              <a:lnSpc>
                <a:spcPct val="100000"/>
              </a:lnSpc>
            </a:pPr>
            <a:r>
              <a:rPr sz="3000" b="1">
                <a:solidFill>
                  <a:srgbClr val="2C3E50"/>
                </a:solidFill>
                <a:latin typeface="Arial"/>
              </a:rPr>
              <a:t>20,9%</a:t>
            </a:r>
          </a:p>
        </p:txBody>
      </p:sp>
      <p:sp>
        <p:nvSpPr>
          <p:cNvPr id="13" name="TextBox 12"/>
          <p:cNvSpPr txBox="1"/>
          <p:nvPr/>
        </p:nvSpPr>
        <p:spPr>
          <a:xfrm>
            <a:off x="3657600" y="2569464"/>
            <a:ext cx="2432304" cy="384048"/>
          </a:xfrm>
          <a:prstGeom prst="rect">
            <a:avLst/>
          </a:prstGeom>
          <a:noFill/>
        </p:spPr>
        <p:txBody>
          <a:bodyPr wrap="square">
            <a:spAutoFit/>
          </a:bodyPr>
          <a:lstStyle/>
          <a:p>
            <a:pPr algn="l">
              <a:lnSpc>
                <a:spcPct val="100000"/>
              </a:lnSpc>
            </a:pPr>
            <a:r>
              <a:rPr sz="1000" b="0">
                <a:solidFill>
                  <a:srgbClr val="5D6D7E"/>
                </a:solidFill>
                <a:latin typeface="Arial"/>
              </a:rPr>
              <a:t>sobre demanda en €</a:t>
            </a:r>
          </a:p>
        </p:txBody>
      </p:sp>
      <p:sp>
        <p:nvSpPr>
          <p:cNvPr id="14" name="Rectangle 13"/>
          <p:cNvSpPr/>
          <p:nvPr/>
        </p:nvSpPr>
        <p:spPr>
          <a:xfrm>
            <a:off x="6419088" y="1563624"/>
            <a:ext cx="2761488" cy="1481328"/>
          </a:xfrm>
          <a:prstGeom prst="rect">
            <a:avLst/>
          </a:prstGeom>
          <a:solidFill>
            <a:srgbClr val="F6F7F9"/>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691640"/>
            <a:ext cx="2432304" cy="365760"/>
          </a:xfrm>
          <a:prstGeom prst="rect">
            <a:avLst/>
          </a:prstGeom>
          <a:noFill/>
        </p:spPr>
        <p:txBody>
          <a:bodyPr wrap="square">
            <a:spAutoFit/>
          </a:bodyPr>
          <a:lstStyle/>
          <a:p>
            <a:pPr algn="l">
              <a:lnSpc>
                <a:spcPct val="100000"/>
              </a:lnSpc>
            </a:pPr>
            <a:r>
              <a:rPr sz="1100" b="0">
                <a:solidFill>
                  <a:srgbClr val="5D6D7E"/>
                </a:solidFill>
                <a:latin typeface="Arial"/>
              </a:rPr>
              <a:t>Tienda con parrilla EFX</a:t>
            </a:r>
          </a:p>
        </p:txBody>
      </p:sp>
      <p:sp>
        <p:nvSpPr>
          <p:cNvPr id="16" name="TextBox 15"/>
          <p:cNvSpPr txBox="1"/>
          <p:nvPr/>
        </p:nvSpPr>
        <p:spPr>
          <a:xfrm>
            <a:off x="6583680" y="1984248"/>
            <a:ext cx="2432304" cy="566928"/>
          </a:xfrm>
          <a:prstGeom prst="rect">
            <a:avLst/>
          </a:prstGeom>
          <a:noFill/>
        </p:spPr>
        <p:txBody>
          <a:bodyPr wrap="square">
            <a:spAutoFit/>
          </a:bodyPr>
          <a:lstStyle/>
          <a:p>
            <a:pPr algn="l">
              <a:lnSpc>
                <a:spcPct val="100000"/>
              </a:lnSpc>
            </a:pPr>
            <a:r>
              <a:rPr sz="3000" b="1">
                <a:solidFill>
                  <a:srgbClr val="3498DB"/>
                </a:solidFill>
                <a:latin typeface="Arial"/>
              </a:rPr>
              <a:t>61,2%</a:t>
            </a:r>
          </a:p>
        </p:txBody>
      </p:sp>
      <p:sp>
        <p:nvSpPr>
          <p:cNvPr id="17" name="TextBox 16"/>
          <p:cNvSpPr txBox="1"/>
          <p:nvPr/>
        </p:nvSpPr>
        <p:spPr>
          <a:xfrm>
            <a:off x="6583680" y="2569464"/>
            <a:ext cx="2432304" cy="384048"/>
          </a:xfrm>
          <a:prstGeom prst="rect">
            <a:avLst/>
          </a:prstGeom>
          <a:noFill/>
        </p:spPr>
        <p:txBody>
          <a:bodyPr wrap="square">
            <a:spAutoFit/>
          </a:bodyPr>
          <a:lstStyle/>
          <a:p>
            <a:pPr algn="l">
              <a:lnSpc>
                <a:spcPct val="100000"/>
              </a:lnSpc>
            </a:pPr>
            <a:r>
              <a:rPr sz="1000" b="0">
                <a:solidFill>
                  <a:srgbClr val="5D6D7E"/>
                </a:solidFill>
                <a:latin typeface="Arial"/>
              </a:rPr>
              <a:t>TA, desde 47,2% hoy</a:t>
            </a:r>
          </a:p>
        </p:txBody>
      </p:sp>
      <p:sp>
        <p:nvSpPr>
          <p:cNvPr id="18" name="Rectangle 17"/>
          <p:cNvSpPr/>
          <p:nvPr/>
        </p:nvSpPr>
        <p:spPr>
          <a:xfrm>
            <a:off x="9345168" y="1563624"/>
            <a:ext cx="2761488" cy="1481328"/>
          </a:xfrm>
          <a:prstGeom prst="rect">
            <a:avLst/>
          </a:prstGeom>
          <a:solidFill>
            <a:srgbClr val="F6F7F9"/>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0" y="1691640"/>
            <a:ext cx="2432304" cy="365760"/>
          </a:xfrm>
          <a:prstGeom prst="rect">
            <a:avLst/>
          </a:prstGeom>
          <a:noFill/>
        </p:spPr>
        <p:txBody>
          <a:bodyPr wrap="square">
            <a:spAutoFit/>
          </a:bodyPr>
          <a:lstStyle/>
          <a:p>
            <a:pPr algn="l">
              <a:lnSpc>
                <a:spcPct val="100000"/>
              </a:lnSpc>
            </a:pPr>
            <a:r>
              <a:rPr sz="1100" b="0">
                <a:solidFill>
                  <a:srgbClr val="5D6D7E"/>
                </a:solidFill>
                <a:latin typeface="Arial"/>
              </a:rPr>
              <a:t>Riesgo imputado tienda</a:t>
            </a:r>
          </a:p>
        </p:txBody>
      </p:sp>
      <p:sp>
        <p:nvSpPr>
          <p:cNvPr id="20" name="TextBox 19"/>
          <p:cNvSpPr txBox="1"/>
          <p:nvPr/>
        </p:nvSpPr>
        <p:spPr>
          <a:xfrm>
            <a:off x="9509760" y="1984248"/>
            <a:ext cx="2432304" cy="566928"/>
          </a:xfrm>
          <a:prstGeom prst="rect">
            <a:avLst/>
          </a:prstGeom>
          <a:noFill/>
        </p:spPr>
        <p:txBody>
          <a:bodyPr wrap="square">
            <a:spAutoFit/>
          </a:bodyPr>
          <a:lstStyle/>
          <a:p>
            <a:pPr algn="l">
              <a:lnSpc>
                <a:spcPct val="100000"/>
              </a:lnSpc>
            </a:pPr>
            <a:r>
              <a:rPr sz="3000" b="1">
                <a:solidFill>
                  <a:srgbClr val="3498DB"/>
                </a:solidFill>
                <a:latin typeface="Arial"/>
              </a:rPr>
              <a:t>3,51%</a:t>
            </a:r>
          </a:p>
        </p:txBody>
      </p:sp>
      <p:sp>
        <p:nvSpPr>
          <p:cNvPr id="21" name="TextBox 20"/>
          <p:cNvSpPr txBox="1"/>
          <p:nvPr/>
        </p:nvSpPr>
        <p:spPr>
          <a:xfrm>
            <a:off x="9509760" y="2569464"/>
            <a:ext cx="2432304" cy="384048"/>
          </a:xfrm>
          <a:prstGeom prst="rect">
            <a:avLst/>
          </a:prstGeom>
          <a:noFill/>
        </p:spPr>
        <p:txBody>
          <a:bodyPr wrap="square">
            <a:spAutoFit/>
          </a:bodyPr>
          <a:lstStyle/>
          <a:p>
            <a:pPr algn="l">
              <a:lnSpc>
                <a:spcPct val="100000"/>
              </a:lnSpc>
            </a:pPr>
            <a:r>
              <a:rPr sz="1000" b="0">
                <a:solidFill>
                  <a:srgbClr val="5D6D7E"/>
                </a:solidFill>
                <a:latin typeface="Arial"/>
              </a:rPr>
              <a:t>desde 3,74% hoy</a:t>
            </a:r>
          </a:p>
        </p:txBody>
      </p:sp>
      <p:sp>
        <p:nvSpPr>
          <p:cNvPr id="22" name="TextBox 21"/>
          <p:cNvSpPr txBox="1"/>
          <p:nvPr/>
        </p:nvSpPr>
        <p:spPr>
          <a:xfrm>
            <a:off x="566928" y="3346704"/>
            <a:ext cx="5623560" cy="365760"/>
          </a:xfrm>
          <a:prstGeom prst="rect">
            <a:avLst/>
          </a:prstGeom>
          <a:noFill/>
        </p:spPr>
        <p:txBody>
          <a:bodyPr wrap="square">
            <a:spAutoFit/>
          </a:bodyPr>
          <a:lstStyle/>
          <a:p>
            <a:pPr algn="l">
              <a:lnSpc>
                <a:spcPct val="100000"/>
              </a:lnSpc>
            </a:pPr>
            <a:r>
              <a:rPr sz="1500" b="1">
                <a:solidFill>
                  <a:srgbClr val="2C3E50"/>
                </a:solidFill>
                <a:latin typeface="Arial"/>
              </a:rPr>
              <a:t>Escenarios de riesgo global Apple</a:t>
            </a:r>
          </a:p>
        </p:txBody>
      </p:sp>
      <p:graphicFrame>
        <p:nvGraphicFramePr>
          <p:cNvPr id="23" name="Table 22"/>
          <p:cNvGraphicFramePr>
            <a:graphicFrameLocks noGrp="1"/>
          </p:cNvGraphicFramePr>
          <p:nvPr/>
        </p:nvGraphicFramePr>
        <p:xfrm>
          <a:off x="566928" y="3758184"/>
          <a:ext cx="5623558" cy="1920240"/>
        </p:xfrm>
        <a:graphic>
          <a:graphicData uri="http://schemas.openxmlformats.org/drawingml/2006/table">
            <a:tbl>
              <a:tblPr firstRow="1" bandRow="1">
                <a:tableStyleId>{5C22544A-7EE6-4342-B048-85BDC9FD1C3A}</a:tableStyleId>
              </a:tblPr>
              <a:tblGrid>
                <a:gridCol w="1855195"/>
                <a:gridCol w="1159496"/>
                <a:gridCol w="1159496"/>
                <a:gridCol w="1449371"/>
              </a:tblGrid>
              <a:tr h="274320">
                <a:tc>
                  <a:txBody>
                    <a:bodyPr/>
                    <a:lstStyle/>
                    <a:p>
                      <a:pPr algn="l"/>
                      <a:r>
                        <a:rPr sz="1150" b="1">
                          <a:solidFill>
                            <a:srgbClr val="2C3E50"/>
                          </a:solidFill>
                          <a:latin typeface="Arial"/>
                        </a:rPr>
                        <a:t>Escenario</a:t>
                      </a:r>
                    </a:p>
                  </a:txBody>
                  <a:tcPr>
                    <a:solidFill>
                      <a:srgbClr val="F6F7F9"/>
                    </a:solidFill>
                  </a:tcPr>
                </a:tc>
                <a:tc>
                  <a:txBody>
                    <a:bodyPr/>
                    <a:lstStyle/>
                    <a:p>
                      <a:pPr algn="r"/>
                      <a:r>
                        <a:rPr sz="1150" b="1">
                          <a:solidFill>
                            <a:srgbClr val="2C3E50"/>
                          </a:solidFill>
                          <a:latin typeface="Arial"/>
                        </a:rPr>
                        <a:t>Corte</a:t>
                      </a:r>
                    </a:p>
                  </a:txBody>
                  <a:tcPr>
                    <a:solidFill>
                      <a:srgbClr val="F6F7F9"/>
                    </a:solidFill>
                  </a:tcPr>
                </a:tc>
                <a:tc>
                  <a:txBody>
                    <a:bodyPr/>
                    <a:lstStyle/>
                    <a:p>
                      <a:pPr algn="r"/>
                      <a:r>
                        <a:rPr sz="1150" b="1">
                          <a:solidFill>
                            <a:srgbClr val="2C3E50"/>
                          </a:solidFill>
                          <a:latin typeface="Arial"/>
                        </a:rPr>
                        <a:t>TA efect.</a:t>
                      </a:r>
                    </a:p>
                  </a:txBody>
                  <a:tcPr>
                    <a:solidFill>
                      <a:srgbClr val="F6F7F9"/>
                    </a:solidFill>
                  </a:tcPr>
                </a:tc>
                <a:tc>
                  <a:txBody>
                    <a:bodyPr/>
                    <a:lstStyle/>
                    <a:p>
                      <a:pPr algn="r"/>
                      <a:r>
                        <a:rPr sz="1150" b="1">
                          <a:solidFill>
                            <a:srgbClr val="2C3E50"/>
                          </a:solidFill>
                          <a:latin typeface="Arial"/>
                        </a:rPr>
                        <a:t>Producción</a:t>
                      </a:r>
                    </a:p>
                  </a:txBody>
                  <a:tcPr>
                    <a:solidFill>
                      <a:srgbClr val="F6F7F9"/>
                    </a:solidFill>
                  </a:tcPr>
                </a:tc>
              </a:tr>
              <a:tr h="274320">
                <a:tc>
                  <a:txBody>
                    <a:bodyPr/>
                    <a:lstStyle/>
                    <a:p>
                      <a:pPr algn="l"/>
                      <a:r>
                        <a:rPr sz="1150" b="0">
                          <a:solidFill>
                            <a:srgbClr val="5D6D7E"/>
                          </a:solidFill>
                          <a:latin typeface="Arial"/>
                        </a:rPr>
                        <a:t>Hoy (medido)</a:t>
                      </a:r>
                    </a:p>
                  </a:txBody>
                  <a:tcPr>
                    <a:solidFill>
                      <a:srgbClr val="FFFFFF"/>
                    </a:solidFill>
                  </a:tcPr>
                </a:tc>
                <a:tc>
                  <a:txBody>
                    <a:bodyPr/>
                    <a:lstStyle/>
                    <a:p>
                      <a:pPr algn="r"/>
                      <a:r>
                        <a:rPr sz="1150" b="0">
                          <a:solidFill>
                            <a:srgbClr val="5D6D7E"/>
                          </a:solidFill>
                          <a:latin typeface="Arial"/>
                        </a:rPr>
                        <a:t>política vigente</a:t>
                      </a:r>
                    </a:p>
                  </a:txBody>
                  <a:tcPr>
                    <a:solidFill>
                      <a:srgbClr val="FFFFFF"/>
                    </a:solidFill>
                  </a:tcPr>
                </a:tc>
                <a:tc>
                  <a:txBody>
                    <a:bodyPr/>
                    <a:lstStyle/>
                    <a:p>
                      <a:pPr algn="r"/>
                      <a:r>
                        <a:rPr sz="1150" b="0">
                          <a:solidFill>
                            <a:srgbClr val="5D6D7E"/>
                          </a:solidFill>
                          <a:latin typeface="Arial"/>
                        </a:rPr>
                        <a:t>29,5%</a:t>
                      </a:r>
                    </a:p>
                  </a:txBody>
                  <a:tcPr>
                    <a:solidFill>
                      <a:srgbClr val="FFFFFF"/>
                    </a:solidFill>
                  </a:tcPr>
                </a:tc>
                <a:tc>
                  <a:txBody>
                    <a:bodyPr/>
                    <a:lstStyle/>
                    <a:p>
                      <a:pPr algn="r"/>
                      <a:r>
                        <a:rPr sz="1150" b="0">
                          <a:solidFill>
                            <a:srgbClr val="5D6D7E"/>
                          </a:solidFill>
                          <a:latin typeface="Arial"/>
                        </a:rPr>
                        <a:t>15,3 M€/mes</a:t>
                      </a:r>
                    </a:p>
                  </a:txBody>
                  <a:tcPr>
                    <a:solidFill>
                      <a:srgbClr val="FFFFFF"/>
                    </a:solidFill>
                  </a:tcPr>
                </a:tc>
              </a:tr>
              <a:tr h="274320">
                <a:tc>
                  <a:txBody>
                    <a:bodyPr/>
                    <a:lstStyle/>
                    <a:p>
                      <a:pPr algn="l"/>
                      <a:r>
                        <a:rPr sz="1150" b="0">
                          <a:solidFill>
                            <a:srgbClr val="5D6D7E"/>
                          </a:solidFill>
                          <a:latin typeface="Arial"/>
                        </a:rPr>
                        <a:t>Parrilla Online en ambos canales</a:t>
                      </a:r>
                    </a:p>
                  </a:txBody>
                  <a:tcPr>
                    <a:solidFill>
                      <a:srgbClr val="FFFFFF"/>
                    </a:solidFill>
                  </a:tcPr>
                </a:tc>
                <a:tc>
                  <a:txBody>
                    <a:bodyPr/>
                    <a:lstStyle/>
                    <a:p>
                      <a:pPr algn="r"/>
                      <a:r>
                        <a:rPr sz="1150" b="0">
                          <a:solidFill>
                            <a:srgbClr val="5D6D7E"/>
                          </a:solidFill>
                          <a:latin typeface="Arial"/>
                        </a:rPr>
                        <a:t>vigente</a:t>
                      </a:r>
                    </a:p>
                  </a:txBody>
                  <a:tcPr>
                    <a:solidFill>
                      <a:srgbClr val="FFFFFF"/>
                    </a:solidFill>
                  </a:tcPr>
                </a:tc>
                <a:tc>
                  <a:txBody>
                    <a:bodyPr/>
                    <a:lstStyle/>
                    <a:p>
                      <a:pPr algn="r"/>
                      <a:r>
                        <a:rPr sz="1150" b="0">
                          <a:solidFill>
                            <a:srgbClr val="5D6D7E"/>
                          </a:solidFill>
                          <a:latin typeface="Arial"/>
                        </a:rPr>
                        <a:t>32,7%</a:t>
                      </a:r>
                    </a:p>
                  </a:txBody>
                  <a:tcPr>
                    <a:solidFill>
                      <a:srgbClr val="FFFFFF"/>
                    </a:solidFill>
                  </a:tcPr>
                </a:tc>
                <a:tc>
                  <a:txBody>
                    <a:bodyPr/>
                    <a:lstStyle/>
                    <a:p>
                      <a:pPr algn="r"/>
                      <a:r>
                        <a:rPr sz="1150" b="0">
                          <a:solidFill>
                            <a:srgbClr val="5D6D7E"/>
                          </a:solidFill>
                          <a:latin typeface="Arial"/>
                        </a:rPr>
                        <a:t>18,5 M€/mes</a:t>
                      </a:r>
                    </a:p>
                  </a:txBody>
                  <a:tcPr>
                    <a:solidFill>
                      <a:srgbClr val="FFFFFF"/>
                    </a:solidFill>
                  </a:tcPr>
                </a:tc>
              </a:tr>
              <a:tr h="274320">
                <a:tc>
                  <a:txBody>
                    <a:bodyPr/>
                    <a:lstStyle/>
                    <a:p>
                      <a:pPr algn="l"/>
                      <a:r>
                        <a:rPr sz="1150" b="0">
                          <a:solidFill>
                            <a:srgbClr val="5D6D7E"/>
                          </a:solidFill>
                          <a:latin typeface="Arial"/>
                        </a:rPr>
                        <a:t>2.5%</a:t>
                      </a:r>
                    </a:p>
                  </a:txBody>
                  <a:tcPr>
                    <a:solidFill>
                      <a:srgbClr val="FFFFFF"/>
                    </a:solidFill>
                  </a:tcPr>
                </a:tc>
                <a:tc>
                  <a:txBody>
                    <a:bodyPr/>
                    <a:lstStyle/>
                    <a:p>
                      <a:pPr algn="r"/>
                      <a:r>
                        <a:rPr sz="1150" b="0">
                          <a:solidFill>
                            <a:srgbClr val="5D6D7E"/>
                          </a:solidFill>
                          <a:latin typeface="Arial"/>
                        </a:rPr>
                        <a:t>&gt; 62</a:t>
                      </a:r>
                    </a:p>
                  </a:txBody>
                  <a:tcPr>
                    <a:solidFill>
                      <a:srgbClr val="FFFFFF"/>
                    </a:solidFill>
                  </a:tcPr>
                </a:tc>
                <a:tc>
                  <a:txBody>
                    <a:bodyPr/>
                    <a:lstStyle/>
                    <a:p>
                      <a:pPr algn="r"/>
                      <a:r>
                        <a:rPr sz="1150" b="0">
                          <a:solidFill>
                            <a:srgbClr val="5D6D7E"/>
                          </a:solidFill>
                          <a:latin typeface="Arial"/>
                        </a:rPr>
                        <a:t>21,6%</a:t>
                      </a:r>
                    </a:p>
                  </a:txBody>
                  <a:tcPr>
                    <a:solidFill>
                      <a:srgbClr val="FFFFFF"/>
                    </a:solidFill>
                  </a:tcPr>
                </a:tc>
                <a:tc>
                  <a:txBody>
                    <a:bodyPr/>
                    <a:lstStyle/>
                    <a:p>
                      <a:pPr algn="r"/>
                      <a:r>
                        <a:rPr sz="1150" b="0">
                          <a:solidFill>
                            <a:srgbClr val="5D6D7E"/>
                          </a:solidFill>
                          <a:latin typeface="Arial"/>
                        </a:rPr>
                        <a:t>12,2 M€/mes</a:t>
                      </a:r>
                    </a:p>
                  </a:txBody>
                  <a:tcPr>
                    <a:solidFill>
                      <a:srgbClr val="FFFFFF"/>
                    </a:solidFill>
                  </a:tcPr>
                </a:tc>
              </a:tr>
              <a:tr h="274320">
                <a:tc>
                  <a:txBody>
                    <a:bodyPr/>
                    <a:lstStyle/>
                    <a:p>
                      <a:pPr algn="l"/>
                      <a:r>
                        <a:rPr sz="1150" b="0">
                          <a:solidFill>
                            <a:srgbClr val="5D6D7E"/>
                          </a:solidFill>
                          <a:latin typeface="Arial"/>
                        </a:rPr>
                        <a:t>3%</a:t>
                      </a:r>
                    </a:p>
                  </a:txBody>
                  <a:tcPr>
                    <a:solidFill>
                      <a:srgbClr val="FFFFFF"/>
                    </a:solidFill>
                  </a:tcPr>
                </a:tc>
                <a:tc>
                  <a:txBody>
                    <a:bodyPr/>
                    <a:lstStyle/>
                    <a:p>
                      <a:pPr algn="r"/>
                      <a:r>
                        <a:rPr sz="1150" b="0">
                          <a:solidFill>
                            <a:srgbClr val="5D6D7E"/>
                          </a:solidFill>
                          <a:latin typeface="Arial"/>
                        </a:rPr>
                        <a:t>&gt; 51</a:t>
                      </a:r>
                    </a:p>
                  </a:txBody>
                  <a:tcPr>
                    <a:solidFill>
                      <a:srgbClr val="FFFFFF"/>
                    </a:solidFill>
                  </a:tcPr>
                </a:tc>
                <a:tc>
                  <a:txBody>
                    <a:bodyPr/>
                    <a:lstStyle/>
                    <a:p>
                      <a:pPr algn="r"/>
                      <a:r>
                        <a:rPr sz="1150" b="0">
                          <a:solidFill>
                            <a:srgbClr val="5D6D7E"/>
                          </a:solidFill>
                          <a:latin typeface="Arial"/>
                        </a:rPr>
                        <a:t>26,5%</a:t>
                      </a:r>
                    </a:p>
                  </a:txBody>
                  <a:tcPr>
                    <a:solidFill>
                      <a:srgbClr val="FFFFFF"/>
                    </a:solidFill>
                  </a:tcPr>
                </a:tc>
                <a:tc>
                  <a:txBody>
                    <a:bodyPr/>
                    <a:lstStyle/>
                    <a:p>
                      <a:pPr algn="r"/>
                      <a:r>
                        <a:rPr sz="1150" b="0">
                          <a:solidFill>
                            <a:srgbClr val="5D6D7E"/>
                          </a:solidFill>
                          <a:latin typeface="Arial"/>
                        </a:rPr>
                        <a:t>15,0 M€/mes</a:t>
                      </a:r>
                    </a:p>
                  </a:txBody>
                  <a:tcPr>
                    <a:solidFill>
                      <a:srgbClr val="FFFFFF"/>
                    </a:solidFill>
                  </a:tcPr>
                </a:tc>
              </a:tr>
              <a:tr h="274320">
                <a:tc>
                  <a:txBody>
                    <a:bodyPr/>
                    <a:lstStyle/>
                    <a:p>
                      <a:pPr algn="l"/>
                      <a:r>
                        <a:rPr sz="1150" b="0">
                          <a:solidFill>
                            <a:srgbClr val="5D6D7E"/>
                          </a:solidFill>
                          <a:latin typeface="Arial"/>
                        </a:rPr>
                        <a:t>3.5%</a:t>
                      </a:r>
                    </a:p>
                  </a:txBody>
                  <a:tcPr>
                    <a:solidFill>
                      <a:srgbClr val="FFFFFF"/>
                    </a:solidFill>
                  </a:tcPr>
                </a:tc>
                <a:tc>
                  <a:txBody>
                    <a:bodyPr/>
                    <a:lstStyle/>
                    <a:p>
                      <a:pPr algn="r"/>
                      <a:r>
                        <a:rPr sz="1150" b="0">
                          <a:solidFill>
                            <a:srgbClr val="5D6D7E"/>
                          </a:solidFill>
                          <a:latin typeface="Arial"/>
                        </a:rPr>
                        <a:t>&gt; 38</a:t>
                      </a:r>
                    </a:p>
                  </a:txBody>
                  <a:tcPr>
                    <a:solidFill>
                      <a:srgbClr val="FFFFFF"/>
                    </a:solidFill>
                  </a:tcPr>
                </a:tc>
                <a:tc>
                  <a:txBody>
                    <a:bodyPr/>
                    <a:lstStyle/>
                    <a:p>
                      <a:pPr algn="r"/>
                      <a:r>
                        <a:rPr sz="1150" b="0">
                          <a:solidFill>
                            <a:srgbClr val="5D6D7E"/>
                          </a:solidFill>
                          <a:latin typeface="Arial"/>
                        </a:rPr>
                        <a:t>30,8%</a:t>
                      </a:r>
                    </a:p>
                  </a:txBody>
                  <a:tcPr>
                    <a:solidFill>
                      <a:srgbClr val="FFFFFF"/>
                    </a:solidFill>
                  </a:tcPr>
                </a:tc>
                <a:tc>
                  <a:txBody>
                    <a:bodyPr/>
                    <a:lstStyle/>
                    <a:p>
                      <a:pPr algn="r"/>
                      <a:r>
                        <a:rPr sz="1150" b="0">
                          <a:solidFill>
                            <a:srgbClr val="5D6D7E"/>
                          </a:solidFill>
                          <a:latin typeface="Arial"/>
                        </a:rPr>
                        <a:t>17,4 M€/mes</a:t>
                      </a:r>
                    </a:p>
                  </a:txBody>
                  <a:tcPr>
                    <a:solidFill>
                      <a:srgbClr val="FFFFFF"/>
                    </a:solidFill>
                  </a:tcPr>
                </a:tc>
              </a:tr>
              <a:tr h="274320">
                <a:tc>
                  <a:txBody>
                    <a:bodyPr/>
                    <a:lstStyle/>
                    <a:p>
                      <a:pPr algn="l"/>
                      <a:r>
                        <a:rPr sz="1150" b="0">
                          <a:solidFill>
                            <a:srgbClr val="5D6D7E"/>
                          </a:solidFill>
                          <a:latin typeface="Arial"/>
                        </a:rPr>
                        <a:t>4%</a:t>
                      </a:r>
                    </a:p>
                  </a:txBody>
                  <a:tcPr>
                    <a:solidFill>
                      <a:srgbClr val="FFFFFF"/>
                    </a:solidFill>
                  </a:tcPr>
                </a:tc>
                <a:tc>
                  <a:txBody>
                    <a:bodyPr/>
                    <a:lstStyle/>
                    <a:p>
                      <a:pPr algn="r"/>
                      <a:r>
                        <a:rPr sz="1150" b="0">
                          <a:solidFill>
                            <a:srgbClr val="5D6D7E"/>
                          </a:solidFill>
                          <a:latin typeface="Arial"/>
                        </a:rPr>
                        <a:t>&gt; 27</a:t>
                      </a:r>
                    </a:p>
                  </a:txBody>
                  <a:tcPr>
                    <a:solidFill>
                      <a:srgbClr val="FFFFFF"/>
                    </a:solidFill>
                  </a:tcPr>
                </a:tc>
                <a:tc>
                  <a:txBody>
                    <a:bodyPr/>
                    <a:lstStyle/>
                    <a:p>
                      <a:pPr algn="r"/>
                      <a:r>
                        <a:rPr sz="1150" b="0">
                          <a:solidFill>
                            <a:srgbClr val="5D6D7E"/>
                          </a:solidFill>
                          <a:latin typeface="Arial"/>
                        </a:rPr>
                        <a:t>32,5%</a:t>
                      </a:r>
                    </a:p>
                  </a:txBody>
                  <a:tcPr>
                    <a:solidFill>
                      <a:srgbClr val="FFFFFF"/>
                    </a:solidFill>
                  </a:tcPr>
                </a:tc>
                <a:tc>
                  <a:txBody>
                    <a:bodyPr/>
                    <a:lstStyle/>
                    <a:p>
                      <a:pPr algn="r"/>
                      <a:r>
                        <a:rPr sz="1150" b="0">
                          <a:solidFill>
                            <a:srgbClr val="5D6D7E"/>
                          </a:solidFill>
                          <a:latin typeface="Arial"/>
                        </a:rPr>
                        <a:t>18,4 M€/mes</a:t>
                      </a:r>
                    </a:p>
                  </a:txBody>
                  <a:tcPr>
                    <a:solidFill>
                      <a:srgbClr val="FFFFFF"/>
                    </a:solidFill>
                  </a:tcPr>
                </a:tc>
              </a:tr>
            </a:tbl>
          </a:graphicData>
        </a:graphic>
      </p:graphicFrame>
      <p:sp>
        <p:nvSpPr>
          <p:cNvPr id="24" name="TextBox 23"/>
          <p:cNvSpPr txBox="1"/>
          <p:nvPr/>
        </p:nvSpPr>
        <p:spPr>
          <a:xfrm>
            <a:off x="566928" y="5678424"/>
            <a:ext cx="5623560" cy="1097280"/>
          </a:xfrm>
          <a:prstGeom prst="rect">
            <a:avLst/>
          </a:prstGeom>
          <a:noFill/>
        </p:spPr>
        <p:txBody>
          <a:bodyPr wrap="square">
            <a:spAutoFit/>
          </a:bodyPr>
          <a:lstStyle/>
          <a:p>
            <a:pPr>
              <a:spcAft>
                <a:spcPts val="900"/>
              </a:spcAft>
            </a:pPr>
            <a:r>
              <a:rPr sz="1150" b="1">
                <a:solidFill>
                  <a:srgbClr val="2C3E50"/>
                </a:solidFill>
                <a:latin typeface="Arial"/>
              </a:rPr>
              <a:t>Riesgo de tienda:  </a:t>
            </a:r>
            <a:r>
              <a:rPr sz="1150">
                <a:solidFill>
                  <a:srgbClr val="5D6D7E"/>
                </a:solidFill>
                <a:latin typeface="Arial"/>
              </a:rPr>
              <a:t>forma de la curva tomada de e-commerce; el nivel, anclado al 3,74% realizado de tienda. No es una medición.</a:t>
            </a:r>
          </a:p>
          <a:p>
            <a:pPr>
              <a:spcAft>
                <a:spcPts val="900"/>
              </a:spcAft>
            </a:pPr>
            <a:r>
              <a:rPr sz="1150" b="1">
                <a:solidFill>
                  <a:srgbClr val="2C3E50"/>
                </a:solidFill>
                <a:latin typeface="Arial"/>
              </a:rPr>
              <a:t>Ventana:  </a:t>
            </a:r>
            <a:r>
              <a:rPr sz="1150">
                <a:solidFill>
                  <a:srgbClr val="5D6D7E"/>
                </a:solidFill>
                <a:latin typeface="Arial"/>
              </a:rPr>
              <a:t>12 meses de originación madura (4,18% frente a 3,92% con 26 meses).</a:t>
            </a:r>
          </a:p>
          <a:p>
            <a:pPr>
              <a:spcAft>
                <a:spcPts val="900"/>
              </a:spcAft>
            </a:pPr>
            <a:r>
              <a:rPr sz="1150" b="1">
                <a:solidFill>
                  <a:srgbClr val="2C3E50"/>
                </a:solidFill>
                <a:latin typeface="Arial"/>
              </a:rPr>
              <a:t>Con reject inference:  </a:t>
            </a:r>
            <a:r>
              <a:rPr sz="1150">
                <a:solidFill>
                  <a:srgbClr val="5D6D7E"/>
                </a:solidFill>
                <a:latin typeface="Arial"/>
              </a:rPr>
              <a:t>los tramos poco aceptados llevan uplift (hasta 2,4x). Apenas mueve los cortes: donde se decide, Online ya acepta al 84-97%.</a:t>
            </a:r>
          </a:p>
        </p:txBody>
      </p:sp>
      <p:sp>
        <p:nvSpPr>
          <p:cNvPr id="25" name="TextBox 24"/>
          <p:cNvSpPr txBox="1"/>
          <p:nvPr/>
        </p:nvSpPr>
        <p:spPr>
          <a:xfrm>
            <a:off x="6464808" y="3346704"/>
            <a:ext cx="5166360" cy="365760"/>
          </a:xfrm>
          <a:prstGeom prst="rect">
            <a:avLst/>
          </a:prstGeom>
          <a:noFill/>
        </p:spPr>
        <p:txBody>
          <a:bodyPr wrap="square">
            <a:spAutoFit/>
          </a:bodyPr>
          <a:lstStyle/>
          <a:p>
            <a:pPr algn="l">
              <a:lnSpc>
                <a:spcPct val="100000"/>
              </a:lnSpc>
            </a:pPr>
            <a:r>
              <a:rPr sz="1500" b="1">
                <a:solidFill>
                  <a:srgbClr val="2C3E50"/>
                </a:solidFill>
                <a:latin typeface="Arial"/>
              </a:rPr>
              <a:t>Tienda: la parrilla de e-commerce mejora las dos cosas</a:t>
            </a:r>
          </a:p>
        </p:txBody>
      </p:sp>
      <p:pic>
        <p:nvPicPr>
          <p:cNvPr id="26" name="Picture 25" descr="tienda_compacto.png"/>
          <p:cNvPicPr>
            <a:picLocks noChangeAspect="1"/>
          </p:cNvPicPr>
          <p:nvPr/>
        </p:nvPicPr>
        <p:blipFill>
          <a:blip r:embed="rId2"/>
          <a:stretch>
            <a:fillRect/>
          </a:stretch>
        </p:blipFill>
        <p:spPr>
          <a:xfrm>
            <a:off x="6464808" y="3758184"/>
            <a:ext cx="5166360" cy="239587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PUNTO 1 · MEDIDO</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Originación mar-2025 a feb-2026</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Situación actual de Apple Online</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nline.png"/>
          <p:cNvPicPr>
            <a:picLocks noChangeAspect="1"/>
          </p:cNvPicPr>
          <p:nvPr/>
        </p:nvPicPr>
        <p:blipFill>
          <a:blip r:embed="rId2"/>
          <a:stretch>
            <a:fillRect/>
          </a:stretch>
        </p:blipFill>
        <p:spPr>
          <a:xfrm>
            <a:off x="1746542" y="1563624"/>
            <a:ext cx="8698611" cy="4425696"/>
          </a:xfrm>
          <a:prstGeom prst="rect">
            <a:avLst/>
          </a:prstGeom>
        </p:spPr>
      </p:pic>
      <p:sp>
        <p:nvSpPr>
          <p:cNvPr id="7" name="TextBox 6"/>
          <p:cNvSpPr txBox="1"/>
          <p:nvPr/>
        </p:nvSpPr>
        <p:spPr>
          <a:xfrm>
            <a:off x="566928" y="6071616"/>
            <a:ext cx="11057839" cy="548640"/>
          </a:xfrm>
          <a:prstGeom prst="rect">
            <a:avLst/>
          </a:prstGeom>
          <a:noFill/>
        </p:spPr>
        <p:txBody>
          <a:bodyPr wrap="square">
            <a:spAutoFit/>
          </a:bodyPr>
          <a:lstStyle/>
          <a:p>
            <a:pPr algn="l">
              <a:lnSpc>
                <a:spcPct val="120000"/>
              </a:lnSpc>
            </a:pPr>
            <a:r>
              <a:rPr sz="1150" b="0">
                <a:solidFill>
                  <a:srgbClr val="5D6D7E"/>
                </a:solidFill>
                <a:latin typeface="Arial"/>
              </a:rPr>
              <a:t>Riesgo realizado sobre originación con 6 meses cumplidos. Sin supuestos.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PUNTO 1 · MEDIDO</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Originación mar-2025 a feb-2026</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Situación actual de Apple Stores</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ienda_actual.png"/>
          <p:cNvPicPr>
            <a:picLocks noChangeAspect="1"/>
          </p:cNvPicPr>
          <p:nvPr/>
        </p:nvPicPr>
        <p:blipFill>
          <a:blip r:embed="rId2"/>
          <a:stretch>
            <a:fillRect/>
          </a:stretch>
        </p:blipFill>
        <p:spPr>
          <a:xfrm>
            <a:off x="1746542" y="1563624"/>
            <a:ext cx="8698611" cy="4425696"/>
          </a:xfrm>
          <a:prstGeom prst="rect">
            <a:avLst/>
          </a:prstGeom>
        </p:spPr>
      </p:pic>
      <p:sp>
        <p:nvSpPr>
          <p:cNvPr id="7" name="TextBox 6"/>
          <p:cNvSpPr txBox="1"/>
          <p:nvPr/>
        </p:nvSpPr>
        <p:spPr>
          <a:xfrm>
            <a:off x="566928" y="6071616"/>
            <a:ext cx="11057839" cy="548640"/>
          </a:xfrm>
          <a:prstGeom prst="rect">
            <a:avLst/>
          </a:prstGeom>
          <a:noFill/>
        </p:spPr>
        <p:txBody>
          <a:bodyPr wrap="square">
            <a:spAutoFit/>
          </a:bodyPr>
          <a:lstStyle/>
          <a:p>
            <a:pPr algn="l">
              <a:lnSpc>
                <a:spcPct val="120000"/>
              </a:lnSpc>
            </a:pPr>
            <a:r>
              <a:rPr sz="1150" b="0">
                <a:solidFill>
                  <a:srgbClr val="5D6D7E"/>
                </a:solidFill>
                <a:latin typeface="Arial"/>
              </a:rPr>
              <a:t>Medido sobre el histórico propio de tienda, misma ventana que Online: para describir dónde está hoy no hace falta imputar nada. Acepta casi el triple que Online y arriesga menos. Aviso: su TA viene cayendo (58,7% de mar-2025 a feb-2026, 47,2% en ago-2026 a sep-2026), así que la base se está moviendo.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PUNTO 2 · RIESGO ESTIMADO</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Tienda ago-2026 a sep-2026</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Tienda con la parrilla de e-commerce</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ienda.png"/>
          <p:cNvPicPr>
            <a:picLocks noChangeAspect="1"/>
          </p:cNvPicPr>
          <p:nvPr/>
        </p:nvPicPr>
        <p:blipFill>
          <a:blip r:embed="rId2"/>
          <a:stretch>
            <a:fillRect/>
          </a:stretch>
        </p:blipFill>
        <p:spPr>
          <a:xfrm>
            <a:off x="1006052" y="1563624"/>
            <a:ext cx="10179590" cy="4425696"/>
          </a:xfrm>
          <a:prstGeom prst="rect">
            <a:avLst/>
          </a:prstGeom>
        </p:spPr>
      </p:pic>
      <p:sp>
        <p:nvSpPr>
          <p:cNvPr id="7" name="TextBox 6"/>
          <p:cNvSpPr txBox="1"/>
          <p:nvPr/>
        </p:nvSpPr>
        <p:spPr>
          <a:xfrm>
            <a:off x="566928" y="6071616"/>
            <a:ext cx="11057839" cy="548640"/>
          </a:xfrm>
          <a:prstGeom prst="rect">
            <a:avLst/>
          </a:prstGeom>
          <a:noFill/>
        </p:spPr>
        <p:txBody>
          <a:bodyPr wrap="square">
            <a:spAutoFit/>
          </a:bodyPr>
          <a:lstStyle/>
          <a:p>
            <a:pPr algn="l">
              <a:lnSpc>
                <a:spcPct val="120000"/>
              </a:lnSpc>
            </a:pPr>
            <a:r>
              <a:rPr sz="1150" b="0">
                <a:solidFill>
                  <a:srgbClr val="5D6D7E"/>
                </a:solidFill>
                <a:latin typeface="Arial"/>
              </a:rPr>
              <a:t>Las dos columnas miden la misma población —ago-2026 a sep-2026, lo único con score EFX en tienda—, por eso aquí el 'hoy' es 47,2% y en la slide anterior 58,7%. Sustitución de la regla de score; las demás reglas de tienda se mantienen. El riesgo va imputado desde la curva de Online, con el nivel anclado al realizado de tienda.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PUNTO 3 · ESCENARIOS</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Online mar-2025 a feb-2026  ·  tienda ago-2026 a sep-2026</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Cuánto cuesta cada objetivo de riesgo</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rontera.png"/>
          <p:cNvPicPr>
            <a:picLocks noChangeAspect="1"/>
          </p:cNvPicPr>
          <p:nvPr/>
        </p:nvPicPr>
        <p:blipFill>
          <a:blip r:embed="rId2"/>
          <a:stretch>
            <a:fillRect/>
          </a:stretch>
        </p:blipFill>
        <p:spPr>
          <a:xfrm>
            <a:off x="566928" y="1563624"/>
            <a:ext cx="6720840" cy="3559542"/>
          </a:xfrm>
          <a:prstGeom prst="rect">
            <a:avLst/>
          </a:prstGeom>
        </p:spPr>
      </p:pic>
      <p:graphicFrame>
        <p:nvGraphicFramePr>
          <p:cNvPr id="7" name="Table 6"/>
          <p:cNvGraphicFramePr>
            <a:graphicFrameLocks noGrp="1"/>
          </p:cNvGraphicFramePr>
          <p:nvPr/>
        </p:nvGraphicFramePr>
        <p:xfrm>
          <a:off x="7543800" y="1655064"/>
          <a:ext cx="4343400" cy="2852928"/>
        </p:xfrm>
        <a:graphic>
          <a:graphicData uri="http://schemas.openxmlformats.org/drawingml/2006/table">
            <a:tbl>
              <a:tblPr firstRow="1" bandRow="1">
                <a:tableStyleId>{5C22544A-7EE6-4342-B048-85BDC9FD1C3A}</a:tableStyleId>
              </a:tblPr>
              <a:tblGrid>
                <a:gridCol w="1640840"/>
                <a:gridCol w="965200"/>
                <a:gridCol w="868680"/>
                <a:gridCol w="868680"/>
              </a:tblGrid>
              <a:tr h="237744">
                <a:tc>
                  <a:txBody>
                    <a:bodyPr/>
                    <a:lstStyle/>
                    <a:p>
                      <a:pPr algn="l"/>
                      <a:r>
                        <a:rPr sz="1150" b="1">
                          <a:solidFill>
                            <a:srgbClr val="2C3E50"/>
                          </a:solidFill>
                          <a:latin typeface="Arial"/>
                        </a:rPr>
                        <a:t>Escenario</a:t>
                      </a:r>
                    </a:p>
                  </a:txBody>
                  <a:tcPr>
                    <a:solidFill>
                      <a:srgbClr val="F6F7F9"/>
                    </a:solidFill>
                  </a:tcPr>
                </a:tc>
                <a:tc>
                  <a:txBody>
                    <a:bodyPr/>
                    <a:lstStyle/>
                    <a:p>
                      <a:pPr algn="r"/>
                      <a:r>
                        <a:rPr sz="1150" b="1">
                          <a:solidFill>
                            <a:srgbClr val="2C3E50"/>
                          </a:solidFill>
                          <a:latin typeface="Arial"/>
                        </a:rPr>
                        <a:t>Corte</a:t>
                      </a:r>
                    </a:p>
                  </a:txBody>
                  <a:tcPr>
                    <a:solidFill>
                      <a:srgbClr val="F6F7F9"/>
                    </a:solidFill>
                  </a:tcPr>
                </a:tc>
                <a:tc>
                  <a:txBody>
                    <a:bodyPr/>
                    <a:lstStyle/>
                    <a:p>
                      <a:pPr algn="r"/>
                      <a:r>
                        <a:rPr sz="1150" b="1">
                          <a:solidFill>
                            <a:srgbClr val="2C3E50"/>
                          </a:solidFill>
                          <a:latin typeface="Arial"/>
                        </a:rPr>
                        <a:t>TA score</a:t>
                      </a:r>
                    </a:p>
                  </a:txBody>
                  <a:tcPr>
                    <a:solidFill>
                      <a:srgbClr val="F6F7F9"/>
                    </a:solidFill>
                  </a:tcPr>
                </a:tc>
                <a:tc>
                  <a:txBody>
                    <a:bodyPr/>
                    <a:lstStyle/>
                    <a:p>
                      <a:pPr algn="r"/>
                      <a:r>
                        <a:rPr sz="1150" b="1">
                          <a:solidFill>
                            <a:srgbClr val="2C3E50"/>
                          </a:solidFill>
                          <a:latin typeface="Arial"/>
                        </a:rPr>
                        <a:t>TA efect.</a:t>
                      </a:r>
                    </a:p>
                  </a:txBody>
                  <a:tcPr>
                    <a:solidFill>
                      <a:srgbClr val="F6F7F9"/>
                    </a:solidFill>
                  </a:tcPr>
                </a:tc>
              </a:tr>
              <a:tr h="237744">
                <a:tc>
                  <a:txBody>
                    <a:bodyPr/>
                    <a:lstStyle/>
                    <a:p>
                      <a:pPr algn="l"/>
                      <a:r>
                        <a:rPr sz="1150" b="0">
                          <a:solidFill>
                            <a:srgbClr val="5D6D7E"/>
                          </a:solidFill>
                          <a:latin typeface="Arial"/>
                        </a:rPr>
                        <a:t>Hoy (medido)</a:t>
                      </a:r>
                    </a:p>
                  </a:txBody>
                  <a:tcPr>
                    <a:solidFill>
                      <a:srgbClr val="FFFFFF"/>
                    </a:solidFill>
                  </a:tcPr>
                </a:tc>
                <a:tc>
                  <a:txBody>
                    <a:bodyPr/>
                    <a:lstStyle/>
                    <a:p>
                      <a:pPr algn="r"/>
                      <a:r>
                        <a:rPr sz="1150" b="0">
                          <a:solidFill>
                            <a:srgbClr val="5D6D7E"/>
                          </a:solidFill>
                          <a:latin typeface="Arial"/>
                        </a:rPr>
                        <a:t>política vigente</a:t>
                      </a:r>
                    </a:p>
                  </a:txBody>
                  <a:tcPr>
                    <a:solidFill>
                      <a:srgbClr val="FFFFFF"/>
                    </a:solidFill>
                  </a:tcPr>
                </a:tc>
                <a:tc>
                  <a:txBody>
                    <a:bodyPr/>
                    <a:lstStyle/>
                    <a:p>
                      <a:pPr algn="r"/>
                      <a:r>
                        <a:rPr sz="1150" b="0">
                          <a:solidFill>
                            <a:srgbClr val="5D6D7E"/>
                          </a:solidFill>
                          <a:latin typeface="Arial"/>
                        </a:rPr>
                        <a:t>—</a:t>
                      </a:r>
                    </a:p>
                  </a:txBody>
                  <a:tcPr>
                    <a:solidFill>
                      <a:srgbClr val="FFFFFF"/>
                    </a:solidFill>
                  </a:tcPr>
                </a:tc>
                <a:tc>
                  <a:txBody>
                    <a:bodyPr/>
                    <a:lstStyle/>
                    <a:p>
                      <a:pPr algn="r"/>
                      <a:r>
                        <a:rPr sz="1150" b="0">
                          <a:solidFill>
                            <a:srgbClr val="5D6D7E"/>
                          </a:solidFill>
                          <a:latin typeface="Arial"/>
                        </a:rPr>
                        <a:t>29,5%</a:t>
                      </a:r>
                    </a:p>
                  </a:txBody>
                  <a:tcPr>
                    <a:solidFill>
                      <a:srgbClr val="FFFFFF"/>
                    </a:solidFill>
                  </a:tcPr>
                </a:tc>
              </a:tr>
              <a:tr h="237744">
                <a:tc>
                  <a:txBody>
                    <a:bodyPr/>
                    <a:lstStyle/>
                    <a:p>
                      <a:pPr algn="l"/>
                      <a:r>
                        <a:rPr sz="1150" b="0">
                          <a:solidFill>
                            <a:srgbClr val="5D6D7E"/>
                          </a:solidFill>
                          <a:latin typeface="Arial"/>
                        </a:rPr>
                        <a:t>Hoy, base escenarios</a:t>
                      </a:r>
                    </a:p>
                  </a:txBody>
                  <a:tcPr>
                    <a:solidFill>
                      <a:srgbClr val="FFFFFF"/>
                    </a:solidFill>
                  </a:tcPr>
                </a:tc>
                <a:tc>
                  <a:txBody>
                    <a:bodyPr/>
                    <a:lstStyle/>
                    <a:p>
                      <a:pPr algn="r"/>
                      <a:r>
                        <a:rPr sz="1150" b="0">
                          <a:solidFill>
                            <a:srgbClr val="5D6D7E"/>
                          </a:solidFill>
                          <a:latin typeface="Arial"/>
                        </a:rPr>
                        <a:t>política vigente</a:t>
                      </a:r>
                    </a:p>
                  </a:txBody>
                  <a:tcPr>
                    <a:solidFill>
                      <a:srgbClr val="FFFFFF"/>
                    </a:solidFill>
                  </a:tcPr>
                </a:tc>
                <a:tc>
                  <a:txBody>
                    <a:bodyPr/>
                    <a:lstStyle/>
                    <a:p>
                      <a:pPr algn="r"/>
                      <a:r>
                        <a:rPr sz="1150" b="0">
                          <a:solidFill>
                            <a:srgbClr val="5D6D7E"/>
                          </a:solidFill>
                          <a:latin typeface="Arial"/>
                        </a:rPr>
                        <a:t>—</a:t>
                      </a:r>
                    </a:p>
                  </a:txBody>
                  <a:tcPr>
                    <a:solidFill>
                      <a:srgbClr val="FFFFFF"/>
                    </a:solidFill>
                  </a:tcPr>
                </a:tc>
                <a:tc>
                  <a:txBody>
                    <a:bodyPr/>
                    <a:lstStyle/>
                    <a:p>
                      <a:pPr algn="r"/>
                      <a:r>
                        <a:rPr sz="1150" b="0">
                          <a:solidFill>
                            <a:srgbClr val="5D6D7E"/>
                          </a:solidFill>
                          <a:latin typeface="Arial"/>
                        </a:rPr>
                        <a:t>28,5%</a:t>
                      </a:r>
                    </a:p>
                  </a:txBody>
                  <a:tcPr>
                    <a:solidFill>
                      <a:srgbClr val="FFFFFF"/>
                    </a:solidFill>
                  </a:tcPr>
                </a:tc>
              </a:tr>
              <a:tr h="237744">
                <a:tc>
                  <a:txBody>
                    <a:bodyPr/>
                    <a:lstStyle/>
                    <a:p>
                      <a:pPr algn="l"/>
                      <a:r>
                        <a:rPr sz="1150" b="0">
                          <a:solidFill>
                            <a:srgbClr val="5D6D7E"/>
                          </a:solidFill>
                          <a:latin typeface="Arial"/>
                        </a:rPr>
                        <a:t>Parrilla Online en ambos canales</a:t>
                      </a:r>
                    </a:p>
                  </a:txBody>
                  <a:tcPr>
                    <a:solidFill>
                      <a:srgbClr val="FFFFFF"/>
                    </a:solidFill>
                  </a:tcPr>
                </a:tc>
                <a:tc>
                  <a:txBody>
                    <a:bodyPr/>
                    <a:lstStyle/>
                    <a:p>
                      <a:pPr algn="r"/>
                      <a:r>
                        <a:rPr sz="1150" b="0">
                          <a:solidFill>
                            <a:srgbClr val="5D6D7E"/>
                          </a:solidFill>
                          <a:latin typeface="Arial"/>
                        </a:rPr>
                        <a:t>vigente</a:t>
                      </a:r>
                    </a:p>
                  </a:txBody>
                  <a:tcPr>
                    <a:solidFill>
                      <a:srgbClr val="FFFFFF"/>
                    </a:solidFill>
                  </a:tcPr>
                </a:tc>
                <a:tc>
                  <a:txBody>
                    <a:bodyPr/>
                    <a:lstStyle/>
                    <a:p>
                      <a:pPr algn="r"/>
                      <a:r>
                        <a:rPr sz="1150" b="0">
                          <a:solidFill>
                            <a:srgbClr val="5D6D7E"/>
                          </a:solidFill>
                          <a:latin typeface="Arial"/>
                        </a:rPr>
                        <a:t>58,9%</a:t>
                      </a:r>
                    </a:p>
                  </a:txBody>
                  <a:tcPr>
                    <a:solidFill>
                      <a:srgbClr val="FFFFFF"/>
                    </a:solidFill>
                  </a:tcPr>
                </a:tc>
                <a:tc>
                  <a:txBody>
                    <a:bodyPr/>
                    <a:lstStyle/>
                    <a:p>
                      <a:pPr algn="r"/>
                      <a:r>
                        <a:rPr sz="1150" b="0">
                          <a:solidFill>
                            <a:srgbClr val="5D6D7E"/>
                          </a:solidFill>
                          <a:latin typeface="Arial"/>
                        </a:rPr>
                        <a:t>32,7%</a:t>
                      </a:r>
                    </a:p>
                  </a:txBody>
                  <a:tcPr>
                    <a:solidFill>
                      <a:srgbClr val="FFFFFF"/>
                    </a:solidFill>
                  </a:tcPr>
                </a:tc>
              </a:tr>
              <a:tr h="237744">
                <a:tc>
                  <a:txBody>
                    <a:bodyPr/>
                    <a:lstStyle/>
                    <a:p>
                      <a:pPr algn="l"/>
                      <a:r>
                        <a:rPr sz="1150" b="0">
                          <a:solidFill>
                            <a:srgbClr val="5D6D7E"/>
                          </a:solidFill>
                          <a:latin typeface="Arial"/>
                        </a:rPr>
                        <a:t>2.5% · único</a:t>
                      </a:r>
                    </a:p>
                  </a:txBody>
                  <a:tcPr>
                    <a:solidFill>
                      <a:srgbClr val="FFFFFF"/>
                    </a:solidFill>
                  </a:tcPr>
                </a:tc>
                <a:tc>
                  <a:txBody>
                    <a:bodyPr/>
                    <a:lstStyle/>
                    <a:p>
                      <a:pPr algn="r"/>
                      <a:r>
                        <a:rPr sz="1150" b="0">
                          <a:solidFill>
                            <a:srgbClr val="5D6D7E"/>
                          </a:solidFill>
                          <a:latin typeface="Arial"/>
                        </a:rPr>
                        <a:t>&gt; 62</a:t>
                      </a:r>
                    </a:p>
                  </a:txBody>
                  <a:tcPr>
                    <a:solidFill>
                      <a:srgbClr val="FFFFFF"/>
                    </a:solidFill>
                  </a:tcPr>
                </a:tc>
                <a:tc>
                  <a:txBody>
                    <a:bodyPr/>
                    <a:lstStyle/>
                    <a:p>
                      <a:pPr algn="r"/>
                      <a:r>
                        <a:rPr sz="1150" b="0">
                          <a:solidFill>
                            <a:srgbClr val="5D6D7E"/>
                          </a:solidFill>
                          <a:latin typeface="Arial"/>
                        </a:rPr>
                        <a:t>38,1%</a:t>
                      </a:r>
                    </a:p>
                  </a:txBody>
                  <a:tcPr>
                    <a:solidFill>
                      <a:srgbClr val="FFFFFF"/>
                    </a:solidFill>
                  </a:tcPr>
                </a:tc>
                <a:tc>
                  <a:txBody>
                    <a:bodyPr/>
                    <a:lstStyle/>
                    <a:p>
                      <a:pPr algn="r"/>
                      <a:r>
                        <a:rPr sz="1150" b="0">
                          <a:solidFill>
                            <a:srgbClr val="5D6D7E"/>
                          </a:solidFill>
                          <a:latin typeface="Arial"/>
                        </a:rPr>
                        <a:t>21,6%</a:t>
                      </a:r>
                    </a:p>
                  </a:txBody>
                  <a:tcPr>
                    <a:solidFill>
                      <a:srgbClr val="FFFFFF"/>
                    </a:solidFill>
                  </a:tcPr>
                </a:tc>
              </a:tr>
              <a:tr h="237744">
                <a:tc>
                  <a:txBody>
                    <a:bodyPr/>
                    <a:lstStyle/>
                    <a:p>
                      <a:pPr algn="l"/>
                      <a:r>
                        <a:rPr sz="1150" b="0">
                          <a:solidFill>
                            <a:srgbClr val="5D6D7E"/>
                          </a:solidFill>
                          <a:latin typeface="Arial"/>
                        </a:rPr>
                        <a:t>2.5% · parrilla</a:t>
                      </a:r>
                    </a:p>
                  </a:txBody>
                  <a:tcPr>
                    <a:solidFill>
                      <a:srgbClr val="FFFFFF"/>
                    </a:solidFill>
                  </a:tcPr>
                </a:tc>
                <a:tc>
                  <a:txBody>
                    <a:bodyPr/>
                    <a:lstStyle/>
                    <a:p>
                      <a:pPr algn="r"/>
                      <a:r>
                        <a:rPr sz="1150" b="0">
                          <a:solidFill>
                            <a:srgbClr val="5D6D7E"/>
                          </a:solidFill>
                          <a:latin typeface="Arial"/>
                        </a:rPr>
                        <a:t>+36p</a:t>
                      </a:r>
                    </a:p>
                  </a:txBody>
                  <a:tcPr>
                    <a:solidFill>
                      <a:srgbClr val="FFFFFF"/>
                    </a:solidFill>
                  </a:tcPr>
                </a:tc>
                <a:tc>
                  <a:txBody>
                    <a:bodyPr/>
                    <a:lstStyle/>
                    <a:p>
                      <a:pPr algn="r"/>
                      <a:r>
                        <a:rPr sz="1150" b="0">
                          <a:solidFill>
                            <a:srgbClr val="5D6D7E"/>
                          </a:solidFill>
                          <a:latin typeface="Arial"/>
                        </a:rPr>
                        <a:t>38,2%</a:t>
                      </a:r>
                    </a:p>
                  </a:txBody>
                  <a:tcPr>
                    <a:solidFill>
                      <a:srgbClr val="FFFFFF"/>
                    </a:solidFill>
                  </a:tcPr>
                </a:tc>
                <a:tc>
                  <a:txBody>
                    <a:bodyPr/>
                    <a:lstStyle/>
                    <a:p>
                      <a:pPr algn="r"/>
                      <a:r>
                        <a:rPr sz="1150" b="0">
                          <a:solidFill>
                            <a:srgbClr val="5D6D7E"/>
                          </a:solidFill>
                          <a:latin typeface="Arial"/>
                        </a:rPr>
                        <a:t>21,7%</a:t>
                      </a:r>
                    </a:p>
                  </a:txBody>
                  <a:tcPr>
                    <a:solidFill>
                      <a:srgbClr val="FFFFFF"/>
                    </a:solidFill>
                  </a:tcPr>
                </a:tc>
              </a:tr>
              <a:tr h="237744">
                <a:tc>
                  <a:txBody>
                    <a:bodyPr/>
                    <a:lstStyle/>
                    <a:p>
                      <a:pPr algn="l"/>
                      <a:r>
                        <a:rPr sz="1150" b="0">
                          <a:solidFill>
                            <a:srgbClr val="5D6D7E"/>
                          </a:solidFill>
                          <a:latin typeface="Arial"/>
                        </a:rPr>
                        <a:t>3% · único</a:t>
                      </a:r>
                    </a:p>
                  </a:txBody>
                  <a:tcPr>
                    <a:solidFill>
                      <a:srgbClr val="FFFFFF"/>
                    </a:solidFill>
                  </a:tcPr>
                </a:tc>
                <a:tc>
                  <a:txBody>
                    <a:bodyPr/>
                    <a:lstStyle/>
                    <a:p>
                      <a:pPr algn="r"/>
                      <a:r>
                        <a:rPr sz="1150" b="0">
                          <a:solidFill>
                            <a:srgbClr val="5D6D7E"/>
                          </a:solidFill>
                          <a:latin typeface="Arial"/>
                        </a:rPr>
                        <a:t>&gt; 51</a:t>
                      </a:r>
                    </a:p>
                  </a:txBody>
                  <a:tcPr>
                    <a:solidFill>
                      <a:srgbClr val="FFFFFF"/>
                    </a:solidFill>
                  </a:tcPr>
                </a:tc>
                <a:tc>
                  <a:txBody>
                    <a:bodyPr/>
                    <a:lstStyle/>
                    <a:p>
                      <a:pPr algn="r"/>
                      <a:r>
                        <a:rPr sz="1150" b="0">
                          <a:solidFill>
                            <a:srgbClr val="5D6D7E"/>
                          </a:solidFill>
                          <a:latin typeface="Arial"/>
                        </a:rPr>
                        <a:t>47,0%</a:t>
                      </a:r>
                    </a:p>
                  </a:txBody>
                  <a:tcPr>
                    <a:solidFill>
                      <a:srgbClr val="FFFFFF"/>
                    </a:solidFill>
                  </a:tcPr>
                </a:tc>
                <a:tc>
                  <a:txBody>
                    <a:bodyPr/>
                    <a:lstStyle/>
                    <a:p>
                      <a:pPr algn="r"/>
                      <a:r>
                        <a:rPr sz="1150" b="0">
                          <a:solidFill>
                            <a:srgbClr val="5D6D7E"/>
                          </a:solidFill>
                          <a:latin typeface="Arial"/>
                        </a:rPr>
                        <a:t>26,5%</a:t>
                      </a:r>
                    </a:p>
                  </a:txBody>
                  <a:tcPr>
                    <a:solidFill>
                      <a:srgbClr val="FFFFFF"/>
                    </a:solidFill>
                  </a:tcPr>
                </a:tc>
              </a:tr>
              <a:tr h="237744">
                <a:tc>
                  <a:txBody>
                    <a:bodyPr/>
                    <a:lstStyle/>
                    <a:p>
                      <a:pPr algn="l"/>
                      <a:r>
                        <a:rPr sz="1150" b="0">
                          <a:solidFill>
                            <a:srgbClr val="5D6D7E"/>
                          </a:solidFill>
                          <a:latin typeface="Arial"/>
                        </a:rPr>
                        <a:t>3% · parrilla</a:t>
                      </a:r>
                    </a:p>
                  </a:txBody>
                  <a:tcPr>
                    <a:solidFill>
                      <a:srgbClr val="FFFFFF"/>
                    </a:solidFill>
                  </a:tcPr>
                </a:tc>
                <a:tc>
                  <a:txBody>
                    <a:bodyPr/>
                    <a:lstStyle/>
                    <a:p>
                      <a:pPr algn="r"/>
                      <a:r>
                        <a:rPr sz="1150" b="0">
                          <a:solidFill>
                            <a:srgbClr val="5D6D7E"/>
                          </a:solidFill>
                          <a:latin typeface="Arial"/>
                        </a:rPr>
                        <a:t>+23p</a:t>
                      </a:r>
                    </a:p>
                  </a:txBody>
                  <a:tcPr>
                    <a:solidFill>
                      <a:srgbClr val="FFFFFF"/>
                    </a:solidFill>
                  </a:tcPr>
                </a:tc>
                <a:tc>
                  <a:txBody>
                    <a:bodyPr/>
                    <a:lstStyle/>
                    <a:p>
                      <a:pPr algn="r"/>
                      <a:r>
                        <a:rPr sz="1150" b="0">
                          <a:solidFill>
                            <a:srgbClr val="5D6D7E"/>
                          </a:solidFill>
                          <a:latin typeface="Arial"/>
                        </a:rPr>
                        <a:t>48,8%</a:t>
                      </a:r>
                    </a:p>
                  </a:txBody>
                  <a:tcPr>
                    <a:solidFill>
                      <a:srgbClr val="FFFFFF"/>
                    </a:solidFill>
                  </a:tcPr>
                </a:tc>
                <a:tc>
                  <a:txBody>
                    <a:bodyPr/>
                    <a:lstStyle/>
                    <a:p>
                      <a:pPr algn="r"/>
                      <a:r>
                        <a:rPr sz="1150" b="0">
                          <a:solidFill>
                            <a:srgbClr val="5D6D7E"/>
                          </a:solidFill>
                          <a:latin typeface="Arial"/>
                        </a:rPr>
                        <a:t>27,5%</a:t>
                      </a:r>
                    </a:p>
                  </a:txBody>
                  <a:tcPr>
                    <a:solidFill>
                      <a:srgbClr val="FFFFFF"/>
                    </a:solidFill>
                  </a:tcPr>
                </a:tc>
              </a:tr>
              <a:tr h="237744">
                <a:tc>
                  <a:txBody>
                    <a:bodyPr/>
                    <a:lstStyle/>
                    <a:p>
                      <a:pPr algn="l"/>
                      <a:r>
                        <a:rPr sz="1150" b="0">
                          <a:solidFill>
                            <a:srgbClr val="5D6D7E"/>
                          </a:solidFill>
                          <a:latin typeface="Arial"/>
                        </a:rPr>
                        <a:t>3.5% · único</a:t>
                      </a:r>
                    </a:p>
                  </a:txBody>
                  <a:tcPr>
                    <a:solidFill>
                      <a:srgbClr val="FFFFFF"/>
                    </a:solidFill>
                  </a:tcPr>
                </a:tc>
                <a:tc>
                  <a:txBody>
                    <a:bodyPr/>
                    <a:lstStyle/>
                    <a:p>
                      <a:pPr algn="r"/>
                      <a:r>
                        <a:rPr sz="1150" b="0">
                          <a:solidFill>
                            <a:srgbClr val="5D6D7E"/>
                          </a:solidFill>
                          <a:latin typeface="Arial"/>
                        </a:rPr>
                        <a:t>&gt; 38</a:t>
                      </a:r>
                    </a:p>
                  </a:txBody>
                  <a:tcPr>
                    <a:solidFill>
                      <a:srgbClr val="FFFFFF"/>
                    </a:solidFill>
                  </a:tcPr>
                </a:tc>
                <a:tc>
                  <a:txBody>
                    <a:bodyPr/>
                    <a:lstStyle/>
                    <a:p>
                      <a:pPr algn="r"/>
                      <a:r>
                        <a:rPr sz="1150" b="0">
                          <a:solidFill>
                            <a:srgbClr val="5D6D7E"/>
                          </a:solidFill>
                          <a:latin typeface="Arial"/>
                        </a:rPr>
                        <a:t>55,2%</a:t>
                      </a:r>
                    </a:p>
                  </a:txBody>
                  <a:tcPr>
                    <a:solidFill>
                      <a:srgbClr val="FFFFFF"/>
                    </a:solidFill>
                  </a:tcPr>
                </a:tc>
                <a:tc>
                  <a:txBody>
                    <a:bodyPr/>
                    <a:lstStyle/>
                    <a:p>
                      <a:pPr algn="r"/>
                      <a:r>
                        <a:rPr sz="1150" b="0">
                          <a:solidFill>
                            <a:srgbClr val="5D6D7E"/>
                          </a:solidFill>
                          <a:latin typeface="Arial"/>
                        </a:rPr>
                        <a:t>30,8%</a:t>
                      </a:r>
                    </a:p>
                  </a:txBody>
                  <a:tcPr>
                    <a:solidFill>
                      <a:srgbClr val="FFFFFF"/>
                    </a:solidFill>
                  </a:tcPr>
                </a:tc>
              </a:tr>
              <a:tr h="237744">
                <a:tc>
                  <a:txBody>
                    <a:bodyPr/>
                    <a:lstStyle/>
                    <a:p>
                      <a:pPr algn="l"/>
                      <a:r>
                        <a:rPr sz="1150" b="0">
                          <a:solidFill>
                            <a:srgbClr val="5D6D7E"/>
                          </a:solidFill>
                          <a:latin typeface="Arial"/>
                        </a:rPr>
                        <a:t>3.5% · parrilla</a:t>
                      </a:r>
                    </a:p>
                  </a:txBody>
                  <a:tcPr>
                    <a:solidFill>
                      <a:srgbClr val="FFFFFF"/>
                    </a:solidFill>
                  </a:tcPr>
                </a:tc>
                <a:tc>
                  <a:txBody>
                    <a:bodyPr/>
                    <a:lstStyle/>
                    <a:p>
                      <a:pPr algn="r"/>
                      <a:r>
                        <a:rPr sz="1150" b="0">
                          <a:solidFill>
                            <a:srgbClr val="5D6D7E"/>
                          </a:solidFill>
                          <a:latin typeface="Arial"/>
                        </a:rPr>
                        <a:t>+10p</a:t>
                      </a:r>
                    </a:p>
                  </a:txBody>
                  <a:tcPr>
                    <a:solidFill>
                      <a:srgbClr val="FFFFFF"/>
                    </a:solidFill>
                  </a:tcPr>
                </a:tc>
                <a:tc>
                  <a:txBody>
                    <a:bodyPr/>
                    <a:lstStyle/>
                    <a:p>
                      <a:pPr algn="r"/>
                      <a:r>
                        <a:rPr sz="1150" b="0">
                          <a:solidFill>
                            <a:srgbClr val="5D6D7E"/>
                          </a:solidFill>
                          <a:latin typeface="Arial"/>
                        </a:rPr>
                        <a:t>56,0%</a:t>
                      </a:r>
                    </a:p>
                  </a:txBody>
                  <a:tcPr>
                    <a:solidFill>
                      <a:srgbClr val="FFFFFF"/>
                    </a:solidFill>
                  </a:tcPr>
                </a:tc>
                <a:tc>
                  <a:txBody>
                    <a:bodyPr/>
                    <a:lstStyle/>
                    <a:p>
                      <a:pPr algn="r"/>
                      <a:r>
                        <a:rPr sz="1150" b="0">
                          <a:solidFill>
                            <a:srgbClr val="5D6D7E"/>
                          </a:solidFill>
                          <a:latin typeface="Arial"/>
                        </a:rPr>
                        <a:t>31,2%</a:t>
                      </a:r>
                    </a:p>
                  </a:txBody>
                  <a:tcPr>
                    <a:solidFill>
                      <a:srgbClr val="FFFFFF"/>
                    </a:solidFill>
                  </a:tcPr>
                </a:tc>
              </a:tr>
              <a:tr h="237744">
                <a:tc>
                  <a:txBody>
                    <a:bodyPr/>
                    <a:lstStyle/>
                    <a:p>
                      <a:pPr algn="l"/>
                      <a:r>
                        <a:rPr sz="1150" b="0">
                          <a:solidFill>
                            <a:srgbClr val="5D6D7E"/>
                          </a:solidFill>
                          <a:latin typeface="Arial"/>
                        </a:rPr>
                        <a:t>4% · único</a:t>
                      </a:r>
                    </a:p>
                  </a:txBody>
                  <a:tcPr>
                    <a:solidFill>
                      <a:srgbClr val="FFFFFF"/>
                    </a:solidFill>
                  </a:tcPr>
                </a:tc>
                <a:tc>
                  <a:txBody>
                    <a:bodyPr/>
                    <a:lstStyle/>
                    <a:p>
                      <a:pPr algn="r"/>
                      <a:r>
                        <a:rPr sz="1150" b="0">
                          <a:solidFill>
                            <a:srgbClr val="5D6D7E"/>
                          </a:solidFill>
                          <a:latin typeface="Arial"/>
                        </a:rPr>
                        <a:t>&gt; 27</a:t>
                      </a:r>
                    </a:p>
                  </a:txBody>
                  <a:tcPr>
                    <a:solidFill>
                      <a:srgbClr val="FFFFFF"/>
                    </a:solidFill>
                  </a:tcPr>
                </a:tc>
                <a:tc>
                  <a:txBody>
                    <a:bodyPr/>
                    <a:lstStyle/>
                    <a:p>
                      <a:pPr algn="r"/>
                      <a:r>
                        <a:rPr sz="1150" b="0">
                          <a:solidFill>
                            <a:srgbClr val="5D6D7E"/>
                          </a:solidFill>
                          <a:latin typeface="Arial"/>
                        </a:rPr>
                        <a:t>58,6%</a:t>
                      </a:r>
                    </a:p>
                  </a:txBody>
                  <a:tcPr>
                    <a:solidFill>
                      <a:srgbClr val="FFFFFF"/>
                    </a:solidFill>
                  </a:tcPr>
                </a:tc>
                <a:tc>
                  <a:txBody>
                    <a:bodyPr/>
                    <a:lstStyle/>
                    <a:p>
                      <a:pPr algn="r"/>
                      <a:r>
                        <a:rPr sz="1150" b="0">
                          <a:solidFill>
                            <a:srgbClr val="5D6D7E"/>
                          </a:solidFill>
                          <a:latin typeface="Arial"/>
                        </a:rPr>
                        <a:t>32,5%</a:t>
                      </a:r>
                    </a:p>
                  </a:txBody>
                  <a:tcPr>
                    <a:solidFill>
                      <a:srgbClr val="FFFFFF"/>
                    </a:solidFill>
                  </a:tcPr>
                </a:tc>
              </a:tr>
              <a:tr h="237744">
                <a:tc>
                  <a:txBody>
                    <a:bodyPr/>
                    <a:lstStyle/>
                    <a:p>
                      <a:pPr algn="l"/>
                      <a:r>
                        <a:rPr sz="1150" b="0">
                          <a:solidFill>
                            <a:srgbClr val="5D6D7E"/>
                          </a:solidFill>
                          <a:latin typeface="Arial"/>
                        </a:rPr>
                        <a:t>4% · parrilla</a:t>
                      </a:r>
                    </a:p>
                  </a:txBody>
                  <a:tcPr>
                    <a:solidFill>
                      <a:srgbClr val="FFFFFF"/>
                    </a:solidFill>
                  </a:tcPr>
                </a:tc>
                <a:tc>
                  <a:txBody>
                    <a:bodyPr/>
                    <a:lstStyle/>
                    <a:p>
                      <a:pPr algn="r"/>
                      <a:r>
                        <a:rPr sz="1150" b="0">
                          <a:solidFill>
                            <a:srgbClr val="5D6D7E"/>
                          </a:solidFill>
                          <a:latin typeface="Arial"/>
                        </a:rPr>
                        <a:t>+0p</a:t>
                      </a:r>
                    </a:p>
                  </a:txBody>
                  <a:tcPr>
                    <a:solidFill>
                      <a:srgbClr val="FFFFFF"/>
                    </a:solidFill>
                  </a:tcPr>
                </a:tc>
                <a:tc>
                  <a:txBody>
                    <a:bodyPr/>
                    <a:lstStyle/>
                    <a:p>
                      <a:pPr algn="r"/>
                      <a:r>
                        <a:rPr sz="1150" b="0">
                          <a:solidFill>
                            <a:srgbClr val="5D6D7E"/>
                          </a:solidFill>
                          <a:latin typeface="Arial"/>
                        </a:rPr>
                        <a:t>58,9%</a:t>
                      </a:r>
                    </a:p>
                  </a:txBody>
                  <a:tcPr>
                    <a:solidFill>
                      <a:srgbClr val="FFFFFF"/>
                    </a:solidFill>
                  </a:tcPr>
                </a:tc>
                <a:tc>
                  <a:txBody>
                    <a:bodyPr/>
                    <a:lstStyle/>
                    <a:p>
                      <a:pPr algn="r"/>
                      <a:r>
                        <a:rPr sz="1150" b="0">
                          <a:solidFill>
                            <a:srgbClr val="5D6D7E"/>
                          </a:solidFill>
                          <a:latin typeface="Arial"/>
                        </a:rPr>
                        <a:t>32,7%</a:t>
                      </a:r>
                    </a:p>
                  </a:txBody>
                  <a:tcPr>
                    <a:solidFill>
                      <a:srgbClr val="FFFFFF"/>
                    </a:solidFill>
                  </a:tcPr>
                </a:tc>
              </a:tr>
            </a:tbl>
          </a:graphicData>
        </a:graphic>
      </p:graphicFrame>
      <p:sp>
        <p:nvSpPr>
          <p:cNvPr id="8" name="TextBox 7"/>
          <p:cNvSpPr txBox="1"/>
          <p:nvPr/>
        </p:nvSpPr>
        <p:spPr>
          <a:xfrm>
            <a:off x="566928" y="5232894"/>
            <a:ext cx="6720840" cy="292608"/>
          </a:xfrm>
          <a:prstGeom prst="rect">
            <a:avLst/>
          </a:prstGeom>
          <a:noFill/>
        </p:spPr>
        <p:txBody>
          <a:bodyPr wrap="square">
            <a:spAutoFit/>
          </a:bodyPr>
          <a:lstStyle/>
          <a:p>
            <a:pPr algn="l">
              <a:lnSpc>
                <a:spcPct val="100000"/>
              </a:lnSpc>
            </a:pPr>
            <a:r>
              <a:rPr sz="1250" b="1">
                <a:solidFill>
                  <a:srgbClr val="E74C3C"/>
                </a:solidFill>
                <a:latin typeface="Arial"/>
              </a:rPr>
              <a:t>Por qué el modelo produce más que lo medido</a:t>
            </a:r>
          </a:p>
        </p:txBody>
      </p:sp>
      <p:sp>
        <p:nvSpPr>
          <p:cNvPr id="9" name="TextBox 8"/>
          <p:cNvSpPr txBox="1"/>
          <p:nvPr/>
        </p:nvSpPr>
        <p:spPr>
          <a:xfrm>
            <a:off x="566928" y="5543790"/>
            <a:ext cx="6720840" cy="1280160"/>
          </a:xfrm>
          <a:prstGeom prst="rect">
            <a:avLst/>
          </a:prstGeom>
          <a:noFill/>
        </p:spPr>
        <p:txBody>
          <a:bodyPr wrap="square">
            <a:spAutoFit/>
          </a:bodyPr>
          <a:lstStyle/>
          <a:p>
            <a:pPr algn="l">
              <a:lnSpc>
                <a:spcPct val="120000"/>
              </a:lnSpc>
            </a:pPr>
            <a:r>
              <a:rPr sz="1100" b="0">
                <a:solidFill>
                  <a:srgbClr val="5D6D7E"/>
                </a:solidFill>
                <a:latin typeface="Arial"/>
              </a:rPr>
              <a:t>La parrilla vigente calca las decisiones reales de Online (acepta el 51,8% de la demanda; el motor aprobó el 51,9%: swap-in 0,6%, swap-out 0,6%) y cada solicitud aceptada convierte a la tasa de su decisión real. Online modelado y medido coinciden: la diferencia entre 18,5 y 15,3 M€/mes es tienda. Esa diferencia tiene dos partes: la parrilla (+2,3 M€/mes sobre la misma base, 16,2 → 18,5) y el volumen (+0,9 M€: la demanda de tienda en ago-2026 a sep-2026 va un 40% por encima de la media de la ventana de 'hoy').</a:t>
            </a:r>
          </a:p>
        </p:txBody>
      </p:sp>
      <p:sp>
        <p:nvSpPr>
          <p:cNvPr id="10" name="TextBox 9"/>
          <p:cNvSpPr txBox="1"/>
          <p:nvPr/>
        </p:nvSpPr>
        <p:spPr>
          <a:xfrm>
            <a:off x="7543800" y="4672584"/>
            <a:ext cx="4343400" cy="2103120"/>
          </a:xfrm>
          <a:prstGeom prst="rect">
            <a:avLst/>
          </a:prstGeom>
          <a:noFill/>
        </p:spPr>
        <p:txBody>
          <a:bodyPr wrap="square">
            <a:spAutoFit/>
          </a:bodyPr>
          <a:lstStyle/>
          <a:p>
            <a:pPr algn="l">
              <a:lnSpc>
                <a:spcPct val="125000"/>
              </a:lnSpc>
            </a:pPr>
            <a:r>
              <a:rPr sz="1050" b="0">
                <a:solidFill>
                  <a:srgbClr val="5D6D7E"/>
                </a:solidFill>
                <a:latin typeface="Arial"/>
              </a:rPr>
              <a:t>TA score: demanda que supera el corte.</a:t>
            </a:r>
          </a:p>
          <a:p>
            <a:pPr algn="l">
              <a:lnSpc>
                <a:spcPct val="125000"/>
              </a:lnSpc>
            </a:pPr>
            <a:r>
              <a:rPr sz="1050" b="0">
                <a:solidFill>
                  <a:srgbClr val="5D6D7E"/>
                </a:solidFill>
                <a:latin typeface="Arial"/>
              </a:rPr>
              <a:t>TA efectiva: producción / demanda, la misma base que el punto 1. No son comparables entre sí.</a:t>
            </a:r>
          </a:p>
          <a:p>
            <a:pPr algn="l">
              <a:lnSpc>
                <a:spcPct val="125000"/>
              </a:lnSpc>
            </a:pPr>
            <a:r>
              <a:rPr sz="1050" b="0">
                <a:solidFill>
                  <a:srgbClr val="5D6D7E"/>
                </a:solidFill>
                <a:latin typeface="Arial"/>
              </a:rPr>
              <a:t/>
            </a:r>
          </a:p>
          <a:p>
            <a:pPr algn="l">
              <a:lnSpc>
                <a:spcPct val="125000"/>
              </a:lnSpc>
            </a:pPr>
            <a:r>
              <a:rPr sz="1050" b="0">
                <a:solidFill>
                  <a:srgbClr val="5D6D7E"/>
                </a:solidFill>
                <a:latin typeface="Arial"/>
              </a:rPr>
              <a:t>Desplazar la parrilla actual mantiene su forma —laxa donde el grupo es bueno— y da algo más de aceptación al mismo riesgo.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PUNTO 4 · PARRILLAS</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Política — sin periodo</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Qué parrilla implica cada escenario</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63624"/>
            <a:ext cx="11057839" cy="320040"/>
          </a:xfrm>
          <a:prstGeom prst="rect">
            <a:avLst/>
          </a:prstGeom>
          <a:noFill/>
        </p:spPr>
        <p:txBody>
          <a:bodyPr wrap="square">
            <a:spAutoFit/>
          </a:bodyPr>
          <a:lstStyle/>
          <a:p>
            <a:pPr algn="l">
              <a:lnSpc>
                <a:spcPct val="100000"/>
              </a:lnSpc>
            </a:pPr>
            <a:r>
              <a:rPr sz="1150" b="0">
                <a:solidFill>
                  <a:srgbClr val="5D6D7E"/>
                </a:solidFill>
                <a:latin typeface="Arial"/>
              </a:rPr>
              <a:t>Umbral de RECHAZO por grupo: se acepta por encima del valor.</a:t>
            </a:r>
          </a:p>
        </p:txBody>
      </p:sp>
      <p:sp>
        <p:nvSpPr>
          <p:cNvPr id="7" name="TextBox 6"/>
          <p:cNvSpPr txBox="1"/>
          <p:nvPr/>
        </p:nvSpPr>
        <p:spPr>
          <a:xfrm>
            <a:off x="566928" y="1975104"/>
            <a:ext cx="11057839" cy="292608"/>
          </a:xfrm>
          <a:prstGeom prst="rect">
            <a:avLst/>
          </a:prstGeom>
          <a:noFill/>
        </p:spPr>
        <p:txBody>
          <a:bodyPr wrap="square">
            <a:spAutoFit/>
          </a:bodyPr>
          <a:lstStyle/>
          <a:p>
            <a:pPr algn="l">
              <a:lnSpc>
                <a:spcPct val="100000"/>
              </a:lnSpc>
            </a:pPr>
            <a:r>
              <a:rPr sz="1400" b="1">
                <a:solidFill>
                  <a:srgbClr val="2C3E50"/>
                </a:solidFill>
                <a:latin typeface="Arial"/>
              </a:rPr>
              <a:t>Corte único para todo Apple</a:t>
            </a:r>
          </a:p>
        </p:txBody>
      </p:sp>
      <p:graphicFrame>
        <p:nvGraphicFramePr>
          <p:cNvPr id="8" name="Table 7"/>
          <p:cNvGraphicFramePr>
            <a:graphicFrameLocks noGrp="1"/>
          </p:cNvGraphicFramePr>
          <p:nvPr/>
        </p:nvGraphicFramePr>
        <p:xfrm>
          <a:off x="566928" y="2286000"/>
          <a:ext cx="10058397" cy="1481328"/>
        </p:xfrm>
        <a:graphic>
          <a:graphicData uri="http://schemas.openxmlformats.org/drawingml/2006/table">
            <a:tbl>
              <a:tblPr firstRow="1" bandRow="1">
                <a:tableStyleId>{5C22544A-7EE6-4342-B048-85BDC9FD1C3A}</a:tableStyleId>
              </a:tblPr>
              <a:tblGrid>
                <a:gridCol w="2075542"/>
                <a:gridCol w="1596571"/>
                <a:gridCol w="1596571"/>
                <a:gridCol w="1596571"/>
                <a:gridCol w="1596571"/>
                <a:gridCol w="1596571"/>
              </a:tblGrid>
              <a:tr h="246888">
                <a:tc>
                  <a:txBody>
                    <a:bodyPr/>
                    <a:lstStyle/>
                    <a:p>
                      <a:pPr algn="l"/>
                      <a:r>
                        <a:rPr sz="1150" b="1">
                          <a:solidFill>
                            <a:srgbClr val="2C3E50"/>
                          </a:solidFill>
                          <a:latin typeface="Arial"/>
                        </a:rPr>
                        <a:t>Grupo</a:t>
                      </a:r>
                    </a:p>
                  </a:txBody>
                  <a:tcPr>
                    <a:solidFill>
                      <a:srgbClr val="F6F7F9"/>
                    </a:solidFill>
                  </a:tcPr>
                </a:tc>
                <a:tc>
                  <a:txBody>
                    <a:bodyPr/>
                    <a:lstStyle/>
                    <a:p>
                      <a:pPr algn="r"/>
                      <a:r>
                        <a:rPr sz="1150" b="1">
                          <a:solidFill>
                            <a:srgbClr val="2C3E50"/>
                          </a:solidFill>
                          <a:latin typeface="Arial"/>
                        </a:rPr>
                        <a:t>Hoy</a:t>
                      </a:r>
                    </a:p>
                  </a:txBody>
                  <a:tcPr>
                    <a:solidFill>
                      <a:srgbClr val="F6F7F9"/>
                    </a:solidFill>
                  </a:tcPr>
                </a:tc>
                <a:tc>
                  <a:txBody>
                    <a:bodyPr/>
                    <a:lstStyle/>
                    <a:p>
                      <a:pPr algn="r"/>
                      <a:r>
                        <a:rPr sz="1150" b="1">
                          <a:solidFill>
                            <a:srgbClr val="2C3E50"/>
                          </a:solidFill>
                          <a:latin typeface="Arial"/>
                        </a:rPr>
                        <a:t>2.5%</a:t>
                      </a:r>
                    </a:p>
                  </a:txBody>
                  <a:tcPr>
                    <a:solidFill>
                      <a:srgbClr val="F6F7F9"/>
                    </a:solidFill>
                  </a:tcPr>
                </a:tc>
                <a:tc>
                  <a:txBody>
                    <a:bodyPr/>
                    <a:lstStyle/>
                    <a:p>
                      <a:pPr algn="r"/>
                      <a:r>
                        <a:rPr sz="1150" b="1">
                          <a:solidFill>
                            <a:srgbClr val="2C3E50"/>
                          </a:solidFill>
                          <a:latin typeface="Arial"/>
                        </a:rPr>
                        <a:t>3%</a:t>
                      </a:r>
                    </a:p>
                  </a:txBody>
                  <a:tcPr>
                    <a:solidFill>
                      <a:srgbClr val="F6F7F9"/>
                    </a:solidFill>
                  </a:tcPr>
                </a:tc>
                <a:tc>
                  <a:txBody>
                    <a:bodyPr/>
                    <a:lstStyle/>
                    <a:p>
                      <a:pPr algn="r"/>
                      <a:r>
                        <a:rPr sz="1150" b="1">
                          <a:solidFill>
                            <a:srgbClr val="2C3E50"/>
                          </a:solidFill>
                          <a:latin typeface="Arial"/>
                        </a:rPr>
                        <a:t>3.5%</a:t>
                      </a:r>
                    </a:p>
                  </a:txBody>
                  <a:tcPr>
                    <a:solidFill>
                      <a:srgbClr val="F6F7F9"/>
                    </a:solidFill>
                  </a:tcPr>
                </a:tc>
                <a:tc>
                  <a:txBody>
                    <a:bodyPr/>
                    <a:lstStyle/>
                    <a:p>
                      <a:pPr algn="r"/>
                      <a:r>
                        <a:rPr sz="1150" b="1">
                          <a:solidFill>
                            <a:srgbClr val="2C3E50"/>
                          </a:solidFill>
                          <a:latin typeface="Arial"/>
                        </a:rPr>
                        <a:t>4%</a:t>
                      </a:r>
                    </a:p>
                  </a:txBody>
                  <a:tcPr>
                    <a:solidFill>
                      <a:srgbClr val="F6F7F9"/>
                    </a:solidFill>
                  </a:tcPr>
                </a:tc>
              </a:tr>
              <a:tr h="246888">
                <a:tc>
                  <a:txBody>
                    <a:bodyPr/>
                    <a:lstStyle/>
                    <a:p>
                      <a:pPr algn="l"/>
                      <a:r>
                        <a:rPr sz="1150" b="0">
                          <a:solidFill>
                            <a:srgbClr val="5D6D7E"/>
                          </a:solidFill>
                          <a:latin typeface="Arial"/>
                        </a:rPr>
                        <a:t>New</a:t>
                      </a:r>
                    </a:p>
                  </a:txBody>
                  <a:tcPr>
                    <a:solidFill>
                      <a:srgbClr val="FFFFFF"/>
                    </a:solidFill>
                  </a:tcPr>
                </a:tc>
                <a:tc>
                  <a:txBody>
                    <a:bodyPr/>
                    <a:lstStyle/>
                    <a:p>
                      <a:pPr algn="r"/>
                      <a:r>
                        <a:rPr sz="1150" b="0">
                          <a:solidFill>
                            <a:srgbClr val="5D6D7E"/>
                          </a:solidFill>
                          <a:latin typeface="Arial"/>
                        </a:rPr>
                        <a:t>&gt; 27</a:t>
                      </a:r>
                    </a:p>
                  </a:txBody>
                  <a:tcPr>
                    <a:solidFill>
                      <a:srgbClr val="FFFFFF"/>
                    </a:solidFill>
                  </a:tcPr>
                </a:tc>
                <a:tc>
                  <a:txBody>
                    <a:bodyPr/>
                    <a:lstStyle/>
                    <a:p>
                      <a:pPr algn="r"/>
                      <a:r>
                        <a:rPr sz="1150" b="0">
                          <a:solidFill>
                            <a:srgbClr val="5D6D7E"/>
                          </a:solidFill>
                          <a:latin typeface="Arial"/>
                        </a:rPr>
                        <a:t>&gt; 62</a:t>
                      </a:r>
                    </a:p>
                  </a:txBody>
                  <a:tcPr>
                    <a:solidFill>
                      <a:srgbClr val="FFFFFF"/>
                    </a:solidFill>
                  </a:tcPr>
                </a:tc>
                <a:tc>
                  <a:txBody>
                    <a:bodyPr/>
                    <a:lstStyle/>
                    <a:p>
                      <a:pPr algn="r"/>
                      <a:r>
                        <a:rPr sz="1150" b="0">
                          <a:solidFill>
                            <a:srgbClr val="5D6D7E"/>
                          </a:solidFill>
                          <a:latin typeface="Arial"/>
                        </a:rPr>
                        <a:t>&gt; 51</a:t>
                      </a:r>
                    </a:p>
                  </a:txBody>
                  <a:tcPr>
                    <a:solidFill>
                      <a:srgbClr val="FFFFFF"/>
                    </a:solidFill>
                  </a:tcPr>
                </a:tc>
                <a:tc>
                  <a:txBody>
                    <a:bodyPr/>
                    <a:lstStyle/>
                    <a:p>
                      <a:pPr algn="r"/>
                      <a:r>
                        <a:rPr sz="1150" b="0">
                          <a:solidFill>
                            <a:srgbClr val="5D6D7E"/>
                          </a:solidFill>
                          <a:latin typeface="Arial"/>
                        </a:rPr>
                        <a:t>&gt; 38</a:t>
                      </a:r>
                    </a:p>
                  </a:txBody>
                  <a:tcPr>
                    <a:solidFill>
                      <a:srgbClr val="FFFFFF"/>
                    </a:solidFill>
                  </a:tcPr>
                </a:tc>
                <a:tc>
                  <a:txBody>
                    <a:bodyPr/>
                    <a:lstStyle/>
                    <a:p>
                      <a:pPr algn="r"/>
                      <a:r>
                        <a:rPr sz="1150" b="0">
                          <a:solidFill>
                            <a:srgbClr val="5D6D7E"/>
                          </a:solidFill>
                          <a:latin typeface="Arial"/>
                        </a:rPr>
                        <a:t>&gt; 27</a:t>
                      </a:r>
                    </a:p>
                  </a:txBody>
                  <a:tcPr>
                    <a:solidFill>
                      <a:srgbClr val="FFFFFF"/>
                    </a:solidFill>
                  </a:tcPr>
                </a:tc>
              </a:tr>
              <a:tr h="246888">
                <a:tc>
                  <a:txBody>
                    <a:bodyPr/>
                    <a:lstStyle/>
                    <a:p>
                      <a:pPr algn="l"/>
                      <a:r>
                        <a:rPr sz="1150" b="0">
                          <a:solidFill>
                            <a:srgbClr val="5D6D7E"/>
                          </a:solidFill>
                          <a:latin typeface="Arial"/>
                        </a:rPr>
                        <a:t>Inactive</a:t>
                      </a:r>
                    </a:p>
                  </a:txBody>
                  <a:tcPr>
                    <a:solidFill>
                      <a:srgbClr val="FFFFFF"/>
                    </a:solidFill>
                  </a:tcPr>
                </a:tc>
                <a:tc>
                  <a:txBody>
                    <a:bodyPr/>
                    <a:lstStyle/>
                    <a:p>
                      <a:pPr algn="r"/>
                      <a:r>
                        <a:rPr sz="1150" b="0">
                          <a:solidFill>
                            <a:srgbClr val="5D6D7E"/>
                          </a:solidFill>
                          <a:latin typeface="Arial"/>
                        </a:rPr>
                        <a:t>&gt; 22</a:t>
                      </a:r>
                    </a:p>
                  </a:txBody>
                  <a:tcPr>
                    <a:solidFill>
                      <a:srgbClr val="FFFFFF"/>
                    </a:solidFill>
                  </a:tcPr>
                </a:tc>
                <a:tc>
                  <a:txBody>
                    <a:bodyPr/>
                    <a:lstStyle/>
                    <a:p>
                      <a:pPr algn="r"/>
                      <a:r>
                        <a:rPr sz="1150" b="0">
                          <a:solidFill>
                            <a:srgbClr val="5D6D7E"/>
                          </a:solidFill>
                          <a:latin typeface="Arial"/>
                        </a:rPr>
                        <a:t>&gt; 62</a:t>
                      </a:r>
                    </a:p>
                  </a:txBody>
                  <a:tcPr>
                    <a:solidFill>
                      <a:srgbClr val="FFFFFF"/>
                    </a:solidFill>
                  </a:tcPr>
                </a:tc>
                <a:tc>
                  <a:txBody>
                    <a:bodyPr/>
                    <a:lstStyle/>
                    <a:p>
                      <a:pPr algn="r"/>
                      <a:r>
                        <a:rPr sz="1150" b="0">
                          <a:solidFill>
                            <a:srgbClr val="5D6D7E"/>
                          </a:solidFill>
                          <a:latin typeface="Arial"/>
                        </a:rPr>
                        <a:t>&gt; 51</a:t>
                      </a:r>
                    </a:p>
                  </a:txBody>
                  <a:tcPr>
                    <a:solidFill>
                      <a:srgbClr val="FFFFFF"/>
                    </a:solidFill>
                  </a:tcPr>
                </a:tc>
                <a:tc>
                  <a:txBody>
                    <a:bodyPr/>
                    <a:lstStyle/>
                    <a:p>
                      <a:pPr algn="r"/>
                      <a:r>
                        <a:rPr sz="1150" b="0">
                          <a:solidFill>
                            <a:srgbClr val="5D6D7E"/>
                          </a:solidFill>
                          <a:latin typeface="Arial"/>
                        </a:rPr>
                        <a:t>&gt; 38</a:t>
                      </a:r>
                    </a:p>
                  </a:txBody>
                  <a:tcPr>
                    <a:solidFill>
                      <a:srgbClr val="FFFFFF"/>
                    </a:solidFill>
                  </a:tcPr>
                </a:tc>
                <a:tc>
                  <a:txBody>
                    <a:bodyPr/>
                    <a:lstStyle/>
                    <a:p>
                      <a:pPr algn="r"/>
                      <a:r>
                        <a:rPr sz="1150" b="0">
                          <a:solidFill>
                            <a:srgbClr val="5D6D7E"/>
                          </a:solidFill>
                          <a:latin typeface="Arial"/>
                        </a:rPr>
                        <a:t>&gt; 27</a:t>
                      </a:r>
                    </a:p>
                  </a:txBody>
                  <a:tcPr>
                    <a:solidFill>
                      <a:srgbClr val="FFFFFF"/>
                    </a:solidFill>
                  </a:tcPr>
                </a:tc>
              </a:tr>
              <a:tr h="246888">
                <a:tc>
                  <a:txBody>
                    <a:bodyPr/>
                    <a:lstStyle/>
                    <a:p>
                      <a:pPr algn="l"/>
                      <a:r>
                        <a:rPr sz="1150" b="0">
                          <a:solidFill>
                            <a:srgbClr val="5D6D7E"/>
                          </a:solidFill>
                          <a:latin typeface="Arial"/>
                        </a:rPr>
                        <a:t>A-C</a:t>
                      </a:r>
                    </a:p>
                  </a:txBody>
                  <a:tcPr>
                    <a:solidFill>
                      <a:srgbClr val="FFFFFF"/>
                    </a:solidFill>
                  </a:tcPr>
                </a:tc>
                <a:tc>
                  <a:txBody>
                    <a:bodyPr/>
                    <a:lstStyle/>
                    <a:p>
                      <a:pPr algn="r"/>
                      <a:r>
                        <a:rPr sz="1150" b="0">
                          <a:solidFill>
                            <a:srgbClr val="5D6D7E"/>
                          </a:solidFill>
                          <a:latin typeface="Arial"/>
                        </a:rPr>
                        <a:t>&gt; 16</a:t>
                      </a:r>
                    </a:p>
                  </a:txBody>
                  <a:tcPr>
                    <a:solidFill>
                      <a:srgbClr val="FFFFFF"/>
                    </a:solidFill>
                  </a:tcPr>
                </a:tc>
                <a:tc>
                  <a:txBody>
                    <a:bodyPr/>
                    <a:lstStyle/>
                    <a:p>
                      <a:pPr algn="r"/>
                      <a:r>
                        <a:rPr sz="1150" b="0">
                          <a:solidFill>
                            <a:srgbClr val="5D6D7E"/>
                          </a:solidFill>
                          <a:latin typeface="Arial"/>
                        </a:rPr>
                        <a:t>&gt; 62</a:t>
                      </a:r>
                    </a:p>
                  </a:txBody>
                  <a:tcPr>
                    <a:solidFill>
                      <a:srgbClr val="FFFFFF"/>
                    </a:solidFill>
                  </a:tcPr>
                </a:tc>
                <a:tc>
                  <a:txBody>
                    <a:bodyPr/>
                    <a:lstStyle/>
                    <a:p>
                      <a:pPr algn="r"/>
                      <a:r>
                        <a:rPr sz="1150" b="0">
                          <a:solidFill>
                            <a:srgbClr val="5D6D7E"/>
                          </a:solidFill>
                          <a:latin typeface="Arial"/>
                        </a:rPr>
                        <a:t>&gt; 51</a:t>
                      </a:r>
                    </a:p>
                  </a:txBody>
                  <a:tcPr>
                    <a:solidFill>
                      <a:srgbClr val="FFFFFF"/>
                    </a:solidFill>
                  </a:tcPr>
                </a:tc>
                <a:tc>
                  <a:txBody>
                    <a:bodyPr/>
                    <a:lstStyle/>
                    <a:p>
                      <a:pPr algn="r"/>
                      <a:r>
                        <a:rPr sz="1150" b="0">
                          <a:solidFill>
                            <a:srgbClr val="5D6D7E"/>
                          </a:solidFill>
                          <a:latin typeface="Arial"/>
                        </a:rPr>
                        <a:t>&gt; 38</a:t>
                      </a:r>
                    </a:p>
                  </a:txBody>
                  <a:tcPr>
                    <a:solidFill>
                      <a:srgbClr val="FFFFFF"/>
                    </a:solidFill>
                  </a:tcPr>
                </a:tc>
                <a:tc>
                  <a:txBody>
                    <a:bodyPr/>
                    <a:lstStyle/>
                    <a:p>
                      <a:pPr algn="r"/>
                      <a:r>
                        <a:rPr sz="1150" b="0">
                          <a:solidFill>
                            <a:srgbClr val="5D6D7E"/>
                          </a:solidFill>
                          <a:latin typeface="Arial"/>
                        </a:rPr>
                        <a:t>&gt; 27</a:t>
                      </a:r>
                    </a:p>
                  </a:txBody>
                  <a:tcPr>
                    <a:solidFill>
                      <a:srgbClr val="FFFFFF"/>
                    </a:solidFill>
                  </a:tcPr>
                </a:tc>
              </a:tr>
              <a:tr h="246888">
                <a:tc>
                  <a:txBody>
                    <a:bodyPr/>
                    <a:lstStyle/>
                    <a:p>
                      <a:pPr algn="l"/>
                      <a:r>
                        <a:rPr sz="1150" b="0">
                          <a:solidFill>
                            <a:srgbClr val="5D6D7E"/>
                          </a:solidFill>
                          <a:latin typeface="Arial"/>
                        </a:rPr>
                        <a:t>D-F</a:t>
                      </a:r>
                    </a:p>
                  </a:txBody>
                  <a:tcPr>
                    <a:solidFill>
                      <a:srgbClr val="FFFFFF"/>
                    </a:solidFill>
                  </a:tcPr>
                </a:tc>
                <a:tc>
                  <a:txBody>
                    <a:bodyPr/>
                    <a:lstStyle/>
                    <a:p>
                      <a:pPr algn="r"/>
                      <a:r>
                        <a:rPr sz="1150" b="0">
                          <a:solidFill>
                            <a:srgbClr val="5D6D7E"/>
                          </a:solidFill>
                          <a:latin typeface="Arial"/>
                        </a:rPr>
                        <a:t>&gt; 22</a:t>
                      </a:r>
                    </a:p>
                  </a:txBody>
                  <a:tcPr>
                    <a:solidFill>
                      <a:srgbClr val="FFFFFF"/>
                    </a:solidFill>
                  </a:tcPr>
                </a:tc>
                <a:tc>
                  <a:txBody>
                    <a:bodyPr/>
                    <a:lstStyle/>
                    <a:p>
                      <a:pPr algn="r"/>
                      <a:r>
                        <a:rPr sz="1150" b="0">
                          <a:solidFill>
                            <a:srgbClr val="5D6D7E"/>
                          </a:solidFill>
                          <a:latin typeface="Arial"/>
                        </a:rPr>
                        <a:t>&gt; 62</a:t>
                      </a:r>
                    </a:p>
                  </a:txBody>
                  <a:tcPr>
                    <a:solidFill>
                      <a:srgbClr val="FFFFFF"/>
                    </a:solidFill>
                  </a:tcPr>
                </a:tc>
                <a:tc>
                  <a:txBody>
                    <a:bodyPr/>
                    <a:lstStyle/>
                    <a:p>
                      <a:pPr algn="r"/>
                      <a:r>
                        <a:rPr sz="1150" b="0">
                          <a:solidFill>
                            <a:srgbClr val="5D6D7E"/>
                          </a:solidFill>
                          <a:latin typeface="Arial"/>
                        </a:rPr>
                        <a:t>&gt; 51</a:t>
                      </a:r>
                    </a:p>
                  </a:txBody>
                  <a:tcPr>
                    <a:solidFill>
                      <a:srgbClr val="FFFFFF"/>
                    </a:solidFill>
                  </a:tcPr>
                </a:tc>
                <a:tc>
                  <a:txBody>
                    <a:bodyPr/>
                    <a:lstStyle/>
                    <a:p>
                      <a:pPr algn="r"/>
                      <a:r>
                        <a:rPr sz="1150" b="0">
                          <a:solidFill>
                            <a:srgbClr val="5D6D7E"/>
                          </a:solidFill>
                          <a:latin typeface="Arial"/>
                        </a:rPr>
                        <a:t>&gt; 38</a:t>
                      </a:r>
                    </a:p>
                  </a:txBody>
                  <a:tcPr>
                    <a:solidFill>
                      <a:srgbClr val="FFFFFF"/>
                    </a:solidFill>
                  </a:tcPr>
                </a:tc>
                <a:tc>
                  <a:txBody>
                    <a:bodyPr/>
                    <a:lstStyle/>
                    <a:p>
                      <a:pPr algn="r"/>
                      <a:r>
                        <a:rPr sz="1150" b="0">
                          <a:solidFill>
                            <a:srgbClr val="5D6D7E"/>
                          </a:solidFill>
                          <a:latin typeface="Arial"/>
                        </a:rPr>
                        <a:t>&gt; 27</a:t>
                      </a:r>
                    </a:p>
                  </a:txBody>
                  <a:tcPr>
                    <a:solidFill>
                      <a:srgbClr val="FFFFFF"/>
                    </a:solidFill>
                  </a:tcPr>
                </a:tc>
              </a:tr>
              <a:tr h="246888">
                <a:tc>
                  <a:txBody>
                    <a:bodyPr/>
                    <a:lstStyle/>
                    <a:p>
                      <a:pPr algn="l"/>
                      <a:r>
                        <a:rPr sz="1150" b="0">
                          <a:solidFill>
                            <a:srgbClr val="5D6D7E"/>
                          </a:solidFill>
                          <a:latin typeface="Arial"/>
                        </a:rPr>
                        <a:t>&gt;=G</a:t>
                      </a:r>
                    </a:p>
                  </a:txBody>
                  <a:tcPr>
                    <a:solidFill>
                      <a:srgbClr val="FFFFFF"/>
                    </a:solidFill>
                  </a:tcPr>
                </a:tc>
                <a:tc>
                  <a:txBody>
                    <a:bodyPr/>
                    <a:lstStyle/>
                    <a:p>
                      <a:pPr algn="r"/>
                      <a:r>
                        <a:rPr sz="1150" b="0">
                          <a:solidFill>
                            <a:srgbClr val="5D6D7E"/>
                          </a:solidFill>
                          <a:latin typeface="Arial"/>
                        </a:rPr>
                        <a:t>rechazo</a:t>
                      </a:r>
                    </a:p>
                  </a:txBody>
                  <a:tcPr>
                    <a:solidFill>
                      <a:srgbClr val="FFFFFF"/>
                    </a:solidFill>
                  </a:tcPr>
                </a:tc>
                <a:tc>
                  <a:txBody>
                    <a:bodyPr/>
                    <a:lstStyle/>
                    <a:p>
                      <a:pPr algn="r"/>
                      <a:r>
                        <a:rPr sz="1150" b="0">
                          <a:solidFill>
                            <a:srgbClr val="5D6D7E"/>
                          </a:solidFill>
                          <a:latin typeface="Arial"/>
                        </a:rPr>
                        <a:t>rechazo</a:t>
                      </a:r>
                    </a:p>
                  </a:txBody>
                  <a:tcPr>
                    <a:solidFill>
                      <a:srgbClr val="FFFFFF"/>
                    </a:solidFill>
                  </a:tcPr>
                </a:tc>
                <a:tc>
                  <a:txBody>
                    <a:bodyPr/>
                    <a:lstStyle/>
                    <a:p>
                      <a:pPr algn="r"/>
                      <a:r>
                        <a:rPr sz="1150" b="0">
                          <a:solidFill>
                            <a:srgbClr val="5D6D7E"/>
                          </a:solidFill>
                          <a:latin typeface="Arial"/>
                        </a:rPr>
                        <a:t>rechazo</a:t>
                      </a:r>
                    </a:p>
                  </a:txBody>
                  <a:tcPr>
                    <a:solidFill>
                      <a:srgbClr val="FFFFFF"/>
                    </a:solidFill>
                  </a:tcPr>
                </a:tc>
                <a:tc>
                  <a:txBody>
                    <a:bodyPr/>
                    <a:lstStyle/>
                    <a:p>
                      <a:pPr algn="r"/>
                      <a:r>
                        <a:rPr sz="1150" b="0">
                          <a:solidFill>
                            <a:srgbClr val="5D6D7E"/>
                          </a:solidFill>
                          <a:latin typeface="Arial"/>
                        </a:rPr>
                        <a:t>rechazo</a:t>
                      </a:r>
                    </a:p>
                  </a:txBody>
                  <a:tcPr>
                    <a:solidFill>
                      <a:srgbClr val="FFFFFF"/>
                    </a:solidFill>
                  </a:tcPr>
                </a:tc>
                <a:tc>
                  <a:txBody>
                    <a:bodyPr/>
                    <a:lstStyle/>
                    <a:p>
                      <a:pPr algn="r"/>
                      <a:r>
                        <a:rPr sz="1150" b="0">
                          <a:solidFill>
                            <a:srgbClr val="5D6D7E"/>
                          </a:solidFill>
                          <a:latin typeface="Arial"/>
                        </a:rPr>
                        <a:t>rechazo</a:t>
                      </a:r>
                    </a:p>
                  </a:txBody>
                  <a:tcPr>
                    <a:solidFill>
                      <a:srgbClr val="FFFFFF"/>
                    </a:solidFill>
                  </a:tcPr>
                </a:tc>
              </a:tr>
            </a:tbl>
          </a:graphicData>
        </a:graphic>
      </p:graphicFrame>
      <p:sp>
        <p:nvSpPr>
          <p:cNvPr id="9" name="TextBox 8"/>
          <p:cNvSpPr txBox="1"/>
          <p:nvPr/>
        </p:nvSpPr>
        <p:spPr>
          <a:xfrm>
            <a:off x="566928" y="4059936"/>
            <a:ext cx="11057839" cy="292608"/>
          </a:xfrm>
          <a:prstGeom prst="rect">
            <a:avLst/>
          </a:prstGeom>
          <a:noFill/>
        </p:spPr>
        <p:txBody>
          <a:bodyPr wrap="square">
            <a:spAutoFit/>
          </a:bodyPr>
          <a:lstStyle/>
          <a:p>
            <a:pPr algn="l">
              <a:lnSpc>
                <a:spcPct val="100000"/>
              </a:lnSpc>
            </a:pPr>
            <a:r>
              <a:rPr sz="1400" b="1">
                <a:solidFill>
                  <a:srgbClr val="2C3E50"/>
                </a:solidFill>
                <a:latin typeface="Arial"/>
              </a:rPr>
              <a:t>Parrilla actual desplazada</a:t>
            </a:r>
          </a:p>
        </p:txBody>
      </p:sp>
      <p:graphicFrame>
        <p:nvGraphicFramePr>
          <p:cNvPr id="10" name="Table 9"/>
          <p:cNvGraphicFramePr>
            <a:graphicFrameLocks noGrp="1"/>
          </p:cNvGraphicFramePr>
          <p:nvPr/>
        </p:nvGraphicFramePr>
        <p:xfrm>
          <a:off x="566928" y="4370832"/>
          <a:ext cx="10058397" cy="1481328"/>
        </p:xfrm>
        <a:graphic>
          <a:graphicData uri="http://schemas.openxmlformats.org/drawingml/2006/table">
            <a:tbl>
              <a:tblPr firstRow="1" bandRow="1">
                <a:tableStyleId>{5C22544A-7EE6-4342-B048-85BDC9FD1C3A}</a:tableStyleId>
              </a:tblPr>
              <a:tblGrid>
                <a:gridCol w="2075542"/>
                <a:gridCol w="1596571"/>
                <a:gridCol w="1596571"/>
                <a:gridCol w="1596571"/>
                <a:gridCol w="1596571"/>
                <a:gridCol w="1596571"/>
              </a:tblGrid>
              <a:tr h="246888">
                <a:tc>
                  <a:txBody>
                    <a:bodyPr/>
                    <a:lstStyle/>
                    <a:p>
                      <a:pPr algn="l"/>
                      <a:r>
                        <a:rPr sz="1150" b="1">
                          <a:solidFill>
                            <a:srgbClr val="2C3E50"/>
                          </a:solidFill>
                          <a:latin typeface="Arial"/>
                        </a:rPr>
                        <a:t>Grupo</a:t>
                      </a:r>
                    </a:p>
                  </a:txBody>
                  <a:tcPr>
                    <a:solidFill>
                      <a:srgbClr val="F6F7F9"/>
                    </a:solidFill>
                  </a:tcPr>
                </a:tc>
                <a:tc>
                  <a:txBody>
                    <a:bodyPr/>
                    <a:lstStyle/>
                    <a:p>
                      <a:pPr algn="r"/>
                      <a:r>
                        <a:rPr sz="1150" b="1">
                          <a:solidFill>
                            <a:srgbClr val="2C3E50"/>
                          </a:solidFill>
                          <a:latin typeface="Arial"/>
                        </a:rPr>
                        <a:t>Hoy</a:t>
                      </a:r>
                    </a:p>
                  </a:txBody>
                  <a:tcPr>
                    <a:solidFill>
                      <a:srgbClr val="F6F7F9"/>
                    </a:solidFill>
                  </a:tcPr>
                </a:tc>
                <a:tc>
                  <a:txBody>
                    <a:bodyPr/>
                    <a:lstStyle/>
                    <a:p>
                      <a:pPr algn="r"/>
                      <a:r>
                        <a:rPr sz="1150" b="1">
                          <a:solidFill>
                            <a:srgbClr val="2C3E50"/>
                          </a:solidFill>
                          <a:latin typeface="Arial"/>
                        </a:rPr>
                        <a:t>2.5%</a:t>
                      </a:r>
                    </a:p>
                  </a:txBody>
                  <a:tcPr>
                    <a:solidFill>
                      <a:srgbClr val="F6F7F9"/>
                    </a:solidFill>
                  </a:tcPr>
                </a:tc>
                <a:tc>
                  <a:txBody>
                    <a:bodyPr/>
                    <a:lstStyle/>
                    <a:p>
                      <a:pPr algn="r"/>
                      <a:r>
                        <a:rPr sz="1150" b="1">
                          <a:solidFill>
                            <a:srgbClr val="2C3E50"/>
                          </a:solidFill>
                          <a:latin typeface="Arial"/>
                        </a:rPr>
                        <a:t>3%</a:t>
                      </a:r>
                    </a:p>
                  </a:txBody>
                  <a:tcPr>
                    <a:solidFill>
                      <a:srgbClr val="F6F7F9"/>
                    </a:solidFill>
                  </a:tcPr>
                </a:tc>
                <a:tc>
                  <a:txBody>
                    <a:bodyPr/>
                    <a:lstStyle/>
                    <a:p>
                      <a:pPr algn="r"/>
                      <a:r>
                        <a:rPr sz="1150" b="1">
                          <a:solidFill>
                            <a:srgbClr val="2C3E50"/>
                          </a:solidFill>
                          <a:latin typeface="Arial"/>
                        </a:rPr>
                        <a:t>3.5%</a:t>
                      </a:r>
                    </a:p>
                  </a:txBody>
                  <a:tcPr>
                    <a:solidFill>
                      <a:srgbClr val="F6F7F9"/>
                    </a:solidFill>
                  </a:tcPr>
                </a:tc>
                <a:tc>
                  <a:txBody>
                    <a:bodyPr/>
                    <a:lstStyle/>
                    <a:p>
                      <a:pPr algn="r"/>
                      <a:r>
                        <a:rPr sz="1150" b="1">
                          <a:solidFill>
                            <a:srgbClr val="2C3E50"/>
                          </a:solidFill>
                          <a:latin typeface="Arial"/>
                        </a:rPr>
                        <a:t>4%</a:t>
                      </a:r>
                    </a:p>
                  </a:txBody>
                  <a:tcPr>
                    <a:solidFill>
                      <a:srgbClr val="F6F7F9"/>
                    </a:solidFill>
                  </a:tcPr>
                </a:tc>
              </a:tr>
              <a:tr h="246888">
                <a:tc>
                  <a:txBody>
                    <a:bodyPr/>
                    <a:lstStyle/>
                    <a:p>
                      <a:pPr algn="l"/>
                      <a:r>
                        <a:rPr sz="1150" b="0">
                          <a:solidFill>
                            <a:srgbClr val="5D6D7E"/>
                          </a:solidFill>
                          <a:latin typeface="Arial"/>
                        </a:rPr>
                        <a:t>New</a:t>
                      </a:r>
                    </a:p>
                  </a:txBody>
                  <a:tcPr>
                    <a:solidFill>
                      <a:srgbClr val="FFFFFF"/>
                    </a:solidFill>
                  </a:tcPr>
                </a:tc>
                <a:tc>
                  <a:txBody>
                    <a:bodyPr/>
                    <a:lstStyle/>
                    <a:p>
                      <a:pPr algn="r"/>
                      <a:r>
                        <a:rPr sz="1150" b="0">
                          <a:solidFill>
                            <a:srgbClr val="5D6D7E"/>
                          </a:solidFill>
                          <a:latin typeface="Arial"/>
                        </a:rPr>
                        <a:t>&gt; 27</a:t>
                      </a:r>
                    </a:p>
                  </a:txBody>
                  <a:tcPr>
                    <a:solidFill>
                      <a:srgbClr val="FFFFFF"/>
                    </a:solidFill>
                  </a:tcPr>
                </a:tc>
                <a:tc>
                  <a:txBody>
                    <a:bodyPr/>
                    <a:lstStyle/>
                    <a:p>
                      <a:pPr algn="r"/>
                      <a:r>
                        <a:rPr sz="1150" b="0">
                          <a:solidFill>
                            <a:srgbClr val="5D6D7E"/>
                          </a:solidFill>
                          <a:latin typeface="Arial"/>
                        </a:rPr>
                        <a:t>&gt; 63</a:t>
                      </a:r>
                    </a:p>
                  </a:txBody>
                  <a:tcPr>
                    <a:solidFill>
                      <a:srgbClr val="FFFFFF"/>
                    </a:solidFill>
                  </a:tcPr>
                </a:tc>
                <a:tc>
                  <a:txBody>
                    <a:bodyPr/>
                    <a:lstStyle/>
                    <a:p>
                      <a:pPr algn="r"/>
                      <a:r>
                        <a:rPr sz="1150" b="0">
                          <a:solidFill>
                            <a:srgbClr val="5D6D7E"/>
                          </a:solidFill>
                          <a:latin typeface="Arial"/>
                        </a:rPr>
                        <a:t>&gt; 50</a:t>
                      </a:r>
                    </a:p>
                  </a:txBody>
                  <a:tcPr>
                    <a:solidFill>
                      <a:srgbClr val="FFFFFF"/>
                    </a:solidFill>
                  </a:tcPr>
                </a:tc>
                <a:tc>
                  <a:txBody>
                    <a:bodyPr/>
                    <a:lstStyle/>
                    <a:p>
                      <a:pPr algn="r"/>
                      <a:r>
                        <a:rPr sz="1150" b="0">
                          <a:solidFill>
                            <a:srgbClr val="5D6D7E"/>
                          </a:solidFill>
                          <a:latin typeface="Arial"/>
                        </a:rPr>
                        <a:t>&gt; 37</a:t>
                      </a:r>
                    </a:p>
                  </a:txBody>
                  <a:tcPr>
                    <a:solidFill>
                      <a:srgbClr val="FFFFFF"/>
                    </a:solidFill>
                  </a:tcPr>
                </a:tc>
                <a:tc>
                  <a:txBody>
                    <a:bodyPr/>
                    <a:lstStyle/>
                    <a:p>
                      <a:pPr algn="r"/>
                      <a:r>
                        <a:rPr sz="1150" b="0">
                          <a:solidFill>
                            <a:srgbClr val="5D6D7E"/>
                          </a:solidFill>
                          <a:latin typeface="Arial"/>
                        </a:rPr>
                        <a:t>&gt; 27</a:t>
                      </a:r>
                    </a:p>
                  </a:txBody>
                  <a:tcPr>
                    <a:solidFill>
                      <a:srgbClr val="FFFFFF"/>
                    </a:solidFill>
                  </a:tcPr>
                </a:tc>
              </a:tr>
              <a:tr h="246888">
                <a:tc>
                  <a:txBody>
                    <a:bodyPr/>
                    <a:lstStyle/>
                    <a:p>
                      <a:pPr algn="l"/>
                      <a:r>
                        <a:rPr sz="1150" b="0">
                          <a:solidFill>
                            <a:srgbClr val="5D6D7E"/>
                          </a:solidFill>
                          <a:latin typeface="Arial"/>
                        </a:rPr>
                        <a:t>Inactive</a:t>
                      </a:r>
                    </a:p>
                  </a:txBody>
                  <a:tcPr>
                    <a:solidFill>
                      <a:srgbClr val="FFFFFF"/>
                    </a:solidFill>
                  </a:tcPr>
                </a:tc>
                <a:tc>
                  <a:txBody>
                    <a:bodyPr/>
                    <a:lstStyle/>
                    <a:p>
                      <a:pPr algn="r"/>
                      <a:r>
                        <a:rPr sz="1150" b="0">
                          <a:solidFill>
                            <a:srgbClr val="5D6D7E"/>
                          </a:solidFill>
                          <a:latin typeface="Arial"/>
                        </a:rPr>
                        <a:t>&gt; 22</a:t>
                      </a:r>
                    </a:p>
                  </a:txBody>
                  <a:tcPr>
                    <a:solidFill>
                      <a:srgbClr val="FFFFFF"/>
                    </a:solidFill>
                  </a:tcPr>
                </a:tc>
                <a:tc>
                  <a:txBody>
                    <a:bodyPr/>
                    <a:lstStyle/>
                    <a:p>
                      <a:pPr algn="r"/>
                      <a:r>
                        <a:rPr sz="1150" b="0">
                          <a:solidFill>
                            <a:srgbClr val="5D6D7E"/>
                          </a:solidFill>
                          <a:latin typeface="Arial"/>
                        </a:rPr>
                        <a:t>&gt; 58</a:t>
                      </a:r>
                    </a:p>
                  </a:txBody>
                  <a:tcPr>
                    <a:solidFill>
                      <a:srgbClr val="FFFFFF"/>
                    </a:solidFill>
                  </a:tcPr>
                </a:tc>
                <a:tc>
                  <a:txBody>
                    <a:bodyPr/>
                    <a:lstStyle/>
                    <a:p>
                      <a:pPr algn="r"/>
                      <a:r>
                        <a:rPr sz="1150" b="0">
                          <a:solidFill>
                            <a:srgbClr val="5D6D7E"/>
                          </a:solidFill>
                          <a:latin typeface="Arial"/>
                        </a:rPr>
                        <a:t>&gt; 45</a:t>
                      </a:r>
                    </a:p>
                  </a:txBody>
                  <a:tcPr>
                    <a:solidFill>
                      <a:srgbClr val="FFFFFF"/>
                    </a:solidFill>
                  </a:tcPr>
                </a:tc>
                <a:tc>
                  <a:txBody>
                    <a:bodyPr/>
                    <a:lstStyle/>
                    <a:p>
                      <a:pPr algn="r"/>
                      <a:r>
                        <a:rPr sz="1150" b="0">
                          <a:solidFill>
                            <a:srgbClr val="5D6D7E"/>
                          </a:solidFill>
                          <a:latin typeface="Arial"/>
                        </a:rPr>
                        <a:t>&gt; 32</a:t>
                      </a:r>
                    </a:p>
                  </a:txBody>
                  <a:tcPr>
                    <a:solidFill>
                      <a:srgbClr val="FFFFFF"/>
                    </a:solidFill>
                  </a:tcPr>
                </a:tc>
                <a:tc>
                  <a:txBody>
                    <a:bodyPr/>
                    <a:lstStyle/>
                    <a:p>
                      <a:pPr algn="r"/>
                      <a:r>
                        <a:rPr sz="1150" b="0">
                          <a:solidFill>
                            <a:srgbClr val="5D6D7E"/>
                          </a:solidFill>
                          <a:latin typeface="Arial"/>
                        </a:rPr>
                        <a:t>&gt; 22</a:t>
                      </a:r>
                    </a:p>
                  </a:txBody>
                  <a:tcPr>
                    <a:solidFill>
                      <a:srgbClr val="FFFFFF"/>
                    </a:solidFill>
                  </a:tcPr>
                </a:tc>
              </a:tr>
              <a:tr h="246888">
                <a:tc>
                  <a:txBody>
                    <a:bodyPr/>
                    <a:lstStyle/>
                    <a:p>
                      <a:pPr algn="l"/>
                      <a:r>
                        <a:rPr sz="1150" b="0">
                          <a:solidFill>
                            <a:srgbClr val="5D6D7E"/>
                          </a:solidFill>
                          <a:latin typeface="Arial"/>
                        </a:rPr>
                        <a:t>A-C</a:t>
                      </a:r>
                    </a:p>
                  </a:txBody>
                  <a:tcPr>
                    <a:solidFill>
                      <a:srgbClr val="FFFFFF"/>
                    </a:solidFill>
                  </a:tcPr>
                </a:tc>
                <a:tc>
                  <a:txBody>
                    <a:bodyPr/>
                    <a:lstStyle/>
                    <a:p>
                      <a:pPr algn="r"/>
                      <a:r>
                        <a:rPr sz="1150" b="0">
                          <a:solidFill>
                            <a:srgbClr val="5D6D7E"/>
                          </a:solidFill>
                          <a:latin typeface="Arial"/>
                        </a:rPr>
                        <a:t>&gt; 16</a:t>
                      </a:r>
                    </a:p>
                  </a:txBody>
                  <a:tcPr>
                    <a:solidFill>
                      <a:srgbClr val="FFFFFF"/>
                    </a:solidFill>
                  </a:tcPr>
                </a:tc>
                <a:tc>
                  <a:txBody>
                    <a:bodyPr/>
                    <a:lstStyle/>
                    <a:p>
                      <a:pPr algn="r"/>
                      <a:r>
                        <a:rPr sz="1150" b="0">
                          <a:solidFill>
                            <a:srgbClr val="5D6D7E"/>
                          </a:solidFill>
                          <a:latin typeface="Arial"/>
                        </a:rPr>
                        <a:t>&gt; 52</a:t>
                      </a:r>
                    </a:p>
                  </a:txBody>
                  <a:tcPr>
                    <a:solidFill>
                      <a:srgbClr val="FFFFFF"/>
                    </a:solidFill>
                  </a:tcPr>
                </a:tc>
                <a:tc>
                  <a:txBody>
                    <a:bodyPr/>
                    <a:lstStyle/>
                    <a:p>
                      <a:pPr algn="r"/>
                      <a:r>
                        <a:rPr sz="1150" b="0">
                          <a:solidFill>
                            <a:srgbClr val="5D6D7E"/>
                          </a:solidFill>
                          <a:latin typeface="Arial"/>
                        </a:rPr>
                        <a:t>&gt; 39</a:t>
                      </a:r>
                    </a:p>
                  </a:txBody>
                  <a:tcPr>
                    <a:solidFill>
                      <a:srgbClr val="FFFFFF"/>
                    </a:solidFill>
                  </a:tcPr>
                </a:tc>
                <a:tc>
                  <a:txBody>
                    <a:bodyPr/>
                    <a:lstStyle/>
                    <a:p>
                      <a:pPr algn="r"/>
                      <a:r>
                        <a:rPr sz="1150" b="0">
                          <a:solidFill>
                            <a:srgbClr val="5D6D7E"/>
                          </a:solidFill>
                          <a:latin typeface="Arial"/>
                        </a:rPr>
                        <a:t>&gt; 26</a:t>
                      </a:r>
                    </a:p>
                  </a:txBody>
                  <a:tcPr>
                    <a:solidFill>
                      <a:srgbClr val="FFFFFF"/>
                    </a:solidFill>
                  </a:tcPr>
                </a:tc>
                <a:tc>
                  <a:txBody>
                    <a:bodyPr/>
                    <a:lstStyle/>
                    <a:p>
                      <a:pPr algn="r"/>
                      <a:r>
                        <a:rPr sz="1150" b="0">
                          <a:solidFill>
                            <a:srgbClr val="5D6D7E"/>
                          </a:solidFill>
                          <a:latin typeface="Arial"/>
                        </a:rPr>
                        <a:t>&gt; 16</a:t>
                      </a:r>
                    </a:p>
                  </a:txBody>
                  <a:tcPr>
                    <a:solidFill>
                      <a:srgbClr val="FFFFFF"/>
                    </a:solidFill>
                  </a:tcPr>
                </a:tc>
              </a:tr>
              <a:tr h="246888">
                <a:tc>
                  <a:txBody>
                    <a:bodyPr/>
                    <a:lstStyle/>
                    <a:p>
                      <a:pPr algn="l"/>
                      <a:r>
                        <a:rPr sz="1150" b="0">
                          <a:solidFill>
                            <a:srgbClr val="5D6D7E"/>
                          </a:solidFill>
                          <a:latin typeface="Arial"/>
                        </a:rPr>
                        <a:t>D-F</a:t>
                      </a:r>
                    </a:p>
                  </a:txBody>
                  <a:tcPr>
                    <a:solidFill>
                      <a:srgbClr val="FFFFFF"/>
                    </a:solidFill>
                  </a:tcPr>
                </a:tc>
                <a:tc>
                  <a:txBody>
                    <a:bodyPr/>
                    <a:lstStyle/>
                    <a:p>
                      <a:pPr algn="r"/>
                      <a:r>
                        <a:rPr sz="1150" b="0">
                          <a:solidFill>
                            <a:srgbClr val="5D6D7E"/>
                          </a:solidFill>
                          <a:latin typeface="Arial"/>
                        </a:rPr>
                        <a:t>&gt; 22</a:t>
                      </a:r>
                    </a:p>
                  </a:txBody>
                  <a:tcPr>
                    <a:solidFill>
                      <a:srgbClr val="FFFFFF"/>
                    </a:solidFill>
                  </a:tcPr>
                </a:tc>
                <a:tc>
                  <a:txBody>
                    <a:bodyPr/>
                    <a:lstStyle/>
                    <a:p>
                      <a:pPr algn="r"/>
                      <a:r>
                        <a:rPr sz="1150" b="0">
                          <a:solidFill>
                            <a:srgbClr val="5D6D7E"/>
                          </a:solidFill>
                          <a:latin typeface="Arial"/>
                        </a:rPr>
                        <a:t>&gt; 58</a:t>
                      </a:r>
                    </a:p>
                  </a:txBody>
                  <a:tcPr>
                    <a:solidFill>
                      <a:srgbClr val="FFFFFF"/>
                    </a:solidFill>
                  </a:tcPr>
                </a:tc>
                <a:tc>
                  <a:txBody>
                    <a:bodyPr/>
                    <a:lstStyle/>
                    <a:p>
                      <a:pPr algn="r"/>
                      <a:r>
                        <a:rPr sz="1150" b="0">
                          <a:solidFill>
                            <a:srgbClr val="5D6D7E"/>
                          </a:solidFill>
                          <a:latin typeface="Arial"/>
                        </a:rPr>
                        <a:t>&gt; 45</a:t>
                      </a:r>
                    </a:p>
                  </a:txBody>
                  <a:tcPr>
                    <a:solidFill>
                      <a:srgbClr val="FFFFFF"/>
                    </a:solidFill>
                  </a:tcPr>
                </a:tc>
                <a:tc>
                  <a:txBody>
                    <a:bodyPr/>
                    <a:lstStyle/>
                    <a:p>
                      <a:pPr algn="r"/>
                      <a:r>
                        <a:rPr sz="1150" b="0">
                          <a:solidFill>
                            <a:srgbClr val="5D6D7E"/>
                          </a:solidFill>
                          <a:latin typeface="Arial"/>
                        </a:rPr>
                        <a:t>&gt; 32</a:t>
                      </a:r>
                    </a:p>
                  </a:txBody>
                  <a:tcPr>
                    <a:solidFill>
                      <a:srgbClr val="FFFFFF"/>
                    </a:solidFill>
                  </a:tcPr>
                </a:tc>
                <a:tc>
                  <a:txBody>
                    <a:bodyPr/>
                    <a:lstStyle/>
                    <a:p>
                      <a:pPr algn="r"/>
                      <a:r>
                        <a:rPr sz="1150" b="0">
                          <a:solidFill>
                            <a:srgbClr val="5D6D7E"/>
                          </a:solidFill>
                          <a:latin typeface="Arial"/>
                        </a:rPr>
                        <a:t>&gt; 22</a:t>
                      </a:r>
                    </a:p>
                  </a:txBody>
                  <a:tcPr>
                    <a:solidFill>
                      <a:srgbClr val="FFFFFF"/>
                    </a:solidFill>
                  </a:tcPr>
                </a:tc>
              </a:tr>
              <a:tr h="246888">
                <a:tc>
                  <a:txBody>
                    <a:bodyPr/>
                    <a:lstStyle/>
                    <a:p>
                      <a:pPr algn="l"/>
                      <a:r>
                        <a:rPr sz="1150" b="0">
                          <a:solidFill>
                            <a:srgbClr val="5D6D7E"/>
                          </a:solidFill>
                          <a:latin typeface="Arial"/>
                        </a:rPr>
                        <a:t>&gt;=G</a:t>
                      </a:r>
                    </a:p>
                  </a:txBody>
                  <a:tcPr>
                    <a:solidFill>
                      <a:srgbClr val="FFFFFF"/>
                    </a:solidFill>
                  </a:tcPr>
                </a:tc>
                <a:tc>
                  <a:txBody>
                    <a:bodyPr/>
                    <a:lstStyle/>
                    <a:p>
                      <a:pPr algn="r"/>
                      <a:r>
                        <a:rPr sz="1150" b="0">
                          <a:solidFill>
                            <a:srgbClr val="5D6D7E"/>
                          </a:solidFill>
                          <a:latin typeface="Arial"/>
                        </a:rPr>
                        <a:t>rechazo</a:t>
                      </a:r>
                    </a:p>
                  </a:txBody>
                  <a:tcPr>
                    <a:solidFill>
                      <a:srgbClr val="FFFFFF"/>
                    </a:solidFill>
                  </a:tcPr>
                </a:tc>
                <a:tc>
                  <a:txBody>
                    <a:bodyPr/>
                    <a:lstStyle/>
                    <a:p>
                      <a:pPr algn="r"/>
                      <a:r>
                        <a:rPr sz="1150" b="0">
                          <a:solidFill>
                            <a:srgbClr val="5D6D7E"/>
                          </a:solidFill>
                          <a:latin typeface="Arial"/>
                        </a:rPr>
                        <a:t>rechazo</a:t>
                      </a:r>
                    </a:p>
                  </a:txBody>
                  <a:tcPr>
                    <a:solidFill>
                      <a:srgbClr val="FFFFFF"/>
                    </a:solidFill>
                  </a:tcPr>
                </a:tc>
                <a:tc>
                  <a:txBody>
                    <a:bodyPr/>
                    <a:lstStyle/>
                    <a:p>
                      <a:pPr algn="r"/>
                      <a:r>
                        <a:rPr sz="1150" b="0">
                          <a:solidFill>
                            <a:srgbClr val="5D6D7E"/>
                          </a:solidFill>
                          <a:latin typeface="Arial"/>
                        </a:rPr>
                        <a:t>rechazo</a:t>
                      </a:r>
                    </a:p>
                  </a:txBody>
                  <a:tcPr>
                    <a:solidFill>
                      <a:srgbClr val="FFFFFF"/>
                    </a:solidFill>
                  </a:tcPr>
                </a:tc>
                <a:tc>
                  <a:txBody>
                    <a:bodyPr/>
                    <a:lstStyle/>
                    <a:p>
                      <a:pPr algn="r"/>
                      <a:r>
                        <a:rPr sz="1150" b="0">
                          <a:solidFill>
                            <a:srgbClr val="5D6D7E"/>
                          </a:solidFill>
                          <a:latin typeface="Arial"/>
                        </a:rPr>
                        <a:t>rechazo</a:t>
                      </a:r>
                    </a:p>
                  </a:txBody>
                  <a:tcPr>
                    <a:solidFill>
                      <a:srgbClr val="FFFFFF"/>
                    </a:solidFill>
                  </a:tcPr>
                </a:tc>
                <a:tc>
                  <a:txBody>
                    <a:bodyPr/>
                    <a:lstStyle/>
                    <a:p>
                      <a:pPr algn="r"/>
                      <a:r>
                        <a:rPr sz="1150" b="0">
                          <a:solidFill>
                            <a:srgbClr val="5D6D7E"/>
                          </a:solidFill>
                          <a:latin typeface="Arial"/>
                        </a:rPr>
                        <a:t>rechazo</a:t>
                      </a:r>
                    </a:p>
                  </a:txBody>
                  <a:tcPr>
                    <a:solidFill>
                      <a:srgbClr val="FFFFFF"/>
                    </a:solidFill>
                  </a:tcPr>
                </a:tc>
              </a:tr>
            </a:tbl>
          </a:graphicData>
        </a:graphic>
      </p:graphicFrame>
      <p:sp>
        <p:nvSpPr>
          <p:cNvPr id="11" name="TextBox 10"/>
          <p:cNvSpPr txBox="1"/>
          <p:nvPr/>
        </p:nvSpPr>
        <p:spPr>
          <a:xfrm>
            <a:off x="566928" y="6144768"/>
            <a:ext cx="11057839" cy="640080"/>
          </a:xfrm>
          <a:prstGeom prst="rect">
            <a:avLst/>
          </a:prstGeom>
          <a:noFill/>
        </p:spPr>
        <p:txBody>
          <a:bodyPr wrap="square">
            <a:spAutoFit/>
          </a:bodyPr>
          <a:lstStyle/>
          <a:p>
            <a:pPr algn="l">
              <a:lnSpc>
                <a:spcPct val="120000"/>
              </a:lnSpc>
            </a:pPr>
            <a:r>
              <a:rPr sz="1100" b="0">
                <a:solidFill>
                  <a:srgbClr val="5D6D7E"/>
                </a:solidFill>
                <a:latin typeface="Arial"/>
              </a:rPr>
              <a:t>El corte único es más simple de operar; desplazar la parrilla conserva su forma —laxa donde el grupo es bueno— y da algo más de aceptación al mismo riesgo. '&gt;=G' se rechaza siempre en ambos.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METODOLOGÍA · RIESGO</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Online mar-2025 a feb-2026  ·  tienda ago-2026 a sep-2026</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Cómo se estima el riesgo de tienda</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63624"/>
            <a:ext cx="420624" cy="420624"/>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618488"/>
            <a:ext cx="420624" cy="310896"/>
          </a:xfrm>
          <a:prstGeom prst="rect">
            <a:avLst/>
          </a:prstGeom>
          <a:noFill/>
        </p:spPr>
        <p:txBody>
          <a:bodyPr wrap="square">
            <a:spAutoFit/>
          </a:bodyPr>
          <a:lstStyle/>
          <a:p>
            <a:pPr algn="ctr">
              <a:lnSpc>
                <a:spcPct val="100000"/>
              </a:lnSpc>
            </a:pPr>
            <a:r>
              <a:rPr sz="1400" b="1">
                <a:solidFill>
                  <a:srgbClr val="FFFFFF"/>
                </a:solidFill>
                <a:latin typeface="Arial"/>
              </a:rPr>
              <a:t>1</a:t>
            </a:r>
          </a:p>
        </p:txBody>
      </p:sp>
      <p:sp>
        <p:nvSpPr>
          <p:cNvPr id="8" name="TextBox 7"/>
          <p:cNvSpPr txBox="1"/>
          <p:nvPr/>
        </p:nvSpPr>
        <p:spPr>
          <a:xfrm>
            <a:off x="1188720" y="1563624"/>
            <a:ext cx="8863279" cy="274320"/>
          </a:xfrm>
          <a:prstGeom prst="rect">
            <a:avLst/>
          </a:prstGeom>
          <a:noFill/>
        </p:spPr>
        <p:txBody>
          <a:bodyPr wrap="square">
            <a:spAutoFit/>
          </a:bodyPr>
          <a:lstStyle/>
          <a:p>
            <a:pPr algn="l">
              <a:lnSpc>
                <a:spcPct val="100000"/>
              </a:lnSpc>
            </a:pPr>
            <a:r>
              <a:rPr sz="1300" b="1">
                <a:solidFill>
                  <a:srgbClr val="2C3E50"/>
                </a:solidFill>
                <a:latin typeface="Arial"/>
              </a:rPr>
              <a:t>Riesgo realizado por tramo de score, en Apple Online</a:t>
            </a:r>
          </a:p>
        </p:txBody>
      </p:sp>
      <p:sp>
        <p:nvSpPr>
          <p:cNvPr id="9" name="TextBox 8"/>
          <p:cNvSpPr txBox="1"/>
          <p:nvPr/>
        </p:nvSpPr>
        <p:spPr>
          <a:xfrm>
            <a:off x="1188720" y="1837944"/>
            <a:ext cx="8863279" cy="603504"/>
          </a:xfrm>
          <a:prstGeom prst="rect">
            <a:avLst/>
          </a:prstGeom>
          <a:noFill/>
        </p:spPr>
        <p:txBody>
          <a:bodyPr wrap="square">
            <a:spAutoFit/>
          </a:bodyPr>
          <a:lstStyle/>
          <a:p>
            <a:pPr algn="l">
              <a:lnSpc>
                <a:spcPct val="118000"/>
              </a:lnSpc>
            </a:pPr>
            <a:r>
              <a:rPr sz="1100" b="0">
                <a:solidFill>
                  <a:srgbClr val="5D6D7E"/>
                </a:solidFill>
                <a:latin typeface="Arial"/>
              </a:rPr>
              <a:t>Para cada uno de los 20 tramos de EFX, la morosidad observada de los contratos con 6 meses cumplidos. Es lo único del estudio que sale directamente del dato.</a:t>
            </a:r>
          </a:p>
        </p:txBody>
      </p:sp>
      <p:sp>
        <p:nvSpPr>
          <p:cNvPr id="10" name="TextBox 9"/>
          <p:cNvSpPr txBox="1"/>
          <p:nvPr/>
        </p:nvSpPr>
        <p:spPr>
          <a:xfrm>
            <a:off x="10161727" y="1581912"/>
            <a:ext cx="1463040" cy="274320"/>
          </a:xfrm>
          <a:prstGeom prst="rect">
            <a:avLst/>
          </a:prstGeom>
          <a:noFill/>
        </p:spPr>
        <p:txBody>
          <a:bodyPr wrap="square">
            <a:spAutoFit/>
          </a:bodyPr>
          <a:lstStyle/>
          <a:p>
            <a:pPr algn="r">
              <a:lnSpc>
                <a:spcPct val="100000"/>
              </a:lnSpc>
            </a:pPr>
            <a:r>
              <a:rPr sz="1000" b="1">
                <a:solidFill>
                  <a:srgbClr val="3498DB"/>
                </a:solidFill>
                <a:latin typeface="Arial"/>
              </a:rPr>
              <a:t>MEDIDO</a:t>
            </a:r>
          </a:p>
        </p:txBody>
      </p:sp>
      <p:sp>
        <p:nvSpPr>
          <p:cNvPr id="11" name="Rectangle 10"/>
          <p:cNvSpPr/>
          <p:nvPr/>
        </p:nvSpPr>
        <p:spPr>
          <a:xfrm>
            <a:off x="566928" y="2496312"/>
            <a:ext cx="420624" cy="420624"/>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551176"/>
            <a:ext cx="420624" cy="310896"/>
          </a:xfrm>
          <a:prstGeom prst="rect">
            <a:avLst/>
          </a:prstGeom>
          <a:noFill/>
        </p:spPr>
        <p:txBody>
          <a:bodyPr wrap="square">
            <a:spAutoFit/>
          </a:bodyPr>
          <a:lstStyle/>
          <a:p>
            <a:pPr algn="ctr">
              <a:lnSpc>
                <a:spcPct val="100000"/>
              </a:lnSpc>
            </a:pPr>
            <a:r>
              <a:rPr sz="1400" b="1">
                <a:solidFill>
                  <a:srgbClr val="FFFFFF"/>
                </a:solidFill>
                <a:latin typeface="Arial"/>
              </a:rPr>
              <a:t>2</a:t>
            </a:r>
          </a:p>
        </p:txBody>
      </p:sp>
      <p:sp>
        <p:nvSpPr>
          <p:cNvPr id="13" name="TextBox 12"/>
          <p:cNvSpPr txBox="1"/>
          <p:nvPr/>
        </p:nvSpPr>
        <p:spPr>
          <a:xfrm>
            <a:off x="1188720" y="2496312"/>
            <a:ext cx="8863279" cy="274320"/>
          </a:xfrm>
          <a:prstGeom prst="rect">
            <a:avLst/>
          </a:prstGeom>
          <a:noFill/>
        </p:spPr>
        <p:txBody>
          <a:bodyPr wrap="square">
            <a:spAutoFit/>
          </a:bodyPr>
          <a:lstStyle/>
          <a:p>
            <a:pPr algn="l">
              <a:lnSpc>
                <a:spcPct val="100000"/>
              </a:lnSpc>
            </a:pPr>
            <a:r>
              <a:rPr sz="1300" b="1">
                <a:solidFill>
                  <a:srgbClr val="2C3E50"/>
                </a:solidFill>
                <a:latin typeface="Arial"/>
              </a:rPr>
              <a:t>Corrección por selección (reject inference)</a:t>
            </a:r>
          </a:p>
        </p:txBody>
      </p:sp>
      <p:sp>
        <p:nvSpPr>
          <p:cNvPr id="14" name="TextBox 13"/>
          <p:cNvSpPr txBox="1"/>
          <p:nvPr/>
        </p:nvSpPr>
        <p:spPr>
          <a:xfrm>
            <a:off x="1188720" y="2770632"/>
            <a:ext cx="8863279" cy="603504"/>
          </a:xfrm>
          <a:prstGeom prst="rect">
            <a:avLst/>
          </a:prstGeom>
          <a:noFill/>
        </p:spPr>
        <p:txBody>
          <a:bodyPr wrap="square">
            <a:spAutoFit/>
          </a:bodyPr>
          <a:lstStyle/>
          <a:p>
            <a:pPr algn="l">
              <a:lnSpc>
                <a:spcPct val="118000"/>
              </a:lnSpc>
            </a:pPr>
            <a:r>
              <a:rPr sz="1100" b="0">
                <a:solidFill>
                  <a:srgbClr val="5D6D7E"/>
                </a:solidFill>
                <a:latin typeface="Arial"/>
              </a:rPr>
              <a:t>Los contratados de un tramo pasaron además el resto de reglas: son una muestra seleccionada y su morosidad subestima la de quien hoy se deniega. Se aplica el parceling del pipeline, con uplift según la tasa de aceptación: 2,4x donde solo entra el 3%, 1,0x donde entra el 100%.</a:t>
            </a:r>
          </a:p>
        </p:txBody>
      </p:sp>
      <p:sp>
        <p:nvSpPr>
          <p:cNvPr id="15" name="TextBox 14"/>
          <p:cNvSpPr txBox="1"/>
          <p:nvPr/>
        </p:nvSpPr>
        <p:spPr>
          <a:xfrm>
            <a:off x="10161727" y="2514600"/>
            <a:ext cx="1463040" cy="274320"/>
          </a:xfrm>
          <a:prstGeom prst="rect">
            <a:avLst/>
          </a:prstGeom>
          <a:noFill/>
        </p:spPr>
        <p:txBody>
          <a:bodyPr wrap="square">
            <a:spAutoFit/>
          </a:bodyPr>
          <a:lstStyle/>
          <a:p>
            <a:pPr algn="r">
              <a:lnSpc>
                <a:spcPct val="100000"/>
              </a:lnSpc>
            </a:pPr>
            <a:r>
              <a:rPr sz="1000" b="1">
                <a:solidFill>
                  <a:srgbClr val="5D6D7E"/>
                </a:solidFill>
                <a:latin typeface="Arial"/>
              </a:rPr>
              <a:t>CORREGIDO</a:t>
            </a:r>
          </a:p>
        </p:txBody>
      </p:sp>
      <p:sp>
        <p:nvSpPr>
          <p:cNvPr id="16" name="Rectangle 15"/>
          <p:cNvSpPr/>
          <p:nvPr/>
        </p:nvSpPr>
        <p:spPr>
          <a:xfrm>
            <a:off x="566928" y="3429000"/>
            <a:ext cx="420624" cy="420624"/>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483864"/>
            <a:ext cx="420624" cy="310896"/>
          </a:xfrm>
          <a:prstGeom prst="rect">
            <a:avLst/>
          </a:prstGeom>
          <a:noFill/>
        </p:spPr>
        <p:txBody>
          <a:bodyPr wrap="square">
            <a:spAutoFit/>
          </a:bodyPr>
          <a:lstStyle/>
          <a:p>
            <a:pPr algn="ctr">
              <a:lnSpc>
                <a:spcPct val="100000"/>
              </a:lnSpc>
            </a:pPr>
            <a:r>
              <a:rPr sz="1400" b="1">
                <a:solidFill>
                  <a:srgbClr val="FFFFFF"/>
                </a:solidFill>
                <a:latin typeface="Arial"/>
              </a:rPr>
              <a:t>3</a:t>
            </a:r>
          </a:p>
        </p:txBody>
      </p:sp>
      <p:sp>
        <p:nvSpPr>
          <p:cNvPr id="18" name="TextBox 17"/>
          <p:cNvSpPr txBox="1"/>
          <p:nvPr/>
        </p:nvSpPr>
        <p:spPr>
          <a:xfrm>
            <a:off x="1188720" y="3429000"/>
            <a:ext cx="8863279" cy="274320"/>
          </a:xfrm>
          <a:prstGeom prst="rect">
            <a:avLst/>
          </a:prstGeom>
          <a:noFill/>
        </p:spPr>
        <p:txBody>
          <a:bodyPr wrap="square">
            <a:spAutoFit/>
          </a:bodyPr>
          <a:lstStyle/>
          <a:p>
            <a:pPr algn="l">
              <a:lnSpc>
                <a:spcPct val="100000"/>
              </a:lnSpc>
            </a:pPr>
            <a:r>
              <a:rPr sz="1300" b="1">
                <a:solidFill>
                  <a:srgbClr val="2C3E50"/>
                </a:solidFill>
                <a:latin typeface="Arial"/>
              </a:rPr>
              <a:t>Esa curva se traslada a la población de tienda</a:t>
            </a:r>
          </a:p>
        </p:txBody>
      </p:sp>
      <p:sp>
        <p:nvSpPr>
          <p:cNvPr id="19" name="TextBox 18"/>
          <p:cNvSpPr txBox="1"/>
          <p:nvPr/>
        </p:nvSpPr>
        <p:spPr>
          <a:xfrm>
            <a:off x="1188720" y="3703320"/>
            <a:ext cx="8863279" cy="603504"/>
          </a:xfrm>
          <a:prstGeom prst="rect">
            <a:avLst/>
          </a:prstGeom>
          <a:noFill/>
        </p:spPr>
        <p:txBody>
          <a:bodyPr wrap="square">
            <a:spAutoFit/>
          </a:bodyPr>
          <a:lstStyle/>
          <a:p>
            <a:pPr algn="l">
              <a:lnSpc>
                <a:spcPct val="118000"/>
              </a:lnSpc>
            </a:pPr>
            <a:r>
              <a:rPr sz="1100" b="0">
                <a:solidFill>
                  <a:srgbClr val="5D6D7E"/>
                </a:solidFill>
                <a:latin typeface="Arial"/>
              </a:rPr>
              <a:t>A cada solicitud de tienda se le asigna el riesgo del tramo EFX en el que cae. Aquí está el supuesto de fondo: que el score ordena en tienda igual que en e-commerce.</a:t>
            </a:r>
          </a:p>
        </p:txBody>
      </p:sp>
      <p:sp>
        <p:nvSpPr>
          <p:cNvPr id="20" name="TextBox 19"/>
          <p:cNvSpPr txBox="1"/>
          <p:nvPr/>
        </p:nvSpPr>
        <p:spPr>
          <a:xfrm>
            <a:off x="10161727" y="3447288"/>
            <a:ext cx="1463040" cy="274320"/>
          </a:xfrm>
          <a:prstGeom prst="rect">
            <a:avLst/>
          </a:prstGeom>
          <a:noFill/>
        </p:spPr>
        <p:txBody>
          <a:bodyPr wrap="square">
            <a:spAutoFit/>
          </a:bodyPr>
          <a:lstStyle/>
          <a:p>
            <a:pPr algn="r">
              <a:lnSpc>
                <a:spcPct val="100000"/>
              </a:lnSpc>
            </a:pPr>
            <a:r>
              <a:rPr sz="1000" b="1">
                <a:solidFill>
                  <a:srgbClr val="E74C3C"/>
                </a:solidFill>
                <a:latin typeface="Arial"/>
              </a:rPr>
              <a:t>ASUMIDO</a:t>
            </a:r>
          </a:p>
        </p:txBody>
      </p:sp>
      <p:sp>
        <p:nvSpPr>
          <p:cNvPr id="21" name="Rectangle 20"/>
          <p:cNvSpPr/>
          <p:nvPr/>
        </p:nvSpPr>
        <p:spPr>
          <a:xfrm>
            <a:off x="566928" y="4361688"/>
            <a:ext cx="420624" cy="420624"/>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416552"/>
            <a:ext cx="420624" cy="310896"/>
          </a:xfrm>
          <a:prstGeom prst="rect">
            <a:avLst/>
          </a:prstGeom>
          <a:noFill/>
        </p:spPr>
        <p:txBody>
          <a:bodyPr wrap="square">
            <a:spAutoFit/>
          </a:bodyPr>
          <a:lstStyle/>
          <a:p>
            <a:pPr algn="ctr">
              <a:lnSpc>
                <a:spcPct val="100000"/>
              </a:lnSpc>
            </a:pPr>
            <a:r>
              <a:rPr sz="1400" b="1">
                <a:solidFill>
                  <a:srgbClr val="FFFFFF"/>
                </a:solidFill>
                <a:latin typeface="Arial"/>
              </a:rPr>
              <a:t>4</a:t>
            </a:r>
          </a:p>
        </p:txBody>
      </p:sp>
      <p:sp>
        <p:nvSpPr>
          <p:cNvPr id="23" name="TextBox 22"/>
          <p:cNvSpPr txBox="1"/>
          <p:nvPr/>
        </p:nvSpPr>
        <p:spPr>
          <a:xfrm>
            <a:off x="1188720" y="4361688"/>
            <a:ext cx="8863279" cy="274320"/>
          </a:xfrm>
          <a:prstGeom prst="rect">
            <a:avLst/>
          </a:prstGeom>
          <a:noFill/>
        </p:spPr>
        <p:txBody>
          <a:bodyPr wrap="square">
            <a:spAutoFit/>
          </a:bodyPr>
          <a:lstStyle/>
          <a:p>
            <a:pPr algn="l">
              <a:lnSpc>
                <a:spcPct val="100000"/>
              </a:lnSpc>
            </a:pPr>
            <a:r>
              <a:rPr sz="1300" b="1">
                <a:solidFill>
                  <a:srgbClr val="2C3E50"/>
                </a:solidFill>
                <a:latin typeface="Arial"/>
              </a:rPr>
              <a:t>El nivel se ancla a la morosidad real de tienda</a:t>
            </a:r>
          </a:p>
        </p:txBody>
      </p:sp>
      <p:sp>
        <p:nvSpPr>
          <p:cNvPr id="24" name="TextBox 23"/>
          <p:cNvSpPr txBox="1"/>
          <p:nvPr/>
        </p:nvSpPr>
        <p:spPr>
          <a:xfrm>
            <a:off x="1188720" y="4636008"/>
            <a:ext cx="8863279" cy="603504"/>
          </a:xfrm>
          <a:prstGeom prst="rect">
            <a:avLst/>
          </a:prstGeom>
          <a:noFill/>
        </p:spPr>
        <p:txBody>
          <a:bodyPr wrap="square">
            <a:spAutoFit/>
          </a:bodyPr>
          <a:lstStyle/>
          <a:p>
            <a:pPr algn="l">
              <a:lnSpc>
                <a:spcPct val="118000"/>
              </a:lnSpc>
            </a:pPr>
            <a:r>
              <a:rPr sz="1100" b="0">
                <a:solidFill>
                  <a:srgbClr val="5D6D7E"/>
                </a:solidFill>
                <a:latin typeface="Arial"/>
              </a:rPr>
              <a:t>La curva de Online predice un 3,93% sobre la cartera contratada de tienda; lo realmente observado es 3,74%. Se reescala por 0,952 para que reproduzca el dato. El nivel deja de ser un supuesto: solo queda asumido el poder discriminante.</a:t>
            </a:r>
          </a:p>
        </p:txBody>
      </p:sp>
      <p:sp>
        <p:nvSpPr>
          <p:cNvPr id="25" name="TextBox 24"/>
          <p:cNvSpPr txBox="1"/>
          <p:nvPr/>
        </p:nvSpPr>
        <p:spPr>
          <a:xfrm>
            <a:off x="10161727" y="4379976"/>
            <a:ext cx="1463040" cy="274320"/>
          </a:xfrm>
          <a:prstGeom prst="rect">
            <a:avLst/>
          </a:prstGeom>
          <a:noFill/>
        </p:spPr>
        <p:txBody>
          <a:bodyPr wrap="square">
            <a:spAutoFit/>
          </a:bodyPr>
          <a:lstStyle/>
          <a:p>
            <a:pPr algn="r">
              <a:lnSpc>
                <a:spcPct val="100000"/>
              </a:lnSpc>
            </a:pPr>
            <a:r>
              <a:rPr sz="1000" b="1">
                <a:solidFill>
                  <a:srgbClr val="3498DB"/>
                </a:solidFill>
                <a:latin typeface="Arial"/>
              </a:rPr>
              <a:t>MEDIDO</a:t>
            </a:r>
          </a:p>
        </p:txBody>
      </p:sp>
      <p:sp>
        <p:nvSpPr>
          <p:cNvPr id="26" name="TextBox 25"/>
          <p:cNvSpPr txBox="1"/>
          <p:nvPr/>
        </p:nvSpPr>
        <p:spPr>
          <a:xfrm>
            <a:off x="566928" y="5806440"/>
            <a:ext cx="11057839" cy="822960"/>
          </a:xfrm>
          <a:prstGeom prst="rect">
            <a:avLst/>
          </a:prstGeom>
          <a:noFill/>
        </p:spPr>
        <p:txBody>
          <a:bodyPr wrap="square">
            <a:spAutoFit/>
          </a:bodyPr>
          <a:lstStyle/>
          <a:p>
            <a:pPr algn="l">
              <a:lnSpc>
                <a:spcPct val="120000"/>
              </a:lnSpc>
            </a:pPr>
            <a:r>
              <a:rPr sz="1150" b="0">
                <a:solidFill>
                  <a:srgbClr val="5D6D7E"/>
                </a:solidFill>
                <a:latin typeface="Arial"/>
              </a:rPr>
              <a:t>Qué significa en la práctica: si EFX discrimina en tienda peor de lo que discrimina en Online, los cortes de los escenarios se quedan cortos. Lo que ya no puede fallar es la altura de la curva, porque está calibrada contra la morosidad que tienda ha tenido de verdad.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METODOLOGÍA · ESTACIONALIDAD</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Años completos 2024 y 2025</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Cómo se anualiza</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63624"/>
            <a:ext cx="420624" cy="420624"/>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618488"/>
            <a:ext cx="420624" cy="310896"/>
          </a:xfrm>
          <a:prstGeom prst="rect">
            <a:avLst/>
          </a:prstGeom>
          <a:noFill/>
        </p:spPr>
        <p:txBody>
          <a:bodyPr wrap="square">
            <a:spAutoFit/>
          </a:bodyPr>
          <a:lstStyle/>
          <a:p>
            <a:pPr algn="ctr">
              <a:lnSpc>
                <a:spcPct val="100000"/>
              </a:lnSpc>
            </a:pPr>
            <a:r>
              <a:rPr sz="1400" b="1">
                <a:solidFill>
                  <a:srgbClr val="FFFFFF"/>
                </a:solidFill>
                <a:latin typeface="Arial"/>
              </a:rPr>
              <a:t>1</a:t>
            </a:r>
          </a:p>
        </p:txBody>
      </p:sp>
      <p:sp>
        <p:nvSpPr>
          <p:cNvPr id="8" name="TextBox 7"/>
          <p:cNvSpPr txBox="1"/>
          <p:nvPr/>
        </p:nvSpPr>
        <p:spPr>
          <a:xfrm>
            <a:off x="1188720" y="1563624"/>
            <a:ext cx="8863279" cy="274320"/>
          </a:xfrm>
          <a:prstGeom prst="rect">
            <a:avLst/>
          </a:prstGeom>
          <a:noFill/>
        </p:spPr>
        <p:txBody>
          <a:bodyPr wrap="square">
            <a:spAutoFit/>
          </a:bodyPr>
          <a:lstStyle/>
          <a:p>
            <a:pPr algn="l">
              <a:lnSpc>
                <a:spcPct val="100000"/>
              </a:lnSpc>
            </a:pPr>
            <a:r>
              <a:rPr sz="1300" b="1">
                <a:solidFill>
                  <a:srgbClr val="2C3E50"/>
                </a:solidFill>
                <a:latin typeface="Arial"/>
              </a:rPr>
              <a:t>El problema: tienda solo tiene score en ago-2026 a sep-2026</a:t>
            </a:r>
          </a:p>
        </p:txBody>
      </p:sp>
      <p:sp>
        <p:nvSpPr>
          <p:cNvPr id="9" name="TextBox 8"/>
          <p:cNvSpPr txBox="1"/>
          <p:nvPr/>
        </p:nvSpPr>
        <p:spPr>
          <a:xfrm>
            <a:off x="1188720" y="1837944"/>
            <a:ext cx="8863279" cy="603504"/>
          </a:xfrm>
          <a:prstGeom prst="rect">
            <a:avLst/>
          </a:prstGeom>
          <a:noFill/>
        </p:spPr>
        <p:txBody>
          <a:bodyPr wrap="square">
            <a:spAutoFit/>
          </a:bodyPr>
          <a:lstStyle/>
          <a:p>
            <a:pPr algn="l">
              <a:lnSpc>
                <a:spcPct val="118000"/>
              </a:lnSpc>
            </a:pPr>
            <a:r>
              <a:rPr sz="1100" b="0">
                <a:solidFill>
                  <a:srgbClr val="5D6D7E"/>
                </a:solidFill>
                <a:latin typeface="Arial"/>
              </a:rPr>
              <a:t>El score EFX se activó en tienda en ago-2026. Comparar 2 meses sueltos contra una media de doce exige saber cuánto vale cada mes.</a:t>
            </a:r>
          </a:p>
        </p:txBody>
      </p:sp>
      <p:sp>
        <p:nvSpPr>
          <p:cNvPr id="10" name="TextBox 9"/>
          <p:cNvSpPr txBox="1"/>
          <p:nvPr/>
        </p:nvSpPr>
        <p:spPr>
          <a:xfrm>
            <a:off x="10161727" y="1581912"/>
            <a:ext cx="1463040" cy="274320"/>
          </a:xfrm>
          <a:prstGeom prst="rect">
            <a:avLst/>
          </a:prstGeom>
          <a:noFill/>
        </p:spPr>
        <p:txBody>
          <a:bodyPr wrap="square">
            <a:spAutoFit/>
          </a:bodyPr>
          <a:lstStyle/>
          <a:p>
            <a:pPr algn="r">
              <a:lnSpc>
                <a:spcPct val="100000"/>
              </a:lnSpc>
            </a:pPr>
            <a:r>
              <a:rPr sz="1000" b="1">
                <a:solidFill>
                  <a:srgbClr val="3498DB"/>
                </a:solidFill>
                <a:latin typeface="Arial"/>
              </a:rPr>
              <a:t>MEDIDO</a:t>
            </a:r>
          </a:p>
        </p:txBody>
      </p:sp>
      <p:sp>
        <p:nvSpPr>
          <p:cNvPr id="11" name="Rectangle 10"/>
          <p:cNvSpPr/>
          <p:nvPr/>
        </p:nvSpPr>
        <p:spPr>
          <a:xfrm>
            <a:off x="566928" y="2496312"/>
            <a:ext cx="420624" cy="420624"/>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551176"/>
            <a:ext cx="420624" cy="310896"/>
          </a:xfrm>
          <a:prstGeom prst="rect">
            <a:avLst/>
          </a:prstGeom>
          <a:noFill/>
        </p:spPr>
        <p:txBody>
          <a:bodyPr wrap="square">
            <a:spAutoFit/>
          </a:bodyPr>
          <a:lstStyle/>
          <a:p>
            <a:pPr algn="ctr">
              <a:lnSpc>
                <a:spcPct val="100000"/>
              </a:lnSpc>
            </a:pPr>
            <a:r>
              <a:rPr sz="1400" b="1">
                <a:solidFill>
                  <a:srgbClr val="FFFFFF"/>
                </a:solidFill>
                <a:latin typeface="Arial"/>
              </a:rPr>
              <a:t>2</a:t>
            </a:r>
          </a:p>
        </p:txBody>
      </p:sp>
      <p:sp>
        <p:nvSpPr>
          <p:cNvPr id="13" name="TextBox 12"/>
          <p:cNvSpPr txBox="1"/>
          <p:nvPr/>
        </p:nvSpPr>
        <p:spPr>
          <a:xfrm>
            <a:off x="1188720" y="2496312"/>
            <a:ext cx="8863279" cy="274320"/>
          </a:xfrm>
          <a:prstGeom prst="rect">
            <a:avLst/>
          </a:prstGeom>
          <a:noFill/>
        </p:spPr>
        <p:txBody>
          <a:bodyPr wrap="square">
            <a:spAutoFit/>
          </a:bodyPr>
          <a:lstStyle/>
          <a:p>
            <a:pPr algn="l">
              <a:lnSpc>
                <a:spcPct val="100000"/>
              </a:lnSpc>
            </a:pPr>
            <a:r>
              <a:rPr sz="1300" b="1">
                <a:solidFill>
                  <a:srgbClr val="2C3E50"/>
                </a:solidFill>
                <a:latin typeface="Arial"/>
              </a:rPr>
              <a:t>Agosto y septiembre: ningún mes medio, y cada canal tiene el suyo</a:t>
            </a:r>
          </a:p>
        </p:txBody>
      </p:sp>
      <p:sp>
        <p:nvSpPr>
          <p:cNvPr id="14" name="TextBox 13"/>
          <p:cNvSpPr txBox="1"/>
          <p:nvPr/>
        </p:nvSpPr>
        <p:spPr>
          <a:xfrm>
            <a:off x="1188720" y="2770632"/>
            <a:ext cx="8863279" cy="603504"/>
          </a:xfrm>
          <a:prstGeom prst="rect">
            <a:avLst/>
          </a:prstGeom>
          <a:noFill/>
        </p:spPr>
        <p:txBody>
          <a:bodyPr wrap="square">
            <a:spAutoFit/>
          </a:bodyPr>
          <a:lstStyle/>
          <a:p>
            <a:pPr algn="l">
              <a:lnSpc>
                <a:spcPct val="118000"/>
              </a:lnSpc>
            </a:pPr>
            <a:r>
              <a:rPr sz="1100" b="0">
                <a:solidFill>
                  <a:srgbClr val="5D6D7E"/>
                </a:solidFill>
                <a:latin typeface="Arial"/>
              </a:rPr>
              <a:t>Índice de ago y sep: 0,49 / 2,03 en Online y 0,76 / 0,69 en tienda. Online concentra la demanda en el lanzamiento de iPhone (sep 2,03) y tienda en Navidad (dic 1,70). La correlación entre ambos perfiles es 0,39: no son el mismo patrón.</a:t>
            </a:r>
          </a:p>
        </p:txBody>
      </p:sp>
      <p:sp>
        <p:nvSpPr>
          <p:cNvPr id="15" name="TextBox 14"/>
          <p:cNvSpPr txBox="1"/>
          <p:nvPr/>
        </p:nvSpPr>
        <p:spPr>
          <a:xfrm>
            <a:off x="10161727" y="2514600"/>
            <a:ext cx="1463040" cy="274320"/>
          </a:xfrm>
          <a:prstGeom prst="rect">
            <a:avLst/>
          </a:prstGeom>
          <a:noFill/>
        </p:spPr>
        <p:txBody>
          <a:bodyPr wrap="square">
            <a:spAutoFit/>
          </a:bodyPr>
          <a:lstStyle/>
          <a:p>
            <a:pPr algn="r">
              <a:lnSpc>
                <a:spcPct val="100000"/>
              </a:lnSpc>
            </a:pPr>
            <a:r>
              <a:rPr sz="1000" b="1">
                <a:solidFill>
                  <a:srgbClr val="3498DB"/>
                </a:solidFill>
                <a:latin typeface="Arial"/>
              </a:rPr>
              <a:t>MEDIDO</a:t>
            </a:r>
          </a:p>
        </p:txBody>
      </p:sp>
      <p:sp>
        <p:nvSpPr>
          <p:cNvPr id="16" name="Rectangle 15"/>
          <p:cNvSpPr/>
          <p:nvPr/>
        </p:nvSpPr>
        <p:spPr>
          <a:xfrm>
            <a:off x="566928" y="3429000"/>
            <a:ext cx="420624" cy="420624"/>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483864"/>
            <a:ext cx="420624" cy="310896"/>
          </a:xfrm>
          <a:prstGeom prst="rect">
            <a:avLst/>
          </a:prstGeom>
          <a:noFill/>
        </p:spPr>
        <p:txBody>
          <a:bodyPr wrap="square">
            <a:spAutoFit/>
          </a:bodyPr>
          <a:lstStyle/>
          <a:p>
            <a:pPr algn="ctr">
              <a:lnSpc>
                <a:spcPct val="100000"/>
              </a:lnSpc>
            </a:pPr>
            <a:r>
              <a:rPr sz="1400" b="1">
                <a:solidFill>
                  <a:srgbClr val="FFFFFF"/>
                </a:solidFill>
                <a:latin typeface="Arial"/>
              </a:rPr>
              <a:t>3</a:t>
            </a:r>
          </a:p>
        </p:txBody>
      </p:sp>
      <p:sp>
        <p:nvSpPr>
          <p:cNvPr id="18" name="TextBox 17"/>
          <p:cNvSpPr txBox="1"/>
          <p:nvPr/>
        </p:nvSpPr>
        <p:spPr>
          <a:xfrm>
            <a:off x="1188720" y="3429000"/>
            <a:ext cx="8863279" cy="274320"/>
          </a:xfrm>
          <a:prstGeom prst="rect">
            <a:avLst/>
          </a:prstGeom>
          <a:noFill/>
        </p:spPr>
        <p:txBody>
          <a:bodyPr wrap="square">
            <a:spAutoFit/>
          </a:bodyPr>
          <a:lstStyle/>
          <a:p>
            <a:pPr algn="l">
              <a:lnSpc>
                <a:spcPct val="100000"/>
              </a:lnSpc>
            </a:pPr>
            <a:r>
              <a:rPr sz="1300" b="1">
                <a:solidFill>
                  <a:srgbClr val="2C3E50"/>
                </a:solidFill>
                <a:latin typeface="Arial"/>
              </a:rPr>
              <a:t>Meses efectivos en vez de meses de calendario</a:t>
            </a:r>
          </a:p>
        </p:txBody>
      </p:sp>
      <p:sp>
        <p:nvSpPr>
          <p:cNvPr id="19" name="TextBox 18"/>
          <p:cNvSpPr txBox="1"/>
          <p:nvPr/>
        </p:nvSpPr>
        <p:spPr>
          <a:xfrm>
            <a:off x="1188720" y="3703320"/>
            <a:ext cx="8863279" cy="603504"/>
          </a:xfrm>
          <a:prstGeom prst="rect">
            <a:avLst/>
          </a:prstGeom>
          <a:noFill/>
        </p:spPr>
        <p:txBody>
          <a:bodyPr wrap="square">
            <a:spAutoFit/>
          </a:bodyPr>
          <a:lstStyle/>
          <a:p>
            <a:pPr algn="l">
              <a:lnSpc>
                <a:spcPct val="118000"/>
              </a:lnSpc>
            </a:pPr>
            <a:r>
              <a:rPr sz="1100" b="0">
                <a:solidFill>
                  <a:srgbClr val="5D6D7E"/>
                </a:solidFill>
                <a:latin typeface="Arial"/>
              </a:rPr>
              <a:t>El run-rate no se divide por el número de meses sino por la suma del índice estacional de los meses cubiertos. Una ventana natural completa suma 12,00 y no altera nada; la ventana de tienda (ago-2026 a sep-2026) suma 1,45 y corrige por caer en meses flojos de tienda.</a:t>
            </a:r>
          </a:p>
        </p:txBody>
      </p:sp>
      <p:sp>
        <p:nvSpPr>
          <p:cNvPr id="20" name="TextBox 19"/>
          <p:cNvSpPr txBox="1"/>
          <p:nvPr/>
        </p:nvSpPr>
        <p:spPr>
          <a:xfrm>
            <a:off x="10161727" y="3447288"/>
            <a:ext cx="1463040" cy="274320"/>
          </a:xfrm>
          <a:prstGeom prst="rect">
            <a:avLst/>
          </a:prstGeom>
          <a:noFill/>
        </p:spPr>
        <p:txBody>
          <a:bodyPr wrap="square">
            <a:spAutoFit/>
          </a:bodyPr>
          <a:lstStyle/>
          <a:p>
            <a:pPr algn="r">
              <a:lnSpc>
                <a:spcPct val="100000"/>
              </a:lnSpc>
            </a:pPr>
            <a:r>
              <a:rPr sz="1000" b="1">
                <a:solidFill>
                  <a:srgbClr val="5D6D7E"/>
                </a:solidFill>
                <a:latin typeface="Arial"/>
              </a:rPr>
              <a:t>CORREGIDO</a:t>
            </a:r>
          </a:p>
        </p:txBody>
      </p:sp>
      <p:sp>
        <p:nvSpPr>
          <p:cNvPr id="21" name="Rectangle 20"/>
          <p:cNvSpPr/>
          <p:nvPr/>
        </p:nvSpPr>
        <p:spPr>
          <a:xfrm>
            <a:off x="566928" y="4361688"/>
            <a:ext cx="420624" cy="420624"/>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416552"/>
            <a:ext cx="420624" cy="310896"/>
          </a:xfrm>
          <a:prstGeom prst="rect">
            <a:avLst/>
          </a:prstGeom>
          <a:noFill/>
        </p:spPr>
        <p:txBody>
          <a:bodyPr wrap="square">
            <a:spAutoFit/>
          </a:bodyPr>
          <a:lstStyle/>
          <a:p>
            <a:pPr algn="ctr">
              <a:lnSpc>
                <a:spcPct val="100000"/>
              </a:lnSpc>
            </a:pPr>
            <a:r>
              <a:rPr sz="1400" b="1">
                <a:solidFill>
                  <a:srgbClr val="FFFFFF"/>
                </a:solidFill>
                <a:latin typeface="Arial"/>
              </a:rPr>
              <a:t>4</a:t>
            </a:r>
          </a:p>
        </p:txBody>
      </p:sp>
      <p:sp>
        <p:nvSpPr>
          <p:cNvPr id="23" name="TextBox 22"/>
          <p:cNvSpPr txBox="1"/>
          <p:nvPr/>
        </p:nvSpPr>
        <p:spPr>
          <a:xfrm>
            <a:off x="1188720" y="4361688"/>
            <a:ext cx="8863279" cy="274320"/>
          </a:xfrm>
          <a:prstGeom prst="rect">
            <a:avLst/>
          </a:prstGeom>
          <a:noFill/>
        </p:spPr>
        <p:txBody>
          <a:bodyPr wrap="square">
            <a:spAutoFit/>
          </a:bodyPr>
          <a:lstStyle/>
          <a:p>
            <a:pPr algn="l">
              <a:lnSpc>
                <a:spcPct val="100000"/>
              </a:lnSpc>
            </a:pPr>
            <a:r>
              <a:rPr sz="1300" b="1">
                <a:solidFill>
                  <a:srgbClr val="2C3E50"/>
                </a:solidFill>
                <a:latin typeface="Arial"/>
              </a:rPr>
              <a:t>Efecto sobre el peso de tienda en Apple Total</a:t>
            </a:r>
          </a:p>
        </p:txBody>
      </p:sp>
      <p:sp>
        <p:nvSpPr>
          <p:cNvPr id="24" name="TextBox 23"/>
          <p:cNvSpPr txBox="1"/>
          <p:nvPr/>
        </p:nvSpPr>
        <p:spPr>
          <a:xfrm>
            <a:off x="1188720" y="4636008"/>
            <a:ext cx="8863279" cy="603504"/>
          </a:xfrm>
          <a:prstGeom prst="rect">
            <a:avLst/>
          </a:prstGeom>
          <a:noFill/>
        </p:spPr>
        <p:txBody>
          <a:bodyPr wrap="square">
            <a:spAutoFit/>
          </a:bodyPr>
          <a:lstStyle/>
          <a:p>
            <a:pPr algn="l">
              <a:lnSpc>
                <a:spcPct val="118000"/>
              </a:lnSpc>
            </a:pPr>
            <a:r>
              <a:rPr sz="1100" b="0">
                <a:solidFill>
                  <a:srgbClr val="5D6D7E"/>
                </a:solidFill>
                <a:latin typeface="Arial"/>
              </a:rPr>
              <a:t>Sin corregir, tienda parecía pesar el 23% de la demanda. Con su estacionalidad propia pesa el 29%. Si se le hubiera aplicado la de Online —lo único posible antes de tener su histórico— habríamos dicho 19%, y todos los escenarios saldrían con menos producción de la real.</a:t>
            </a:r>
          </a:p>
        </p:txBody>
      </p:sp>
      <p:sp>
        <p:nvSpPr>
          <p:cNvPr id="25" name="TextBox 24"/>
          <p:cNvSpPr txBox="1"/>
          <p:nvPr/>
        </p:nvSpPr>
        <p:spPr>
          <a:xfrm>
            <a:off x="10161727" y="4379976"/>
            <a:ext cx="1463040" cy="274320"/>
          </a:xfrm>
          <a:prstGeom prst="rect">
            <a:avLst/>
          </a:prstGeom>
          <a:noFill/>
        </p:spPr>
        <p:txBody>
          <a:bodyPr wrap="square">
            <a:spAutoFit/>
          </a:bodyPr>
          <a:lstStyle/>
          <a:p>
            <a:pPr algn="r">
              <a:lnSpc>
                <a:spcPct val="100000"/>
              </a:lnSpc>
            </a:pPr>
            <a:r>
              <a:rPr sz="1000" b="1">
                <a:solidFill>
                  <a:srgbClr val="3498DB"/>
                </a:solidFill>
                <a:latin typeface="Arial"/>
              </a:rPr>
              <a:t>MEDIDO</a:t>
            </a:r>
          </a:p>
        </p:txBody>
      </p:sp>
      <p:sp>
        <p:nvSpPr>
          <p:cNvPr id="26" name="TextBox 25"/>
          <p:cNvSpPr txBox="1"/>
          <p:nvPr/>
        </p:nvSpPr>
        <p:spPr>
          <a:xfrm>
            <a:off x="566928" y="5806440"/>
            <a:ext cx="11057839" cy="822960"/>
          </a:xfrm>
          <a:prstGeom prst="rect">
            <a:avLst/>
          </a:prstGeom>
          <a:noFill/>
        </p:spPr>
        <p:txBody>
          <a:bodyPr wrap="square">
            <a:spAutoFit/>
          </a:bodyPr>
          <a:lstStyle/>
          <a:p>
            <a:pPr algn="l">
              <a:lnSpc>
                <a:spcPct val="120000"/>
              </a:lnSpc>
            </a:pPr>
            <a:r>
              <a:rPr sz="1150" b="0">
                <a:solidFill>
                  <a:srgbClr val="5D6D7E"/>
                </a:solidFill>
                <a:latin typeface="Arial"/>
              </a:rPr>
              <a:t>El índice se estima promediando años naturales completos, de modo que el crecimiento de volumen entre años no se confunda con estacionalidad. Lo que queda abierto es si el mix de ago-2026 a sep-2026 en tienda es representativo del año.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ANEXO · EL MOTOR DEL ESTUDIO</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Originación mar-2025 a feb-2026</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El score EFX ordena el riesgo en e-commerce</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urva.png"/>
          <p:cNvPicPr>
            <a:picLocks noChangeAspect="1"/>
          </p:cNvPicPr>
          <p:nvPr/>
        </p:nvPicPr>
        <p:blipFill>
          <a:blip r:embed="rId2"/>
          <a:stretch>
            <a:fillRect/>
          </a:stretch>
        </p:blipFill>
        <p:spPr>
          <a:xfrm>
            <a:off x="1798613" y="1563624"/>
            <a:ext cx="8594469" cy="4425696"/>
          </a:xfrm>
          <a:prstGeom prst="rect">
            <a:avLst/>
          </a:prstGeom>
        </p:spPr>
      </p:pic>
      <p:sp>
        <p:nvSpPr>
          <p:cNvPr id="7" name="TextBox 6"/>
          <p:cNvSpPr txBox="1"/>
          <p:nvPr/>
        </p:nvSpPr>
        <p:spPr>
          <a:xfrm>
            <a:off x="566928" y="6071616"/>
            <a:ext cx="11057839" cy="548640"/>
          </a:xfrm>
          <a:prstGeom prst="rect">
            <a:avLst/>
          </a:prstGeom>
          <a:noFill/>
        </p:spPr>
        <p:txBody>
          <a:bodyPr wrap="square">
            <a:spAutoFit/>
          </a:bodyPr>
          <a:lstStyle/>
          <a:p>
            <a:pPr algn="l">
              <a:lnSpc>
                <a:spcPct val="120000"/>
              </a:lnSpc>
            </a:pPr>
            <a:r>
              <a:rPr sz="1150" b="0">
                <a:solidFill>
                  <a:srgbClr val="5D6D7E"/>
                </a:solidFill>
                <a:latin typeface="Arial"/>
              </a:rPr>
              <a:t>La curva de riesgo por tramo es lo único medido del estudio. Todo lo demás —el riesgo de tienda, los escenarios— se deriva de ella.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ANEXO · DESGLOSE POR SEGMENTO</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Tienda ago-2026 a sep-2026</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De dónde sale la mejora en tienda</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ienda_segmentos.png"/>
          <p:cNvPicPr>
            <a:picLocks noChangeAspect="1"/>
          </p:cNvPicPr>
          <p:nvPr/>
        </p:nvPicPr>
        <p:blipFill>
          <a:blip r:embed="rId2"/>
          <a:stretch>
            <a:fillRect/>
          </a:stretch>
        </p:blipFill>
        <p:spPr>
          <a:xfrm>
            <a:off x="648653" y="1563624"/>
            <a:ext cx="10894388" cy="4425696"/>
          </a:xfrm>
          <a:prstGeom prst="rect">
            <a:avLst/>
          </a:prstGeom>
        </p:spPr>
      </p:pic>
      <p:sp>
        <p:nvSpPr>
          <p:cNvPr id="7" name="TextBox 6"/>
          <p:cNvSpPr txBox="1"/>
          <p:nvPr/>
        </p:nvSpPr>
        <p:spPr>
          <a:xfrm>
            <a:off x="566928" y="6071616"/>
            <a:ext cx="11057839" cy="548640"/>
          </a:xfrm>
          <a:prstGeom prst="rect">
            <a:avLst/>
          </a:prstGeom>
          <a:noFill/>
        </p:spPr>
        <p:txBody>
          <a:bodyPr wrap="square">
            <a:spAutoFit/>
          </a:bodyPr>
          <a:lstStyle/>
          <a:p>
            <a:pPr algn="l">
              <a:lnSpc>
                <a:spcPct val="120000"/>
              </a:lnSpc>
            </a:pPr>
            <a:r>
              <a:rPr sz="1150" b="0">
                <a:solidFill>
                  <a:srgbClr val="5D6D7E"/>
                </a:solidFill>
                <a:latin typeface="Arial"/>
              </a:rPr>
              <a:t>'New' concentra el 81% de la demanda de tienda y es donde el riesgo baja. El take-up se mide por segmento y por decisión del motor (aprobada / en revisión). '&gt;=G' no aparece: se rechaza siempre, así que no tiene ni aceptación ni riesgo.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ANEXO · ANUALIZACIÓN</a:t>
            </a:r>
          </a:p>
        </p:txBody>
      </p:sp>
      <p:sp>
        <p:nvSpPr>
          <p:cNvPr id="3" name="TextBox 2"/>
          <p:cNvSpPr txBox="1"/>
          <p:nvPr/>
        </p:nvSpPr>
        <p:spPr>
          <a:xfrm>
            <a:off x="6869887" y="384048"/>
            <a:ext cx="4754880" cy="274320"/>
          </a:xfrm>
          <a:prstGeom prst="rect">
            <a:avLst/>
          </a:prstGeom>
          <a:noFill/>
        </p:spPr>
        <p:txBody>
          <a:bodyPr wrap="square">
            <a:spAutoFit/>
          </a:bodyPr>
          <a:lstStyle/>
          <a:p>
            <a:pPr algn="r">
              <a:lnSpc>
                <a:spcPct val="100000"/>
              </a:lnSpc>
            </a:pPr>
            <a:r>
              <a:rPr sz="1100" b="0">
                <a:solidFill>
                  <a:srgbClr val="5D6D7E"/>
                </a:solidFill>
                <a:latin typeface="Arial"/>
              </a:rPr>
              <a:t>Años completos 2024 y 2025</a:t>
            </a:r>
          </a:p>
        </p:txBody>
      </p:sp>
      <p:sp>
        <p:nvSpPr>
          <p:cNvPr id="4" name="TextBox 3"/>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Los dos canales no comparten estacionalidad</a:t>
            </a:r>
          </a:p>
        </p:txBody>
      </p:sp>
      <p:sp>
        <p:nvSpPr>
          <p:cNvPr id="5" name="Rectangle 4"/>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stacional.png"/>
          <p:cNvPicPr>
            <a:picLocks noChangeAspect="1"/>
          </p:cNvPicPr>
          <p:nvPr/>
        </p:nvPicPr>
        <p:blipFill>
          <a:blip r:embed="rId2"/>
          <a:stretch>
            <a:fillRect/>
          </a:stretch>
        </p:blipFill>
        <p:spPr>
          <a:xfrm>
            <a:off x="1283034" y="1563624"/>
            <a:ext cx="9625627" cy="4425696"/>
          </a:xfrm>
          <a:prstGeom prst="rect">
            <a:avLst/>
          </a:prstGeom>
        </p:spPr>
      </p:pic>
      <p:sp>
        <p:nvSpPr>
          <p:cNvPr id="7" name="TextBox 6"/>
          <p:cNvSpPr txBox="1"/>
          <p:nvPr/>
        </p:nvSpPr>
        <p:spPr>
          <a:xfrm>
            <a:off x="566928" y="6071616"/>
            <a:ext cx="11057839" cy="548640"/>
          </a:xfrm>
          <a:prstGeom prst="rect">
            <a:avLst/>
          </a:prstGeom>
          <a:noFill/>
        </p:spPr>
        <p:txBody>
          <a:bodyPr wrap="square">
            <a:spAutoFit/>
          </a:bodyPr>
          <a:lstStyle/>
          <a:p>
            <a:pPr algn="l">
              <a:lnSpc>
                <a:spcPct val="120000"/>
              </a:lnSpc>
            </a:pPr>
            <a:r>
              <a:rPr sz="1150" b="0">
                <a:solidFill>
                  <a:srgbClr val="5D6D7E"/>
                </a:solidFill>
                <a:latin typeface="Arial"/>
              </a:rPr>
              <a:t>Tienda solo tiene score en ago-2026 a sep-2026, así que su peso en Apple depende de cómo se anualice. Tienda tiene su pico en diciembre y septiembre es su mes más flojo, el contrario de Online: usar la curva de Online le habría rebajado el peso al 19% cuando con su propia estacionalidad es el 29%.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6400800" cy="274320"/>
          </a:xfrm>
          <a:prstGeom prst="rect">
            <a:avLst/>
          </a:prstGeom>
          <a:noFill/>
        </p:spPr>
        <p:txBody>
          <a:bodyPr wrap="square">
            <a:spAutoFit/>
          </a:bodyPr>
          <a:lstStyle/>
          <a:p>
            <a:pPr algn="l">
              <a:lnSpc>
                <a:spcPct val="100000"/>
              </a:lnSpc>
            </a:pPr>
            <a:r>
              <a:rPr sz="1100" b="1">
                <a:solidFill>
                  <a:srgbClr val="3498DB"/>
                </a:solidFill>
                <a:latin typeface="Arial"/>
              </a:rPr>
              <a:t>LIMITACIONES Y SIGUIENTES PASOS</a:t>
            </a:r>
          </a:p>
        </p:txBody>
      </p:sp>
      <p:sp>
        <p:nvSpPr>
          <p:cNvPr id="3" name="TextBox 2"/>
          <p:cNvSpPr txBox="1"/>
          <p:nvPr/>
        </p:nvSpPr>
        <p:spPr>
          <a:xfrm>
            <a:off x="566928" y="694944"/>
            <a:ext cx="11057839" cy="548640"/>
          </a:xfrm>
          <a:prstGeom prst="rect">
            <a:avLst/>
          </a:prstGeom>
          <a:noFill/>
        </p:spPr>
        <p:txBody>
          <a:bodyPr wrap="square">
            <a:spAutoFit/>
          </a:bodyPr>
          <a:lstStyle/>
          <a:p>
            <a:pPr algn="l">
              <a:lnSpc>
                <a:spcPct val="100000"/>
              </a:lnSpc>
            </a:pPr>
            <a:r>
              <a:rPr sz="2600" b="1">
                <a:solidFill>
                  <a:srgbClr val="2C3E50"/>
                </a:solidFill>
                <a:latin typeface="Arial"/>
              </a:rPr>
              <a:t>Qué falta y qué haría falta decidir</a:t>
            </a:r>
          </a:p>
        </p:txBody>
      </p:sp>
      <p:sp>
        <p:nvSpPr>
          <p:cNvPr id="4" name="Rectangle 3"/>
          <p:cNvSpPr/>
          <p:nvPr/>
        </p:nvSpPr>
        <p:spPr>
          <a:xfrm>
            <a:off x="566928" y="1353312"/>
            <a:ext cx="11057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63624"/>
            <a:ext cx="5394960" cy="365760"/>
          </a:xfrm>
          <a:prstGeom prst="rect">
            <a:avLst/>
          </a:prstGeom>
          <a:noFill/>
        </p:spPr>
        <p:txBody>
          <a:bodyPr wrap="square">
            <a:spAutoFit/>
          </a:bodyPr>
          <a:lstStyle/>
          <a:p>
            <a:pPr algn="l">
              <a:lnSpc>
                <a:spcPct val="100000"/>
              </a:lnSpc>
            </a:pPr>
            <a:r>
              <a:rPr sz="1500" b="1">
                <a:solidFill>
                  <a:srgbClr val="E74C3C"/>
                </a:solidFill>
                <a:latin typeface="Arial"/>
              </a:rPr>
              <a:t>Limitaciones del estudio</a:t>
            </a:r>
          </a:p>
        </p:txBody>
      </p:sp>
      <p:sp>
        <p:nvSpPr>
          <p:cNvPr id="6" name="TextBox 5"/>
          <p:cNvSpPr txBox="1"/>
          <p:nvPr/>
        </p:nvSpPr>
        <p:spPr>
          <a:xfrm>
            <a:off x="566928" y="2020824"/>
            <a:ext cx="5394960" cy="4471416"/>
          </a:xfrm>
          <a:prstGeom prst="rect">
            <a:avLst/>
          </a:prstGeom>
          <a:noFill/>
        </p:spPr>
        <p:txBody>
          <a:bodyPr wrap="square">
            <a:spAutoFit/>
          </a:bodyPr>
          <a:lstStyle/>
          <a:p>
            <a:pPr>
              <a:spcAft>
                <a:spcPts val="900"/>
              </a:spcAft>
            </a:pPr>
            <a:r>
              <a:rPr sz="1200" b="1">
                <a:solidFill>
                  <a:srgbClr val="2C3E50"/>
                </a:solidFill>
                <a:latin typeface="Arial"/>
              </a:rPr>
              <a:t>Riesgo de tienda estimado.  </a:t>
            </a:r>
            <a:r>
              <a:rPr sz="1200">
                <a:solidFill>
                  <a:srgbClr val="5D6D7E"/>
                </a:solidFill>
                <a:latin typeface="Arial"/>
              </a:rPr>
              <a:t>Las operaciones de tienda con EFX tienen 0-2 meses y no tienen comportamiento observable. H3 hacia dic-2026, H6 hacia mar-2027.</a:t>
            </a:r>
          </a:p>
          <a:p>
            <a:pPr>
              <a:spcAft>
                <a:spcPts val="900"/>
              </a:spcAft>
            </a:pPr>
            <a:r>
              <a:rPr sz="1200" b="1">
                <a:solidFill>
                  <a:srgbClr val="2C3E50"/>
                </a:solidFill>
                <a:latin typeface="Arial"/>
              </a:rPr>
              <a:t>Comparación condicional.  </a:t>
            </a:r>
            <a:r>
              <a:rPr sz="1200">
                <a:solidFill>
                  <a:srgbClr val="5D6D7E"/>
                </a:solidFill>
                <a:latin typeface="Arial"/>
              </a:rPr>
              <a:t>El score interno y EFX se comparan con la vara de EFX. No demuestra que EFX sea mejor en tienda: lo asume. Lo contrastado es el nivel de riesgo, no el poder discriminante.</a:t>
            </a:r>
          </a:p>
          <a:p>
            <a:pPr>
              <a:spcAft>
                <a:spcPts val="900"/>
              </a:spcAft>
            </a:pPr>
            <a:r>
              <a:rPr sz="1200" b="1">
                <a:solidFill>
                  <a:srgbClr val="2C3E50"/>
                </a:solidFill>
                <a:latin typeface="Arial"/>
              </a:rPr>
              <a:t>Tramos bajos débiles.  </a:t>
            </a:r>
            <a:r>
              <a:rPr sz="1200">
                <a:solidFill>
                  <a:srgbClr val="5D6D7E"/>
                </a:solidFill>
                <a:latin typeface="Arial"/>
              </a:rPr>
              <a:t>Los tramos 1-6 apenas tienen producción, y es donde más pesa el uplift por selección (2,4x). Son los que abren el escenario más laxo.</a:t>
            </a:r>
          </a:p>
          <a:p>
            <a:pPr>
              <a:spcAft>
                <a:spcPts val="900"/>
              </a:spcAft>
            </a:pPr>
            <a:r>
              <a:rPr sz="1200" b="1">
                <a:solidFill>
                  <a:srgbClr val="2C3E50"/>
                </a:solidFill>
                <a:latin typeface="Arial"/>
              </a:rPr>
              <a:t>Solo ago-2026 a sep-2026 en tienda.  </a:t>
            </a:r>
            <a:r>
              <a:rPr sz="1200">
                <a:solidFill>
                  <a:srgbClr val="5D6D7E"/>
                </a:solidFill>
                <a:latin typeface="Arial"/>
              </a:rPr>
              <a:t>Su estacionalidad propia ya está medida, pero el mix de 2 meses puede no ser representativo, y su demanda va un 40% por encima de la media de la ventana de 'hoy': parte de la mejora frente a lo medido es volumen, no parrilla.</a:t>
            </a:r>
          </a:p>
        </p:txBody>
      </p:sp>
      <p:sp>
        <p:nvSpPr>
          <p:cNvPr id="7" name="TextBox 6"/>
          <p:cNvSpPr txBox="1"/>
          <p:nvPr/>
        </p:nvSpPr>
        <p:spPr>
          <a:xfrm>
            <a:off x="6327648" y="1563624"/>
            <a:ext cx="5394960" cy="365760"/>
          </a:xfrm>
          <a:prstGeom prst="rect">
            <a:avLst/>
          </a:prstGeom>
          <a:noFill/>
        </p:spPr>
        <p:txBody>
          <a:bodyPr wrap="square">
            <a:spAutoFit/>
          </a:bodyPr>
          <a:lstStyle/>
          <a:p>
            <a:pPr algn="l">
              <a:lnSpc>
                <a:spcPct val="100000"/>
              </a:lnSpc>
            </a:pPr>
            <a:r>
              <a:rPr sz="1500" b="1">
                <a:solidFill>
                  <a:srgbClr val="3498DB"/>
                </a:solidFill>
                <a:latin typeface="Arial"/>
              </a:rPr>
              <a:t>Siguientes pasos</a:t>
            </a:r>
          </a:p>
        </p:txBody>
      </p:sp>
      <p:sp>
        <p:nvSpPr>
          <p:cNvPr id="8" name="TextBox 7"/>
          <p:cNvSpPr txBox="1"/>
          <p:nvPr/>
        </p:nvSpPr>
        <p:spPr>
          <a:xfrm>
            <a:off x="6327648" y="2020824"/>
            <a:ext cx="5394960" cy="4471416"/>
          </a:xfrm>
          <a:prstGeom prst="rect">
            <a:avLst/>
          </a:prstGeom>
          <a:noFill/>
        </p:spPr>
        <p:txBody>
          <a:bodyPr wrap="square">
            <a:spAutoFit/>
          </a:bodyPr>
          <a:lstStyle/>
          <a:p>
            <a:pPr>
              <a:spcAft>
                <a:spcPts val="900"/>
              </a:spcAft>
            </a:pPr>
            <a:r>
              <a:rPr sz="1200" b="1">
                <a:solidFill>
                  <a:srgbClr val="2C3E50"/>
                </a:solidFill>
                <a:latin typeface="Arial"/>
              </a:rPr>
              <a:t>Extracción.  </a:t>
            </a:r>
            <a:r>
              <a:rPr sz="1200">
                <a:solidFill>
                  <a:srgbClr val="5D6D7E"/>
                </a:solidFill>
                <a:latin typeface="Arial"/>
              </a:rPr>
              <a:t>Refresco de Online a sep-2026, score EFX en tienda y su histórico de comportamiento para anclar el nivel de riesgo.</a:t>
            </a:r>
          </a:p>
          <a:p>
            <a:pPr>
              <a:spcAft>
                <a:spcPts val="900"/>
              </a:spcAft>
            </a:pPr>
            <a:r>
              <a:rPr sz="1200" b="1">
                <a:solidFill>
                  <a:srgbClr val="2C3E50"/>
                </a:solidFill>
                <a:latin typeface="Arial"/>
              </a:rPr>
              <a:t>Decisión de negocio.  </a:t>
            </a:r>
            <a:r>
              <a:rPr sz="1200">
                <a:solidFill>
                  <a:srgbClr val="5D6D7E"/>
                </a:solidFill>
                <a:latin typeface="Arial"/>
              </a:rPr>
              <a:t>Objetivo de riesgo global y si el corte es único o por segmento.</a:t>
            </a:r>
          </a:p>
          <a:p>
            <a:pPr>
              <a:spcAft>
                <a:spcPts val="900"/>
              </a:spcAft>
            </a:pPr>
            <a:r>
              <a:rPr sz="1200" b="1">
                <a:solidFill>
                  <a:srgbClr val="2C3E50"/>
                </a:solidFill>
                <a:latin typeface="Arial"/>
              </a:rPr>
              <a:t>Validación.  </a:t>
            </a:r>
            <a:r>
              <a:rPr sz="1200">
                <a:solidFill>
                  <a:srgbClr val="5D6D7E"/>
                </a:solidFill>
                <a:latin typeface="Arial"/>
              </a:rPr>
              <a:t>Repetir con el pipeline completo: reject inference, intervalos de confianza y auditoría swap-in / swap-out.</a:t>
            </a:r>
          </a:p>
          <a:p>
            <a:pPr>
              <a:spcAft>
                <a:spcPts val="900"/>
              </a:spcAft>
            </a:pPr>
            <a:r>
              <a:rPr sz="1200" b="1">
                <a:solidFill>
                  <a:srgbClr val="2C3E50"/>
                </a:solidFill>
                <a:latin typeface="Arial"/>
              </a:rPr>
              <a:t>Medición.  </a:t>
            </a:r>
            <a:r>
              <a:rPr sz="1200">
                <a:solidFill>
                  <a:srgbClr val="5D6D7E"/>
                </a:solidFill>
                <a:latin typeface="Arial"/>
              </a:rPr>
              <a:t>Revisar en dic-2026 con H3 y en mar-2027 con H6 reales de tienda.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