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349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737360"/>
            <a:ext cx="11057839" cy="365760"/>
          </a:xfrm>
          <a:prstGeom prst="rect">
            <a:avLst/>
          </a:prstGeom>
          <a:noFill/>
        </p:spPr>
        <p:txBody>
          <a:bodyPr wrap="square">
            <a:spAutoFit/>
          </a:bodyPr>
          <a:lstStyle/>
          <a:p>
            <a:pPr algn="l">
              <a:lnSpc>
                <a:spcPct val="100000"/>
              </a:lnSpc>
            </a:pPr>
            <a:r>
              <a:rPr sz="1300" b="1">
                <a:solidFill>
                  <a:srgbClr val="3498DB"/>
                </a:solidFill>
                <a:latin typeface="Arial"/>
              </a:rPr>
              <a:t>ESTUDIO DE RIESGO · APPLE</a:t>
            </a:r>
          </a:p>
        </p:txBody>
      </p:sp>
      <p:sp>
        <p:nvSpPr>
          <p:cNvPr id="4" name="TextBox 3"/>
          <p:cNvSpPr txBox="1"/>
          <p:nvPr/>
        </p:nvSpPr>
        <p:spPr>
          <a:xfrm>
            <a:off x="566928" y="2148840"/>
            <a:ext cx="11057839" cy="1371600"/>
          </a:xfrm>
          <a:prstGeom prst="rect">
            <a:avLst/>
          </a:prstGeom>
          <a:noFill/>
        </p:spPr>
        <p:txBody>
          <a:bodyPr wrap="square">
            <a:spAutoFit/>
          </a:bodyPr>
          <a:lstStyle/>
          <a:p>
            <a:pPr algn="l">
              <a:lnSpc>
                <a:spcPct val="105000"/>
              </a:lnSpc>
            </a:pPr>
            <a:r>
              <a:rPr sz="4000" b="1">
                <a:solidFill>
                  <a:srgbClr val="2C3E50"/>
                </a:solidFill>
                <a:latin typeface="Arial"/>
              </a:rPr>
              <a:t>Extensión del score Equifax</a:t>
            </a:r>
          </a:p>
          <a:p>
            <a:pPr algn="l">
              <a:lnSpc>
                <a:spcPct val="105000"/>
              </a:lnSpc>
            </a:pPr>
            <a:r>
              <a:rPr sz="4000" b="1">
                <a:solidFill>
                  <a:srgbClr val="2C3E50"/>
                </a:solidFill>
                <a:latin typeface="Arial"/>
              </a:rPr>
              <a:t>de e-commerce a tienda</a:t>
            </a:r>
          </a:p>
        </p:txBody>
      </p:sp>
      <p:sp>
        <p:nvSpPr>
          <p:cNvPr id="5" name="TextBox 4"/>
          <p:cNvSpPr txBox="1"/>
          <p:nvPr/>
        </p:nvSpPr>
        <p:spPr>
          <a:xfrm>
            <a:off x="566928" y="3886200"/>
            <a:ext cx="7863840" cy="1097280"/>
          </a:xfrm>
          <a:prstGeom prst="rect">
            <a:avLst/>
          </a:prstGeom>
          <a:noFill/>
        </p:spPr>
        <p:txBody>
          <a:bodyPr wrap="square">
            <a:spAutoFit/>
          </a:bodyPr>
          <a:lstStyle/>
          <a:p>
            <a:pPr algn="l">
              <a:lnSpc>
                <a:spcPct val="125000"/>
              </a:lnSpc>
            </a:pPr>
            <a:r>
              <a:rPr sz="1500" b="0">
                <a:solidFill>
                  <a:srgbClr val="5D6D7E"/>
                </a:solidFill>
                <a:latin typeface="Arial"/>
              </a:rPr>
              <a:t>Aplicar la parrilla de Apple Online a Apple Stores gana aceptación y baja riesgo a la vez. El riesgo de tienda sigue siendo estimado, pero su nivel ya está anclado a la morosidad real de tienda: solo se asume que el score ordena igual, no cuánto riesgo hay.</a:t>
            </a:r>
          </a:p>
        </p:txBody>
      </p:sp>
      <p:sp>
        <p:nvSpPr>
          <p:cNvPr id="6" name="TextBox 5"/>
          <p:cNvSpPr txBox="1"/>
          <p:nvPr/>
        </p:nvSpPr>
        <p:spPr>
          <a:xfrm>
            <a:off x="566928" y="5852160"/>
            <a:ext cx="11057839" cy="365760"/>
          </a:xfrm>
          <a:prstGeom prst="rect">
            <a:avLst/>
          </a:prstGeom>
          <a:noFill/>
        </p:spPr>
        <p:txBody>
          <a:bodyPr wrap="square">
            <a:spAutoFit/>
          </a:bodyPr>
          <a:lstStyle/>
          <a:p>
            <a:pPr algn="l">
              <a:lnSpc>
                <a:spcPct val="100000"/>
              </a:lnSpc>
            </a:pPr>
            <a:r>
              <a:rPr sz="1100" b="0">
                <a:solidFill>
                  <a:srgbClr val="5D6D7E"/>
                </a:solidFill>
                <a:latin typeface="Arial"/>
              </a:rPr>
              <a:t>Riesgos  ·  02-10-2026  ·  perímetro Apple Propio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RESUMEN EJECUTIVO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mar-2025 a feb-2026  ·  tienda ago-2026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Lo que dice el estudio</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Riesgo real Apple Online</a:t>
            </a:r>
          </a:p>
        </p:txBody>
      </p:sp>
      <p:sp>
        <p:nvSpPr>
          <p:cNvPr id="8" name="TextBox 7"/>
          <p:cNvSpPr txBox="1"/>
          <p:nvPr/>
        </p:nvSpPr>
        <p:spPr>
          <a:xfrm>
            <a:off x="731520" y="1984248"/>
            <a:ext cx="2432304" cy="566928"/>
          </a:xfrm>
          <a:prstGeom prst="rect">
            <a:avLst/>
          </a:prstGeom>
          <a:noFill/>
        </p:spPr>
        <p:txBody>
          <a:bodyPr wrap="square">
            <a:spAutoFit/>
          </a:bodyPr>
          <a:lstStyle/>
          <a:p>
            <a:pPr algn="l">
              <a:lnSpc>
                <a:spcPct val="100000"/>
              </a:lnSpc>
            </a:pPr>
            <a:r>
              <a:rPr sz="3000" b="1">
                <a:solidFill>
                  <a:srgbClr val="E74C3C"/>
                </a:solidFill>
                <a:latin typeface="Arial"/>
              </a:rPr>
              <a:t>4,18%</a:t>
            </a:r>
          </a:p>
        </p:txBody>
      </p:sp>
      <p:sp>
        <p:nvSpPr>
          <p:cNvPr id="9" name="TextBox 8"/>
          <p:cNvSpPr txBox="1"/>
          <p:nvPr/>
        </p:nvSpPr>
        <p:spPr>
          <a:xfrm>
            <a:off x="73152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medido sobre cartera madura</a:t>
            </a:r>
          </a:p>
        </p:txBody>
      </p:sp>
      <p:sp>
        <p:nvSpPr>
          <p:cNvPr id="10" name="Rectangle 9"/>
          <p:cNvSpPr/>
          <p:nvPr/>
        </p:nvSpPr>
        <p:spPr>
          <a:xfrm>
            <a:off x="349300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Tasa de aceptación Online</a:t>
            </a:r>
          </a:p>
        </p:txBody>
      </p:sp>
      <p:sp>
        <p:nvSpPr>
          <p:cNvPr id="12" name="TextBox 11"/>
          <p:cNvSpPr txBox="1"/>
          <p:nvPr/>
        </p:nvSpPr>
        <p:spPr>
          <a:xfrm>
            <a:off x="3657600" y="1984248"/>
            <a:ext cx="2432304" cy="566928"/>
          </a:xfrm>
          <a:prstGeom prst="rect">
            <a:avLst/>
          </a:prstGeom>
          <a:noFill/>
        </p:spPr>
        <p:txBody>
          <a:bodyPr wrap="square">
            <a:spAutoFit/>
          </a:bodyPr>
          <a:lstStyle/>
          <a:p>
            <a:pPr algn="l">
              <a:lnSpc>
                <a:spcPct val="100000"/>
              </a:lnSpc>
            </a:pPr>
            <a:r>
              <a:rPr sz="3000" b="1">
                <a:solidFill>
                  <a:srgbClr val="2C3E50"/>
                </a:solidFill>
                <a:latin typeface="Arial"/>
              </a:rPr>
              <a:t>20,9%</a:t>
            </a:r>
          </a:p>
        </p:txBody>
      </p:sp>
      <p:sp>
        <p:nvSpPr>
          <p:cNvPr id="13" name="TextBox 12"/>
          <p:cNvSpPr txBox="1"/>
          <p:nvPr/>
        </p:nvSpPr>
        <p:spPr>
          <a:xfrm>
            <a:off x="365760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sobre demanda en €</a:t>
            </a:r>
          </a:p>
        </p:txBody>
      </p:sp>
      <p:sp>
        <p:nvSpPr>
          <p:cNvPr id="14" name="Rectangle 13"/>
          <p:cNvSpPr/>
          <p:nvPr/>
        </p:nvSpPr>
        <p:spPr>
          <a:xfrm>
            <a:off x="641908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Tienda con parrilla EFX</a:t>
            </a:r>
          </a:p>
        </p:txBody>
      </p:sp>
      <p:sp>
        <p:nvSpPr>
          <p:cNvPr id="16" name="TextBox 15"/>
          <p:cNvSpPr txBox="1"/>
          <p:nvPr/>
        </p:nvSpPr>
        <p:spPr>
          <a:xfrm>
            <a:off x="658368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62,5%</a:t>
            </a:r>
          </a:p>
        </p:txBody>
      </p:sp>
      <p:sp>
        <p:nvSpPr>
          <p:cNvPr id="17" name="TextBox 16"/>
          <p:cNvSpPr txBox="1"/>
          <p:nvPr/>
        </p:nvSpPr>
        <p:spPr>
          <a:xfrm>
            <a:off x="658368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TA, desde 47,6% hoy</a:t>
            </a:r>
          </a:p>
        </p:txBody>
      </p:sp>
      <p:sp>
        <p:nvSpPr>
          <p:cNvPr id="18" name="Rectangle 17"/>
          <p:cNvSpPr/>
          <p:nvPr/>
        </p:nvSpPr>
        <p:spPr>
          <a:xfrm>
            <a:off x="934516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Riesgo imputado tienda</a:t>
            </a:r>
          </a:p>
        </p:txBody>
      </p:sp>
      <p:sp>
        <p:nvSpPr>
          <p:cNvPr id="20" name="TextBox 19"/>
          <p:cNvSpPr txBox="1"/>
          <p:nvPr/>
        </p:nvSpPr>
        <p:spPr>
          <a:xfrm>
            <a:off x="950976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3,66%</a:t>
            </a:r>
          </a:p>
        </p:txBody>
      </p:sp>
      <p:sp>
        <p:nvSpPr>
          <p:cNvPr id="21" name="TextBox 20"/>
          <p:cNvSpPr txBox="1"/>
          <p:nvPr/>
        </p:nvSpPr>
        <p:spPr>
          <a:xfrm>
            <a:off x="950976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desde 3,74% hoy</a:t>
            </a:r>
          </a:p>
        </p:txBody>
      </p:sp>
      <p:sp>
        <p:nvSpPr>
          <p:cNvPr id="22" name="TextBox 21"/>
          <p:cNvSpPr txBox="1"/>
          <p:nvPr/>
        </p:nvSpPr>
        <p:spPr>
          <a:xfrm>
            <a:off x="566928" y="3346704"/>
            <a:ext cx="5623560" cy="365760"/>
          </a:xfrm>
          <a:prstGeom prst="rect">
            <a:avLst/>
          </a:prstGeom>
          <a:noFill/>
        </p:spPr>
        <p:txBody>
          <a:bodyPr wrap="square">
            <a:spAutoFit/>
          </a:bodyPr>
          <a:lstStyle/>
          <a:p>
            <a:pPr algn="l">
              <a:lnSpc>
                <a:spcPct val="100000"/>
              </a:lnSpc>
            </a:pPr>
            <a:r>
              <a:rPr sz="1500" b="1">
                <a:solidFill>
                  <a:srgbClr val="2C3E50"/>
                </a:solidFill>
                <a:latin typeface="Arial"/>
              </a:rPr>
              <a:t>Escenarios de riesgo global Apple</a:t>
            </a:r>
          </a:p>
        </p:txBody>
      </p:sp>
      <p:graphicFrame>
        <p:nvGraphicFramePr>
          <p:cNvPr id="23" name="Table 22"/>
          <p:cNvGraphicFramePr>
            <a:graphicFrameLocks noGrp="1"/>
          </p:cNvGraphicFramePr>
          <p:nvPr/>
        </p:nvGraphicFramePr>
        <p:xfrm>
          <a:off x="566928" y="3758184"/>
          <a:ext cx="5623558" cy="1920240"/>
        </p:xfrm>
        <a:graphic>
          <a:graphicData uri="http://schemas.openxmlformats.org/drawingml/2006/table">
            <a:tbl>
              <a:tblPr firstRow="1" bandRow="1">
                <a:tableStyleId>{5C22544A-7EE6-4342-B048-85BDC9FD1C3A}</a:tableStyleId>
              </a:tblPr>
              <a:tblGrid>
                <a:gridCol w="1855195"/>
                <a:gridCol w="1159496"/>
                <a:gridCol w="1159496"/>
                <a:gridCol w="1449371"/>
              </a:tblGrid>
              <a:tr h="274320">
                <a:tc>
                  <a:txBody>
                    <a:bodyPr/>
                    <a:lstStyle/>
                    <a:p>
                      <a:pPr algn="l"/>
                      <a:r>
                        <a:rPr sz="1150" b="1">
                          <a:solidFill>
                            <a:srgbClr val="2C3E50"/>
                          </a:solidFill>
                          <a:latin typeface="Arial"/>
                        </a:rPr>
                        <a:t>Escenario</a:t>
                      </a:r>
                    </a:p>
                  </a:txBody>
                  <a:tcPr>
                    <a:solidFill>
                      <a:srgbClr val="F6F7F9"/>
                    </a:solidFill>
                  </a:tcPr>
                </a:tc>
                <a:tc>
                  <a:txBody>
                    <a:bodyPr/>
                    <a:lstStyle/>
                    <a:p>
                      <a:pPr algn="r"/>
                      <a:r>
                        <a:rPr sz="1150" b="1">
                          <a:solidFill>
                            <a:srgbClr val="2C3E50"/>
                          </a:solidFill>
                          <a:latin typeface="Arial"/>
                        </a:rPr>
                        <a:t>Corte</a:t>
                      </a:r>
                    </a:p>
                  </a:txBody>
                  <a:tcPr>
                    <a:solidFill>
                      <a:srgbClr val="F6F7F9"/>
                    </a:solidFill>
                  </a:tcPr>
                </a:tc>
                <a:tc>
                  <a:txBody>
                    <a:bodyPr/>
                    <a:lstStyle/>
                    <a:p>
                      <a:pPr algn="r"/>
                      <a:r>
                        <a:rPr sz="1150" b="1">
                          <a:solidFill>
                            <a:srgbClr val="2C3E50"/>
                          </a:solidFill>
                          <a:latin typeface="Arial"/>
                        </a:rPr>
                        <a:t>TA efect.</a:t>
                      </a:r>
                    </a:p>
                  </a:txBody>
                  <a:tcPr>
                    <a:solidFill>
                      <a:srgbClr val="F6F7F9"/>
                    </a:solidFill>
                  </a:tcPr>
                </a:tc>
                <a:tc>
                  <a:txBody>
                    <a:bodyPr/>
                    <a:lstStyle/>
                    <a:p>
                      <a:pPr algn="r"/>
                      <a:r>
                        <a:rPr sz="1150" b="1">
                          <a:solidFill>
                            <a:srgbClr val="2C3E50"/>
                          </a:solidFill>
                          <a:latin typeface="Arial"/>
                        </a:rPr>
                        <a:t>Producción</a:t>
                      </a:r>
                    </a:p>
                  </a:txBody>
                  <a:tcPr>
                    <a:solidFill>
                      <a:srgbClr val="F6F7F9"/>
                    </a:solidFill>
                  </a:tcPr>
                </a:tc>
              </a:tr>
              <a:tr h="274320">
                <a:tc>
                  <a:txBody>
                    <a:bodyPr/>
                    <a:lstStyle/>
                    <a:p>
                      <a:pPr algn="l"/>
                      <a:r>
                        <a:rPr sz="1150" b="0">
                          <a:solidFill>
                            <a:srgbClr val="5D6D7E"/>
                          </a:solidFill>
                          <a:latin typeface="Arial"/>
                        </a:rPr>
                        <a:t>Hoy (medido)</a:t>
                      </a:r>
                    </a:p>
                  </a:txBody>
                  <a:tcPr>
                    <a:solidFill>
                      <a:srgbClr val="FFFFFF"/>
                    </a:solidFill>
                  </a:tcPr>
                </a:tc>
                <a:tc>
                  <a:txBody>
                    <a:bodyPr/>
                    <a:lstStyle/>
                    <a:p>
                      <a:pPr algn="r"/>
                      <a:r>
                        <a:rPr sz="1150" b="0">
                          <a:solidFill>
                            <a:srgbClr val="5D6D7E"/>
                          </a:solidFill>
                          <a:latin typeface="Arial"/>
                        </a:rPr>
                        <a:t>política vigente</a:t>
                      </a:r>
                    </a:p>
                  </a:txBody>
                  <a:tcPr>
                    <a:solidFill>
                      <a:srgbClr val="FFFFFF"/>
                    </a:solidFill>
                  </a:tcPr>
                </a:tc>
                <a:tc>
                  <a:txBody>
                    <a:bodyPr/>
                    <a:lstStyle/>
                    <a:p>
                      <a:pPr algn="r"/>
                      <a:r>
                        <a:rPr sz="1150" b="0">
                          <a:solidFill>
                            <a:srgbClr val="5D6D7E"/>
                          </a:solidFill>
                          <a:latin typeface="Arial"/>
                        </a:rPr>
                        <a:t>29,5%</a:t>
                      </a:r>
                    </a:p>
                  </a:txBody>
                  <a:tcPr>
                    <a:solidFill>
                      <a:srgbClr val="FFFFFF"/>
                    </a:solidFill>
                  </a:tcPr>
                </a:tc>
                <a:tc>
                  <a:txBody>
                    <a:bodyPr/>
                    <a:lstStyle/>
                    <a:p>
                      <a:pPr algn="r"/>
                      <a:r>
                        <a:rPr sz="1150" b="0">
                          <a:solidFill>
                            <a:srgbClr val="5D6D7E"/>
                          </a:solidFill>
                          <a:latin typeface="Arial"/>
                        </a:rPr>
                        <a:t>15,3 M€/mes</a:t>
                      </a:r>
                    </a:p>
                  </a:txBody>
                  <a:tcPr>
                    <a:solidFill>
                      <a:srgbClr val="FFFFFF"/>
                    </a:solidFill>
                  </a:tcPr>
                </a:tc>
              </a:tr>
              <a:tr h="274320">
                <a:tc>
                  <a:txBody>
                    <a:bodyPr/>
                    <a:lstStyle/>
                    <a:p>
                      <a:pPr algn="l"/>
                      <a:r>
                        <a:rPr sz="1150" b="0">
                          <a:solidFill>
                            <a:srgbClr val="5D6D7E"/>
                          </a:solidFill>
                          <a:latin typeface="Arial"/>
                        </a:rPr>
                        <a:t>Parrilla Online en ambos canales</a:t>
                      </a:r>
                    </a:p>
                  </a:txBody>
                  <a:tcPr>
                    <a:solidFill>
                      <a:srgbClr val="FFFFFF"/>
                    </a:solidFill>
                  </a:tcPr>
                </a:tc>
                <a:tc>
                  <a:txBody>
                    <a:bodyPr/>
                    <a:lstStyle/>
                    <a:p>
                      <a:pPr algn="r"/>
                      <a:r>
                        <a:rPr sz="1150" b="0">
                          <a:solidFill>
                            <a:srgbClr val="5D6D7E"/>
                          </a:solidFill>
                          <a:latin typeface="Arial"/>
                        </a:rPr>
                        <a:t>vigente</a:t>
                      </a:r>
                    </a:p>
                  </a:txBody>
                  <a:tcPr>
                    <a:solidFill>
                      <a:srgbClr val="FFFFFF"/>
                    </a:solidFill>
                  </a:tcPr>
                </a:tc>
                <a:tc>
                  <a:txBody>
                    <a:bodyPr/>
                    <a:lstStyle/>
                    <a:p>
                      <a:pPr algn="r"/>
                      <a:r>
                        <a:rPr sz="1150" b="0">
                          <a:solidFill>
                            <a:srgbClr val="5D6D7E"/>
                          </a:solidFill>
                          <a:latin typeface="Arial"/>
                        </a:rPr>
                        <a:t>31,4%</a:t>
                      </a:r>
                    </a:p>
                  </a:txBody>
                  <a:tcPr>
                    <a:solidFill>
                      <a:srgbClr val="FFFFFF"/>
                    </a:solidFill>
                  </a:tcPr>
                </a:tc>
                <a:tc>
                  <a:txBody>
                    <a:bodyPr/>
                    <a:lstStyle/>
                    <a:p>
                      <a:pPr algn="r"/>
                      <a:r>
                        <a:rPr sz="1150" b="0">
                          <a:solidFill>
                            <a:srgbClr val="5D6D7E"/>
                          </a:solidFill>
                          <a:latin typeface="Arial"/>
                        </a:rPr>
                        <a:t>16,8 M€/mes</a:t>
                      </a:r>
                    </a:p>
                  </a:txBody>
                  <a:tcPr>
                    <a:solidFill>
                      <a:srgbClr val="FFFFFF"/>
                    </a:solidFill>
                  </a:tcPr>
                </a:tc>
              </a:tr>
              <a:tr h="274320">
                <a:tc>
                  <a:txBody>
                    <a:bodyPr/>
                    <a:lstStyle/>
                    <a:p>
                      <a:pPr algn="l"/>
                      <a:r>
                        <a:rPr sz="1150" b="0">
                          <a:solidFill>
                            <a:srgbClr val="5D6D7E"/>
                          </a:solidFill>
                          <a:latin typeface="Arial"/>
                        </a:rPr>
                        <a:t>2.5%</a:t>
                      </a:r>
                    </a:p>
                  </a:txBody>
                  <a:tcPr>
                    <a:solidFill>
                      <a:srgbClr val="FFFFFF"/>
                    </a:solidFill>
                  </a:tcPr>
                </a:tc>
                <a:tc>
                  <a:txBody>
                    <a:bodyPr/>
                    <a:lstStyle/>
                    <a:p>
                      <a:pPr algn="r"/>
                      <a:r>
                        <a:rPr sz="1150" b="0">
                          <a:solidFill>
                            <a:srgbClr val="5D6D7E"/>
                          </a:solidFill>
                          <a:latin typeface="Arial"/>
                        </a:rPr>
                        <a:t>&gt; 68</a:t>
                      </a:r>
                    </a:p>
                  </a:txBody>
                  <a:tcPr>
                    <a:solidFill>
                      <a:srgbClr val="FFFFFF"/>
                    </a:solidFill>
                  </a:tcPr>
                </a:tc>
                <a:tc>
                  <a:txBody>
                    <a:bodyPr/>
                    <a:lstStyle/>
                    <a:p>
                      <a:pPr algn="r"/>
                      <a:r>
                        <a:rPr sz="1150" b="0">
                          <a:solidFill>
                            <a:srgbClr val="5D6D7E"/>
                          </a:solidFill>
                          <a:latin typeface="Arial"/>
                        </a:rPr>
                        <a:t>17,7%</a:t>
                      </a:r>
                    </a:p>
                  </a:txBody>
                  <a:tcPr>
                    <a:solidFill>
                      <a:srgbClr val="FFFFFF"/>
                    </a:solidFill>
                  </a:tcPr>
                </a:tc>
                <a:tc>
                  <a:txBody>
                    <a:bodyPr/>
                    <a:lstStyle/>
                    <a:p>
                      <a:pPr algn="r"/>
                      <a:r>
                        <a:rPr sz="1150" b="0">
                          <a:solidFill>
                            <a:srgbClr val="5D6D7E"/>
                          </a:solidFill>
                          <a:latin typeface="Arial"/>
                        </a:rPr>
                        <a:t>9,5 M€/mes</a:t>
                      </a:r>
                    </a:p>
                  </a:txBody>
                  <a:tcPr>
                    <a:solidFill>
                      <a:srgbClr val="FFFFFF"/>
                    </a:solidFill>
                  </a:tcPr>
                </a:tc>
              </a:tr>
              <a:tr h="274320">
                <a:tc>
                  <a:txBody>
                    <a:bodyPr/>
                    <a:lstStyle/>
                    <a:p>
                      <a:pPr algn="l"/>
                      <a:r>
                        <a:rPr sz="1150" b="0">
                          <a:solidFill>
                            <a:srgbClr val="5D6D7E"/>
                          </a:solidFill>
                          <a:latin typeface="Arial"/>
                        </a:rPr>
                        <a:t>3%</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25,3%</a:t>
                      </a:r>
                    </a:p>
                  </a:txBody>
                  <a:tcPr>
                    <a:solidFill>
                      <a:srgbClr val="FFFFFF"/>
                    </a:solidFill>
                  </a:tcPr>
                </a:tc>
                <a:tc>
                  <a:txBody>
                    <a:bodyPr/>
                    <a:lstStyle/>
                    <a:p>
                      <a:pPr algn="r"/>
                      <a:r>
                        <a:rPr sz="1150" b="0">
                          <a:solidFill>
                            <a:srgbClr val="5D6D7E"/>
                          </a:solidFill>
                          <a:latin typeface="Arial"/>
                        </a:rPr>
                        <a:t>13,6 M€/mes</a:t>
                      </a:r>
                    </a:p>
                  </a:txBody>
                  <a:tcPr>
                    <a:solidFill>
                      <a:srgbClr val="FFFFFF"/>
                    </a:solidFill>
                  </a:tcPr>
                </a:tc>
              </a:tr>
              <a:tr h="274320">
                <a:tc>
                  <a:txBody>
                    <a:bodyPr/>
                    <a:lstStyle/>
                    <a:p>
                      <a:pPr algn="l"/>
                      <a:r>
                        <a:rPr sz="1150" b="0">
                          <a:solidFill>
                            <a:srgbClr val="5D6D7E"/>
                          </a:solidFill>
                          <a:latin typeface="Arial"/>
                        </a:rPr>
                        <a:t>3.5%</a:t>
                      </a:r>
                    </a:p>
                  </a:txBody>
                  <a:tcPr>
                    <a:solidFill>
                      <a:srgbClr val="FFFFFF"/>
                    </a:solidFill>
                  </a:tcPr>
                </a:tc>
                <a:tc>
                  <a:txBody>
                    <a:bodyPr/>
                    <a:lstStyle/>
                    <a:p>
                      <a:pPr algn="r"/>
                      <a:r>
                        <a:rPr sz="1150" b="0">
                          <a:solidFill>
                            <a:srgbClr val="5D6D7E"/>
                          </a:solidFill>
                          <a:latin typeface="Arial"/>
                        </a:rPr>
                        <a:t>&gt; 43</a:t>
                      </a:r>
                    </a:p>
                  </a:txBody>
                  <a:tcPr>
                    <a:solidFill>
                      <a:srgbClr val="FFFFFF"/>
                    </a:solidFill>
                  </a:tcPr>
                </a:tc>
                <a:tc>
                  <a:txBody>
                    <a:bodyPr/>
                    <a:lstStyle/>
                    <a:p>
                      <a:pPr algn="r"/>
                      <a:r>
                        <a:rPr sz="1150" b="0">
                          <a:solidFill>
                            <a:srgbClr val="5D6D7E"/>
                          </a:solidFill>
                          <a:latin typeface="Arial"/>
                        </a:rPr>
                        <a:t>28,1%</a:t>
                      </a:r>
                    </a:p>
                  </a:txBody>
                  <a:tcPr>
                    <a:solidFill>
                      <a:srgbClr val="FFFFFF"/>
                    </a:solidFill>
                  </a:tcPr>
                </a:tc>
                <a:tc>
                  <a:txBody>
                    <a:bodyPr/>
                    <a:lstStyle/>
                    <a:p>
                      <a:pPr algn="r"/>
                      <a:r>
                        <a:rPr sz="1150" b="0">
                          <a:solidFill>
                            <a:srgbClr val="5D6D7E"/>
                          </a:solidFill>
                          <a:latin typeface="Arial"/>
                        </a:rPr>
                        <a:t>15,1 M€/mes</a:t>
                      </a:r>
                    </a:p>
                  </a:txBody>
                  <a:tcPr>
                    <a:solidFill>
                      <a:srgbClr val="FFFFFF"/>
                    </a:solidFill>
                  </a:tcPr>
                </a:tc>
              </a:tr>
              <a:tr h="274320">
                <a:tc>
                  <a:txBody>
                    <a:bodyPr/>
                    <a:lstStyle/>
                    <a:p>
                      <a:pPr algn="l"/>
                      <a:r>
                        <a:rPr sz="1150" b="0">
                          <a:solidFill>
                            <a:srgbClr val="5D6D7E"/>
                          </a:solidFill>
                          <a:latin typeface="Arial"/>
                        </a:rPr>
                        <a:t>4%</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31,3%</a:t>
                      </a:r>
                    </a:p>
                  </a:txBody>
                  <a:tcPr>
                    <a:solidFill>
                      <a:srgbClr val="FFFFFF"/>
                    </a:solidFill>
                  </a:tcPr>
                </a:tc>
                <a:tc>
                  <a:txBody>
                    <a:bodyPr/>
                    <a:lstStyle/>
                    <a:p>
                      <a:pPr algn="r"/>
                      <a:r>
                        <a:rPr sz="1150" b="0">
                          <a:solidFill>
                            <a:srgbClr val="5D6D7E"/>
                          </a:solidFill>
                          <a:latin typeface="Arial"/>
                        </a:rPr>
                        <a:t>16,8 M€/mes</a:t>
                      </a:r>
                    </a:p>
                  </a:txBody>
                  <a:tcPr>
                    <a:solidFill>
                      <a:srgbClr val="FFFFFF"/>
                    </a:solidFill>
                  </a:tcPr>
                </a:tc>
              </a:tr>
            </a:tbl>
          </a:graphicData>
        </a:graphic>
      </p:graphicFrame>
      <p:sp>
        <p:nvSpPr>
          <p:cNvPr id="24" name="TextBox 23"/>
          <p:cNvSpPr txBox="1"/>
          <p:nvPr/>
        </p:nvSpPr>
        <p:spPr>
          <a:xfrm>
            <a:off x="566928" y="5678424"/>
            <a:ext cx="5623560" cy="1097280"/>
          </a:xfrm>
          <a:prstGeom prst="rect">
            <a:avLst/>
          </a:prstGeom>
          <a:noFill/>
        </p:spPr>
        <p:txBody>
          <a:bodyPr wrap="square">
            <a:spAutoFit/>
          </a:bodyPr>
          <a:lstStyle/>
          <a:p>
            <a:pPr>
              <a:spcAft>
                <a:spcPts val="900"/>
              </a:spcAft>
            </a:pPr>
            <a:r>
              <a:rPr sz="1150" b="1">
                <a:solidFill>
                  <a:srgbClr val="2C3E50"/>
                </a:solidFill>
                <a:latin typeface="Arial"/>
              </a:rPr>
              <a:t>Riesgo de tienda:  </a:t>
            </a:r>
            <a:r>
              <a:rPr sz="1150">
                <a:solidFill>
                  <a:srgbClr val="5D6D7E"/>
                </a:solidFill>
                <a:latin typeface="Arial"/>
              </a:rPr>
              <a:t>forma de la curva tomada de e-commerce; el nivel, anclado al 3,74% realizado de tienda. No es una medición.</a:t>
            </a:r>
          </a:p>
          <a:p>
            <a:pPr>
              <a:spcAft>
                <a:spcPts val="900"/>
              </a:spcAft>
            </a:pPr>
            <a:r>
              <a:rPr sz="1150" b="1">
                <a:solidFill>
                  <a:srgbClr val="2C3E50"/>
                </a:solidFill>
                <a:latin typeface="Arial"/>
              </a:rPr>
              <a:t>Ventana:  </a:t>
            </a:r>
            <a:r>
              <a:rPr sz="1150">
                <a:solidFill>
                  <a:srgbClr val="5D6D7E"/>
                </a:solidFill>
                <a:latin typeface="Arial"/>
              </a:rPr>
              <a:t>12 meses de originación madura (4,18% frente a 3,92% con 26 meses).</a:t>
            </a:r>
          </a:p>
          <a:p>
            <a:pPr>
              <a:spcAft>
                <a:spcPts val="900"/>
              </a:spcAft>
            </a:pPr>
            <a:r>
              <a:rPr sz="1150" b="1">
                <a:solidFill>
                  <a:srgbClr val="2C3E50"/>
                </a:solidFill>
                <a:latin typeface="Arial"/>
              </a:rPr>
              <a:t>Con reject inference:  </a:t>
            </a:r>
            <a:r>
              <a:rPr sz="1150">
                <a:solidFill>
                  <a:srgbClr val="5D6D7E"/>
                </a:solidFill>
                <a:latin typeface="Arial"/>
              </a:rPr>
              <a:t>los tramos poco aceptados llevan uplift (hasta 2,4x). Apenas mueve los cortes: donde se decide, Online ya acepta al 84-98%.</a:t>
            </a:r>
          </a:p>
        </p:txBody>
      </p:sp>
      <p:sp>
        <p:nvSpPr>
          <p:cNvPr id="25" name="TextBox 24"/>
          <p:cNvSpPr txBox="1"/>
          <p:nvPr/>
        </p:nvSpPr>
        <p:spPr>
          <a:xfrm>
            <a:off x="6464808" y="3346704"/>
            <a:ext cx="5166360" cy="365760"/>
          </a:xfrm>
          <a:prstGeom prst="rect">
            <a:avLst/>
          </a:prstGeom>
          <a:noFill/>
        </p:spPr>
        <p:txBody>
          <a:bodyPr wrap="square">
            <a:spAutoFit/>
          </a:bodyPr>
          <a:lstStyle/>
          <a:p>
            <a:pPr algn="l">
              <a:lnSpc>
                <a:spcPct val="100000"/>
              </a:lnSpc>
            </a:pPr>
            <a:r>
              <a:rPr sz="1500" b="1">
                <a:solidFill>
                  <a:srgbClr val="2C3E50"/>
                </a:solidFill>
                <a:latin typeface="Arial"/>
              </a:rPr>
              <a:t>Tienda: la parrilla de e-commerce mejora las dos cosas</a:t>
            </a:r>
          </a:p>
        </p:txBody>
      </p:sp>
      <p:pic>
        <p:nvPicPr>
          <p:cNvPr id="26" name="Picture 25" descr="tienda_compacto.png"/>
          <p:cNvPicPr>
            <a:picLocks noChangeAspect="1"/>
          </p:cNvPicPr>
          <p:nvPr/>
        </p:nvPicPr>
        <p:blipFill>
          <a:blip r:embed="rId2"/>
          <a:stretch>
            <a:fillRect/>
          </a:stretch>
        </p:blipFill>
        <p:spPr>
          <a:xfrm>
            <a:off x="6464808" y="3758184"/>
            <a:ext cx="5166360" cy="239978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PUNTO 1 · MEDIDO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Originación mar-2025 a feb-2026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Situación actual de Apple Online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nline.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Riesgo realizado sobre originación con 6 meses cumplidos. Sin supuestos.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PUNTO 1 · MEDIDO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Originación mar-2025 a feb-2026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Situación actual de Apple Stores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enda_actual.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Medido sobre el histórico propio de tienda, misma ventana que Online: para describir dónde está hoy no hace falta imputar nada. Acepta casi el triple que Online y arriesga menos. Aviso: su TA viene cayendo (58,7% de mar-2025 a feb-2026, 47,6% en ago-2026), así que la base se está moviendo.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PUNTO 2 · RIESGO ESTIMADO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Tienda ago-2026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Tienda con la parrilla de e-commerce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enda.png"/>
          <p:cNvPicPr>
            <a:picLocks noChangeAspect="1"/>
          </p:cNvPicPr>
          <p:nvPr/>
        </p:nvPicPr>
        <p:blipFill>
          <a:blip r:embed="rId2"/>
          <a:stretch>
            <a:fillRect/>
          </a:stretch>
        </p:blipFill>
        <p:spPr>
          <a:xfrm>
            <a:off x="1006052" y="1563624"/>
            <a:ext cx="1017959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Las dos columnas miden la misma población —el único mes con score EFX—, por eso aquí el 'hoy' es 47,6% y en la slide anterior 58,7%. Sustitución de la regla de score; las demás reglas de tienda se mantienen. El riesgo va imputado desde la curva de Online, con el nivel anclado al realizado de tienda.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PUNTO 3 · ESCENARIOS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mar-2025 a feb-2026  ·  tienda ago-2026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Cuánto cuesta cada objetivo de riesgo</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rontera.png"/>
          <p:cNvPicPr>
            <a:picLocks noChangeAspect="1"/>
          </p:cNvPicPr>
          <p:nvPr/>
        </p:nvPicPr>
        <p:blipFill>
          <a:blip r:embed="rId2"/>
          <a:stretch>
            <a:fillRect/>
          </a:stretch>
        </p:blipFill>
        <p:spPr>
          <a:xfrm>
            <a:off x="566928" y="1563624"/>
            <a:ext cx="6720840" cy="3559542"/>
          </a:xfrm>
          <a:prstGeom prst="rect">
            <a:avLst/>
          </a:prstGeom>
        </p:spPr>
      </p:pic>
      <p:graphicFrame>
        <p:nvGraphicFramePr>
          <p:cNvPr id="7" name="Table 6"/>
          <p:cNvGraphicFramePr>
            <a:graphicFrameLocks noGrp="1"/>
          </p:cNvGraphicFramePr>
          <p:nvPr/>
        </p:nvGraphicFramePr>
        <p:xfrm>
          <a:off x="7543800" y="1655064"/>
          <a:ext cx="4343400" cy="2816352"/>
        </p:xfrm>
        <a:graphic>
          <a:graphicData uri="http://schemas.openxmlformats.org/drawingml/2006/table">
            <a:tbl>
              <a:tblPr firstRow="1" bandRow="1">
                <a:tableStyleId>{5C22544A-7EE6-4342-B048-85BDC9FD1C3A}</a:tableStyleId>
              </a:tblPr>
              <a:tblGrid>
                <a:gridCol w="1640840"/>
                <a:gridCol w="965200"/>
                <a:gridCol w="868680"/>
                <a:gridCol w="868680"/>
              </a:tblGrid>
              <a:tr h="256032">
                <a:tc>
                  <a:txBody>
                    <a:bodyPr/>
                    <a:lstStyle/>
                    <a:p>
                      <a:pPr algn="l"/>
                      <a:r>
                        <a:rPr sz="1150" b="1">
                          <a:solidFill>
                            <a:srgbClr val="2C3E50"/>
                          </a:solidFill>
                          <a:latin typeface="Arial"/>
                        </a:rPr>
                        <a:t>Escenario</a:t>
                      </a:r>
                    </a:p>
                  </a:txBody>
                  <a:tcPr>
                    <a:solidFill>
                      <a:srgbClr val="F6F7F9"/>
                    </a:solidFill>
                  </a:tcPr>
                </a:tc>
                <a:tc>
                  <a:txBody>
                    <a:bodyPr/>
                    <a:lstStyle/>
                    <a:p>
                      <a:pPr algn="r"/>
                      <a:r>
                        <a:rPr sz="1150" b="1">
                          <a:solidFill>
                            <a:srgbClr val="2C3E50"/>
                          </a:solidFill>
                          <a:latin typeface="Arial"/>
                        </a:rPr>
                        <a:t>Corte</a:t>
                      </a:r>
                    </a:p>
                  </a:txBody>
                  <a:tcPr>
                    <a:solidFill>
                      <a:srgbClr val="F6F7F9"/>
                    </a:solidFill>
                  </a:tcPr>
                </a:tc>
                <a:tc>
                  <a:txBody>
                    <a:bodyPr/>
                    <a:lstStyle/>
                    <a:p>
                      <a:pPr algn="r"/>
                      <a:r>
                        <a:rPr sz="1150" b="1">
                          <a:solidFill>
                            <a:srgbClr val="2C3E50"/>
                          </a:solidFill>
                          <a:latin typeface="Arial"/>
                        </a:rPr>
                        <a:t>TA score</a:t>
                      </a:r>
                    </a:p>
                  </a:txBody>
                  <a:tcPr>
                    <a:solidFill>
                      <a:srgbClr val="F6F7F9"/>
                    </a:solidFill>
                  </a:tcPr>
                </a:tc>
                <a:tc>
                  <a:txBody>
                    <a:bodyPr/>
                    <a:lstStyle/>
                    <a:p>
                      <a:pPr algn="r"/>
                      <a:r>
                        <a:rPr sz="1150" b="1">
                          <a:solidFill>
                            <a:srgbClr val="2C3E50"/>
                          </a:solidFill>
                          <a:latin typeface="Arial"/>
                        </a:rPr>
                        <a:t>TA efect.</a:t>
                      </a:r>
                    </a:p>
                  </a:txBody>
                  <a:tcPr>
                    <a:solidFill>
                      <a:srgbClr val="F6F7F9"/>
                    </a:solidFill>
                  </a:tcPr>
                </a:tc>
              </a:tr>
              <a:tr h="256032">
                <a:tc>
                  <a:txBody>
                    <a:bodyPr/>
                    <a:lstStyle/>
                    <a:p>
                      <a:pPr algn="l"/>
                      <a:r>
                        <a:rPr sz="1150" b="0">
                          <a:solidFill>
                            <a:srgbClr val="5D6D7E"/>
                          </a:solidFill>
                          <a:latin typeface="Arial"/>
                        </a:rPr>
                        <a:t>Hoy (medido)</a:t>
                      </a:r>
                    </a:p>
                  </a:txBody>
                  <a:tcPr>
                    <a:solidFill>
                      <a:srgbClr val="FFFFFF"/>
                    </a:solidFill>
                  </a:tcPr>
                </a:tc>
                <a:tc>
                  <a:txBody>
                    <a:bodyPr/>
                    <a:lstStyle/>
                    <a:p>
                      <a:pPr algn="r"/>
                      <a:r>
                        <a:rPr sz="1150" b="0">
                          <a:solidFill>
                            <a:srgbClr val="5D6D7E"/>
                          </a:solidFill>
                          <a:latin typeface="Arial"/>
                        </a:rPr>
                        <a:t>política vigente</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29,5%</a:t>
                      </a:r>
                    </a:p>
                  </a:txBody>
                  <a:tcPr>
                    <a:solidFill>
                      <a:srgbClr val="FFFFFF"/>
                    </a:solidFill>
                  </a:tcPr>
                </a:tc>
              </a:tr>
              <a:tr h="256032">
                <a:tc>
                  <a:txBody>
                    <a:bodyPr/>
                    <a:lstStyle/>
                    <a:p>
                      <a:pPr algn="l"/>
                      <a:r>
                        <a:rPr sz="1150" b="0">
                          <a:solidFill>
                            <a:srgbClr val="5D6D7E"/>
                          </a:solidFill>
                          <a:latin typeface="Arial"/>
                        </a:rPr>
                        <a:t>Parrilla Online en ambos canales</a:t>
                      </a:r>
                    </a:p>
                  </a:txBody>
                  <a:tcPr>
                    <a:solidFill>
                      <a:srgbClr val="FFFFFF"/>
                    </a:solidFill>
                  </a:tcPr>
                </a:tc>
                <a:tc>
                  <a:txBody>
                    <a:bodyPr/>
                    <a:lstStyle/>
                    <a:p>
                      <a:pPr algn="r"/>
                      <a:r>
                        <a:rPr sz="1150" b="0">
                          <a:solidFill>
                            <a:srgbClr val="5D6D7E"/>
                          </a:solidFill>
                          <a:latin typeface="Arial"/>
                        </a:rPr>
                        <a:t>vigente</a:t>
                      </a:r>
                    </a:p>
                  </a:txBody>
                  <a:tcPr>
                    <a:solidFill>
                      <a:srgbClr val="FFFFFF"/>
                    </a:solidFill>
                  </a:tcPr>
                </a:tc>
                <a:tc>
                  <a:txBody>
                    <a:bodyPr/>
                    <a:lstStyle/>
                    <a:p>
                      <a:pPr algn="r"/>
                      <a:r>
                        <a:rPr sz="1150" b="0">
                          <a:solidFill>
                            <a:srgbClr val="5D6D7E"/>
                          </a:solidFill>
                          <a:latin typeface="Arial"/>
                        </a:rPr>
                        <a:t>58,3%</a:t>
                      </a:r>
                    </a:p>
                  </a:txBody>
                  <a:tcPr>
                    <a:solidFill>
                      <a:srgbClr val="FFFFFF"/>
                    </a:solidFill>
                  </a:tcPr>
                </a:tc>
                <a:tc>
                  <a:txBody>
                    <a:bodyPr/>
                    <a:lstStyle/>
                    <a:p>
                      <a:pPr algn="r"/>
                      <a:r>
                        <a:rPr sz="1150" b="0">
                          <a:solidFill>
                            <a:srgbClr val="5D6D7E"/>
                          </a:solidFill>
                          <a:latin typeface="Arial"/>
                        </a:rPr>
                        <a:t>31,4%</a:t>
                      </a:r>
                    </a:p>
                  </a:txBody>
                  <a:tcPr>
                    <a:solidFill>
                      <a:srgbClr val="FFFFFF"/>
                    </a:solidFill>
                  </a:tcPr>
                </a:tc>
              </a:tr>
              <a:tr h="256032">
                <a:tc>
                  <a:txBody>
                    <a:bodyPr/>
                    <a:lstStyle/>
                    <a:p>
                      <a:pPr algn="l"/>
                      <a:r>
                        <a:rPr sz="1150" b="0">
                          <a:solidFill>
                            <a:srgbClr val="5D6D7E"/>
                          </a:solidFill>
                          <a:latin typeface="Arial"/>
                        </a:rPr>
                        <a:t>2.5% · único</a:t>
                      </a:r>
                    </a:p>
                  </a:txBody>
                  <a:tcPr>
                    <a:solidFill>
                      <a:srgbClr val="FFFFFF"/>
                    </a:solidFill>
                  </a:tcPr>
                </a:tc>
                <a:tc>
                  <a:txBody>
                    <a:bodyPr/>
                    <a:lstStyle/>
                    <a:p>
                      <a:pPr algn="r"/>
                      <a:r>
                        <a:rPr sz="1150" b="0">
                          <a:solidFill>
                            <a:srgbClr val="5D6D7E"/>
                          </a:solidFill>
                          <a:latin typeface="Arial"/>
                        </a:rPr>
                        <a:t>&gt; 68</a:t>
                      </a:r>
                    </a:p>
                  </a:txBody>
                  <a:tcPr>
                    <a:solidFill>
                      <a:srgbClr val="FFFFFF"/>
                    </a:solidFill>
                  </a:tcPr>
                </a:tc>
                <a:tc>
                  <a:txBody>
                    <a:bodyPr/>
                    <a:lstStyle/>
                    <a:p>
                      <a:pPr algn="r"/>
                      <a:r>
                        <a:rPr sz="1150" b="0">
                          <a:solidFill>
                            <a:srgbClr val="5D6D7E"/>
                          </a:solidFill>
                          <a:latin typeface="Arial"/>
                        </a:rPr>
                        <a:t>31,9%</a:t>
                      </a:r>
                    </a:p>
                  </a:txBody>
                  <a:tcPr>
                    <a:solidFill>
                      <a:srgbClr val="FFFFFF"/>
                    </a:solidFill>
                  </a:tcPr>
                </a:tc>
                <a:tc>
                  <a:txBody>
                    <a:bodyPr/>
                    <a:lstStyle/>
                    <a:p>
                      <a:pPr algn="r"/>
                      <a:r>
                        <a:rPr sz="1150" b="0">
                          <a:solidFill>
                            <a:srgbClr val="5D6D7E"/>
                          </a:solidFill>
                          <a:latin typeface="Arial"/>
                        </a:rPr>
                        <a:t>17,7%</a:t>
                      </a:r>
                    </a:p>
                  </a:txBody>
                  <a:tcPr>
                    <a:solidFill>
                      <a:srgbClr val="FFFFFF"/>
                    </a:solidFill>
                  </a:tcPr>
                </a:tc>
              </a:tr>
              <a:tr h="256032">
                <a:tc>
                  <a:txBody>
                    <a:bodyPr/>
                    <a:lstStyle/>
                    <a:p>
                      <a:pPr algn="l"/>
                      <a:r>
                        <a:rPr sz="1150" b="0">
                          <a:solidFill>
                            <a:srgbClr val="5D6D7E"/>
                          </a:solidFill>
                          <a:latin typeface="Arial"/>
                        </a:rPr>
                        <a:t>2.5% · parrilla</a:t>
                      </a:r>
                    </a:p>
                  </a:txBody>
                  <a:tcPr>
                    <a:solidFill>
                      <a:srgbClr val="FFFFFF"/>
                    </a:solidFill>
                  </a:tcPr>
                </a:tc>
                <a:tc>
                  <a:txBody>
                    <a:bodyPr/>
                    <a:lstStyle/>
                    <a:p>
                      <a:pPr algn="r"/>
                      <a:r>
                        <a:rPr sz="1150" b="0">
                          <a:solidFill>
                            <a:srgbClr val="5D6D7E"/>
                          </a:solidFill>
                          <a:latin typeface="Arial"/>
                        </a:rPr>
                        <a:t>+38p</a:t>
                      </a:r>
                    </a:p>
                  </a:txBody>
                  <a:tcPr>
                    <a:solidFill>
                      <a:srgbClr val="FFFFFF"/>
                    </a:solidFill>
                  </a:tcPr>
                </a:tc>
                <a:tc>
                  <a:txBody>
                    <a:bodyPr/>
                    <a:lstStyle/>
                    <a:p>
                      <a:pPr algn="r"/>
                      <a:r>
                        <a:rPr sz="1150" b="0">
                          <a:solidFill>
                            <a:srgbClr val="5D6D7E"/>
                          </a:solidFill>
                          <a:latin typeface="Arial"/>
                        </a:rPr>
                        <a:t>35,9%</a:t>
                      </a:r>
                    </a:p>
                  </a:txBody>
                  <a:tcPr>
                    <a:solidFill>
                      <a:srgbClr val="FFFFFF"/>
                    </a:solidFill>
                  </a:tcPr>
                </a:tc>
                <a:tc>
                  <a:txBody>
                    <a:bodyPr/>
                    <a:lstStyle/>
                    <a:p>
                      <a:pPr algn="r"/>
                      <a:r>
                        <a:rPr sz="1150" b="0">
                          <a:solidFill>
                            <a:srgbClr val="5D6D7E"/>
                          </a:solidFill>
                          <a:latin typeface="Arial"/>
                        </a:rPr>
                        <a:t>19,8%</a:t>
                      </a:r>
                    </a:p>
                  </a:txBody>
                  <a:tcPr>
                    <a:solidFill>
                      <a:srgbClr val="FFFFFF"/>
                    </a:solidFill>
                  </a:tcPr>
                </a:tc>
              </a:tr>
              <a:tr h="256032">
                <a:tc>
                  <a:txBody>
                    <a:bodyPr/>
                    <a:lstStyle/>
                    <a:p>
                      <a:pPr algn="l"/>
                      <a:r>
                        <a:rPr sz="1150" b="0">
                          <a:solidFill>
                            <a:srgbClr val="5D6D7E"/>
                          </a:solidFill>
                          <a:latin typeface="Arial"/>
                        </a:rPr>
                        <a:t>3% · único</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46,3%</a:t>
                      </a:r>
                    </a:p>
                  </a:txBody>
                  <a:tcPr>
                    <a:solidFill>
                      <a:srgbClr val="FFFFFF"/>
                    </a:solidFill>
                  </a:tcPr>
                </a:tc>
                <a:tc>
                  <a:txBody>
                    <a:bodyPr/>
                    <a:lstStyle/>
                    <a:p>
                      <a:pPr algn="r"/>
                      <a:r>
                        <a:rPr sz="1150" b="0">
                          <a:solidFill>
                            <a:srgbClr val="5D6D7E"/>
                          </a:solidFill>
                          <a:latin typeface="Arial"/>
                        </a:rPr>
                        <a:t>25,3%</a:t>
                      </a:r>
                    </a:p>
                  </a:txBody>
                  <a:tcPr>
                    <a:solidFill>
                      <a:srgbClr val="FFFFFF"/>
                    </a:solidFill>
                  </a:tcPr>
                </a:tc>
              </a:tr>
              <a:tr h="256032">
                <a:tc>
                  <a:txBody>
                    <a:bodyPr/>
                    <a:lstStyle/>
                    <a:p>
                      <a:pPr algn="l"/>
                      <a:r>
                        <a:rPr sz="1150" b="0">
                          <a:solidFill>
                            <a:srgbClr val="5D6D7E"/>
                          </a:solidFill>
                          <a:latin typeface="Arial"/>
                        </a:rPr>
                        <a:t>3% · parrilla</a:t>
                      </a:r>
                    </a:p>
                  </a:txBody>
                  <a:tcPr>
                    <a:solidFill>
                      <a:srgbClr val="FFFFFF"/>
                    </a:solidFill>
                  </a:tcPr>
                </a:tc>
                <a:tc>
                  <a:txBody>
                    <a:bodyPr/>
                    <a:lstStyle/>
                    <a:p>
                      <a:pPr algn="r"/>
                      <a:r>
                        <a:rPr sz="1150" b="0">
                          <a:solidFill>
                            <a:srgbClr val="5D6D7E"/>
                          </a:solidFill>
                          <a:latin typeface="Arial"/>
                        </a:rPr>
                        <a:t>+25p</a:t>
                      </a:r>
                    </a:p>
                  </a:txBody>
                  <a:tcPr>
                    <a:solidFill>
                      <a:srgbClr val="FFFFFF"/>
                    </a:solidFill>
                  </a:tcPr>
                </a:tc>
                <a:tc>
                  <a:txBody>
                    <a:bodyPr/>
                    <a:lstStyle/>
                    <a:p>
                      <a:pPr algn="r"/>
                      <a:r>
                        <a:rPr sz="1150" b="0">
                          <a:solidFill>
                            <a:srgbClr val="5D6D7E"/>
                          </a:solidFill>
                          <a:latin typeface="Arial"/>
                        </a:rPr>
                        <a:t>46,6%</a:t>
                      </a:r>
                    </a:p>
                  </a:txBody>
                  <a:tcPr>
                    <a:solidFill>
                      <a:srgbClr val="FFFFFF"/>
                    </a:solidFill>
                  </a:tcPr>
                </a:tc>
                <a:tc>
                  <a:txBody>
                    <a:bodyPr/>
                    <a:lstStyle/>
                    <a:p>
                      <a:pPr algn="r"/>
                      <a:r>
                        <a:rPr sz="1150" b="0">
                          <a:solidFill>
                            <a:srgbClr val="5D6D7E"/>
                          </a:solidFill>
                          <a:latin typeface="Arial"/>
                        </a:rPr>
                        <a:t>25,4%</a:t>
                      </a:r>
                    </a:p>
                  </a:txBody>
                  <a:tcPr>
                    <a:solidFill>
                      <a:srgbClr val="FFFFFF"/>
                    </a:solidFill>
                  </a:tcPr>
                </a:tc>
              </a:tr>
              <a:tr h="256032">
                <a:tc>
                  <a:txBody>
                    <a:bodyPr/>
                    <a:lstStyle/>
                    <a:p>
                      <a:pPr algn="l"/>
                      <a:r>
                        <a:rPr sz="1150" b="0">
                          <a:solidFill>
                            <a:srgbClr val="5D6D7E"/>
                          </a:solidFill>
                          <a:latin typeface="Arial"/>
                        </a:rPr>
                        <a:t>3.5% · único</a:t>
                      </a:r>
                    </a:p>
                  </a:txBody>
                  <a:tcPr>
                    <a:solidFill>
                      <a:srgbClr val="FFFFFF"/>
                    </a:solidFill>
                  </a:tcPr>
                </a:tc>
                <a:tc>
                  <a:txBody>
                    <a:bodyPr/>
                    <a:lstStyle/>
                    <a:p>
                      <a:pPr algn="r"/>
                      <a:r>
                        <a:rPr sz="1150" b="0">
                          <a:solidFill>
                            <a:srgbClr val="5D6D7E"/>
                          </a:solidFill>
                          <a:latin typeface="Arial"/>
                        </a:rPr>
                        <a:t>&gt; 43</a:t>
                      </a:r>
                    </a:p>
                  </a:txBody>
                  <a:tcPr>
                    <a:solidFill>
                      <a:srgbClr val="FFFFFF"/>
                    </a:solidFill>
                  </a:tcPr>
                </a:tc>
                <a:tc>
                  <a:txBody>
                    <a:bodyPr/>
                    <a:lstStyle/>
                    <a:p>
                      <a:pPr algn="r"/>
                      <a:r>
                        <a:rPr sz="1150" b="0">
                          <a:solidFill>
                            <a:srgbClr val="5D6D7E"/>
                          </a:solidFill>
                          <a:latin typeface="Arial"/>
                        </a:rPr>
                        <a:t>51,8%</a:t>
                      </a:r>
                    </a:p>
                  </a:txBody>
                  <a:tcPr>
                    <a:solidFill>
                      <a:srgbClr val="FFFFFF"/>
                    </a:solidFill>
                  </a:tcPr>
                </a:tc>
                <a:tc>
                  <a:txBody>
                    <a:bodyPr/>
                    <a:lstStyle/>
                    <a:p>
                      <a:pPr algn="r"/>
                      <a:r>
                        <a:rPr sz="1150" b="0">
                          <a:solidFill>
                            <a:srgbClr val="5D6D7E"/>
                          </a:solidFill>
                          <a:latin typeface="Arial"/>
                        </a:rPr>
                        <a:t>28,1%</a:t>
                      </a:r>
                    </a:p>
                  </a:txBody>
                  <a:tcPr>
                    <a:solidFill>
                      <a:srgbClr val="FFFFFF"/>
                    </a:solidFill>
                  </a:tcPr>
                </a:tc>
              </a:tr>
              <a:tr h="256032">
                <a:tc>
                  <a:txBody>
                    <a:bodyPr/>
                    <a:lstStyle/>
                    <a:p>
                      <a:pPr algn="l"/>
                      <a:r>
                        <a:rPr sz="1150" b="0">
                          <a:solidFill>
                            <a:srgbClr val="5D6D7E"/>
                          </a:solidFill>
                          <a:latin typeface="Arial"/>
                        </a:rPr>
                        <a:t>3.5% · parrilla</a:t>
                      </a:r>
                    </a:p>
                  </a:txBody>
                  <a:tcPr>
                    <a:solidFill>
                      <a:srgbClr val="FFFFFF"/>
                    </a:solidFill>
                  </a:tcPr>
                </a:tc>
                <a:tc>
                  <a:txBody>
                    <a:bodyPr/>
                    <a:lstStyle/>
                    <a:p>
                      <a:pPr algn="r"/>
                      <a:r>
                        <a:rPr sz="1150" b="0">
                          <a:solidFill>
                            <a:srgbClr val="5D6D7E"/>
                          </a:solidFill>
                          <a:latin typeface="Arial"/>
                        </a:rPr>
                        <a:t>+13p</a:t>
                      </a:r>
                    </a:p>
                  </a:txBody>
                  <a:tcPr>
                    <a:solidFill>
                      <a:srgbClr val="FFFFFF"/>
                    </a:solidFill>
                  </a:tcPr>
                </a:tc>
                <a:tc>
                  <a:txBody>
                    <a:bodyPr/>
                    <a:lstStyle/>
                    <a:p>
                      <a:pPr algn="r"/>
                      <a:r>
                        <a:rPr sz="1150" b="0">
                          <a:solidFill>
                            <a:srgbClr val="5D6D7E"/>
                          </a:solidFill>
                          <a:latin typeface="Arial"/>
                        </a:rPr>
                        <a:t>54,1%</a:t>
                      </a:r>
                    </a:p>
                  </a:txBody>
                  <a:tcPr>
                    <a:solidFill>
                      <a:srgbClr val="FFFFFF"/>
                    </a:solidFill>
                  </a:tcPr>
                </a:tc>
                <a:tc>
                  <a:txBody>
                    <a:bodyPr/>
                    <a:lstStyle/>
                    <a:p>
                      <a:pPr algn="r"/>
                      <a:r>
                        <a:rPr sz="1150" b="0">
                          <a:solidFill>
                            <a:srgbClr val="5D6D7E"/>
                          </a:solidFill>
                          <a:latin typeface="Arial"/>
                        </a:rPr>
                        <a:t>29,3%</a:t>
                      </a:r>
                    </a:p>
                  </a:txBody>
                  <a:tcPr>
                    <a:solidFill>
                      <a:srgbClr val="FFFFFF"/>
                    </a:solidFill>
                  </a:tcPr>
                </a:tc>
              </a:tr>
              <a:tr h="256032">
                <a:tc>
                  <a:txBody>
                    <a:bodyPr/>
                    <a:lstStyle/>
                    <a:p>
                      <a:pPr algn="l"/>
                      <a:r>
                        <a:rPr sz="1150" b="0">
                          <a:solidFill>
                            <a:srgbClr val="5D6D7E"/>
                          </a:solidFill>
                          <a:latin typeface="Arial"/>
                        </a:rPr>
                        <a:t>4% · único</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58,1%</a:t>
                      </a:r>
                    </a:p>
                  </a:txBody>
                  <a:tcPr>
                    <a:solidFill>
                      <a:srgbClr val="FFFFFF"/>
                    </a:solidFill>
                  </a:tcPr>
                </a:tc>
                <a:tc>
                  <a:txBody>
                    <a:bodyPr/>
                    <a:lstStyle/>
                    <a:p>
                      <a:pPr algn="r"/>
                      <a:r>
                        <a:rPr sz="1150" b="0">
                          <a:solidFill>
                            <a:srgbClr val="5D6D7E"/>
                          </a:solidFill>
                          <a:latin typeface="Arial"/>
                        </a:rPr>
                        <a:t>31,3%</a:t>
                      </a:r>
                    </a:p>
                  </a:txBody>
                  <a:tcPr>
                    <a:solidFill>
                      <a:srgbClr val="FFFFFF"/>
                    </a:solidFill>
                  </a:tcPr>
                </a:tc>
              </a:tr>
              <a:tr h="256032">
                <a:tc>
                  <a:txBody>
                    <a:bodyPr/>
                    <a:lstStyle/>
                    <a:p>
                      <a:pPr algn="l"/>
                      <a:r>
                        <a:rPr sz="1150" b="0">
                          <a:solidFill>
                            <a:srgbClr val="5D6D7E"/>
                          </a:solidFill>
                          <a:latin typeface="Arial"/>
                        </a:rPr>
                        <a:t>4% · parrilla</a:t>
                      </a:r>
                    </a:p>
                  </a:txBody>
                  <a:tcPr>
                    <a:solidFill>
                      <a:srgbClr val="FFFFFF"/>
                    </a:solidFill>
                  </a:tcPr>
                </a:tc>
                <a:tc>
                  <a:txBody>
                    <a:bodyPr/>
                    <a:lstStyle/>
                    <a:p>
                      <a:pPr algn="r"/>
                      <a:r>
                        <a:rPr sz="1150" b="0">
                          <a:solidFill>
                            <a:srgbClr val="5D6D7E"/>
                          </a:solidFill>
                          <a:latin typeface="Arial"/>
                        </a:rPr>
                        <a:t>+0p</a:t>
                      </a:r>
                    </a:p>
                  </a:txBody>
                  <a:tcPr>
                    <a:solidFill>
                      <a:srgbClr val="FFFFFF"/>
                    </a:solidFill>
                  </a:tcPr>
                </a:tc>
                <a:tc>
                  <a:txBody>
                    <a:bodyPr/>
                    <a:lstStyle/>
                    <a:p>
                      <a:pPr algn="r"/>
                      <a:r>
                        <a:rPr sz="1150" b="0">
                          <a:solidFill>
                            <a:srgbClr val="5D6D7E"/>
                          </a:solidFill>
                          <a:latin typeface="Arial"/>
                        </a:rPr>
                        <a:t>58,3%</a:t>
                      </a:r>
                    </a:p>
                  </a:txBody>
                  <a:tcPr>
                    <a:solidFill>
                      <a:srgbClr val="FFFFFF"/>
                    </a:solidFill>
                  </a:tcPr>
                </a:tc>
                <a:tc>
                  <a:txBody>
                    <a:bodyPr/>
                    <a:lstStyle/>
                    <a:p>
                      <a:pPr algn="r"/>
                      <a:r>
                        <a:rPr sz="1150" b="0">
                          <a:solidFill>
                            <a:srgbClr val="5D6D7E"/>
                          </a:solidFill>
                          <a:latin typeface="Arial"/>
                        </a:rPr>
                        <a:t>31,4%</a:t>
                      </a:r>
                    </a:p>
                  </a:txBody>
                  <a:tcPr>
                    <a:solidFill>
                      <a:srgbClr val="FFFFFF"/>
                    </a:solidFill>
                  </a:tcPr>
                </a:tc>
              </a:tr>
            </a:tbl>
          </a:graphicData>
        </a:graphic>
      </p:graphicFrame>
      <p:sp>
        <p:nvSpPr>
          <p:cNvPr id="8" name="TextBox 7"/>
          <p:cNvSpPr txBox="1"/>
          <p:nvPr/>
        </p:nvSpPr>
        <p:spPr>
          <a:xfrm>
            <a:off x="566928" y="5232894"/>
            <a:ext cx="6720840" cy="292608"/>
          </a:xfrm>
          <a:prstGeom prst="rect">
            <a:avLst/>
          </a:prstGeom>
          <a:noFill/>
        </p:spPr>
        <p:txBody>
          <a:bodyPr wrap="square">
            <a:spAutoFit/>
          </a:bodyPr>
          <a:lstStyle/>
          <a:p>
            <a:pPr algn="l">
              <a:lnSpc>
                <a:spcPct val="100000"/>
              </a:lnSpc>
            </a:pPr>
            <a:r>
              <a:rPr sz="1250" b="1">
                <a:solidFill>
                  <a:srgbClr val="E74C3C"/>
                </a:solidFill>
                <a:latin typeface="Arial"/>
              </a:rPr>
              <a:t>Por qué el modelo produce más que lo medido</a:t>
            </a:r>
          </a:p>
        </p:txBody>
      </p:sp>
      <p:sp>
        <p:nvSpPr>
          <p:cNvPr id="9" name="TextBox 8"/>
          <p:cNvSpPr txBox="1"/>
          <p:nvPr/>
        </p:nvSpPr>
        <p:spPr>
          <a:xfrm>
            <a:off x="566928" y="5543790"/>
            <a:ext cx="6720840" cy="1005840"/>
          </a:xfrm>
          <a:prstGeom prst="rect">
            <a:avLst/>
          </a:prstGeom>
          <a:noFill/>
        </p:spPr>
        <p:txBody>
          <a:bodyPr wrap="square">
            <a:spAutoFit/>
          </a:bodyPr>
          <a:lstStyle/>
          <a:p>
            <a:pPr algn="l">
              <a:lnSpc>
                <a:spcPct val="120000"/>
              </a:lnSpc>
            </a:pPr>
            <a:r>
              <a:rPr sz="1100" b="0">
                <a:solidFill>
                  <a:srgbClr val="5D6D7E"/>
                </a:solidFill>
                <a:latin typeface="Arial"/>
              </a:rPr>
              <a:t>La parrilla vigente calca las decisiones reales de Online (acepta el 51,8% de la demanda; el motor aprobó el 51,9%: swap-in 0,6%, swap-out 0,6%) y cada solicitud aceptada convierte a la tasa de su decisión real. La diferencia entre 16,8 y 15,3 M€/mes es por tanto la ganancia de tienda, medida sobre ago-2026 (único mes con EFX) frente a la ventana completa de 'hoy'.</a:t>
            </a:r>
          </a:p>
        </p:txBody>
      </p:sp>
      <p:sp>
        <p:nvSpPr>
          <p:cNvPr id="10" name="TextBox 9"/>
          <p:cNvSpPr txBox="1"/>
          <p:nvPr/>
        </p:nvSpPr>
        <p:spPr>
          <a:xfrm>
            <a:off x="7543800" y="4672584"/>
            <a:ext cx="4343400" cy="2103120"/>
          </a:xfrm>
          <a:prstGeom prst="rect">
            <a:avLst/>
          </a:prstGeom>
          <a:noFill/>
        </p:spPr>
        <p:txBody>
          <a:bodyPr wrap="square">
            <a:spAutoFit/>
          </a:bodyPr>
          <a:lstStyle/>
          <a:p>
            <a:pPr algn="l">
              <a:lnSpc>
                <a:spcPct val="125000"/>
              </a:lnSpc>
            </a:pPr>
            <a:r>
              <a:rPr sz="1050" b="0">
                <a:solidFill>
                  <a:srgbClr val="5D6D7E"/>
                </a:solidFill>
                <a:latin typeface="Arial"/>
              </a:rPr>
              <a:t>TA score: demanda que supera el corte.</a:t>
            </a:r>
          </a:p>
          <a:p>
            <a:pPr algn="l">
              <a:lnSpc>
                <a:spcPct val="125000"/>
              </a:lnSpc>
            </a:pPr>
            <a:r>
              <a:rPr sz="1050" b="0">
                <a:solidFill>
                  <a:srgbClr val="5D6D7E"/>
                </a:solidFill>
                <a:latin typeface="Arial"/>
              </a:rPr>
              <a:t>TA efectiva: producción / demanda, la misma base que el punto 1. No son comparables entre sí.</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Desplazar la parrilla actual mantiene su forma —laxa donde el grupo es bueno— y da algo más de aceptación al mismo riesgo.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PUNTO 4 · PARRILLAS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Política — sin periodo</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Qué parrilla implica cada escenario</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63624"/>
            <a:ext cx="11057839" cy="320040"/>
          </a:xfrm>
          <a:prstGeom prst="rect">
            <a:avLst/>
          </a:prstGeom>
          <a:noFill/>
        </p:spPr>
        <p:txBody>
          <a:bodyPr wrap="square">
            <a:spAutoFit/>
          </a:bodyPr>
          <a:lstStyle/>
          <a:p>
            <a:pPr algn="l">
              <a:lnSpc>
                <a:spcPct val="100000"/>
              </a:lnSpc>
            </a:pPr>
            <a:r>
              <a:rPr sz="1150" b="0">
                <a:solidFill>
                  <a:srgbClr val="5D6D7E"/>
                </a:solidFill>
                <a:latin typeface="Arial"/>
              </a:rPr>
              <a:t>Umbral de RECHAZO por grupo: se acepta por encima del valor.</a:t>
            </a:r>
          </a:p>
        </p:txBody>
      </p:sp>
      <p:sp>
        <p:nvSpPr>
          <p:cNvPr id="7" name="TextBox 6"/>
          <p:cNvSpPr txBox="1"/>
          <p:nvPr/>
        </p:nvSpPr>
        <p:spPr>
          <a:xfrm>
            <a:off x="566928" y="1975104"/>
            <a:ext cx="11057839" cy="292608"/>
          </a:xfrm>
          <a:prstGeom prst="rect">
            <a:avLst/>
          </a:prstGeom>
          <a:noFill/>
        </p:spPr>
        <p:txBody>
          <a:bodyPr wrap="square">
            <a:spAutoFit/>
          </a:bodyPr>
          <a:lstStyle/>
          <a:p>
            <a:pPr algn="l">
              <a:lnSpc>
                <a:spcPct val="100000"/>
              </a:lnSpc>
            </a:pPr>
            <a:r>
              <a:rPr sz="1400" b="1">
                <a:solidFill>
                  <a:srgbClr val="2C3E50"/>
                </a:solidFill>
                <a:latin typeface="Arial"/>
              </a:rPr>
              <a:t>Corte único para todo Apple</a:t>
            </a:r>
          </a:p>
        </p:txBody>
      </p:sp>
      <p:graphicFrame>
        <p:nvGraphicFramePr>
          <p:cNvPr id="8" name="Table 7"/>
          <p:cNvGraphicFramePr>
            <a:graphicFrameLocks noGrp="1"/>
          </p:cNvGraphicFramePr>
          <p:nvPr/>
        </p:nvGraphicFramePr>
        <p:xfrm>
          <a:off x="566928" y="2286000"/>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Grupo</a:t>
                      </a:r>
                    </a:p>
                  </a:txBody>
                  <a:tcPr>
                    <a:solidFill>
                      <a:srgbClr val="F6F7F9"/>
                    </a:solidFill>
                  </a:tcPr>
                </a:tc>
                <a:tc>
                  <a:txBody>
                    <a:bodyPr/>
                    <a:lstStyle/>
                    <a:p>
                      <a:pPr algn="r"/>
                      <a:r>
                        <a:rPr sz="1150" b="1">
                          <a:solidFill>
                            <a:srgbClr val="2C3E50"/>
                          </a:solidFill>
                          <a:latin typeface="Arial"/>
                        </a:rPr>
                        <a:t>Hoy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68</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43</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68</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43</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68</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43</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68</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43</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r>
            </a:tbl>
          </a:graphicData>
        </a:graphic>
      </p:graphicFrame>
      <p:sp>
        <p:nvSpPr>
          <p:cNvPr id="9" name="TextBox 8"/>
          <p:cNvSpPr txBox="1"/>
          <p:nvPr/>
        </p:nvSpPr>
        <p:spPr>
          <a:xfrm>
            <a:off x="566928" y="4059936"/>
            <a:ext cx="11057839" cy="292608"/>
          </a:xfrm>
          <a:prstGeom prst="rect">
            <a:avLst/>
          </a:prstGeom>
          <a:noFill/>
        </p:spPr>
        <p:txBody>
          <a:bodyPr wrap="square">
            <a:spAutoFit/>
          </a:bodyPr>
          <a:lstStyle/>
          <a:p>
            <a:pPr algn="l">
              <a:lnSpc>
                <a:spcPct val="100000"/>
              </a:lnSpc>
            </a:pPr>
            <a:r>
              <a:rPr sz="1400" b="1">
                <a:solidFill>
                  <a:srgbClr val="2C3E50"/>
                </a:solidFill>
                <a:latin typeface="Arial"/>
              </a:rPr>
              <a:t>Parrilla actual desplazada</a:t>
            </a:r>
          </a:p>
        </p:txBody>
      </p:sp>
      <p:graphicFrame>
        <p:nvGraphicFramePr>
          <p:cNvPr id="10" name="Table 9"/>
          <p:cNvGraphicFramePr>
            <a:graphicFrameLocks noGrp="1"/>
          </p:cNvGraphicFramePr>
          <p:nvPr/>
        </p:nvGraphicFramePr>
        <p:xfrm>
          <a:off x="566928" y="4370832"/>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Grupo</a:t>
                      </a:r>
                    </a:p>
                  </a:txBody>
                  <a:tcPr>
                    <a:solidFill>
                      <a:srgbClr val="F6F7F9"/>
                    </a:solidFill>
                  </a:tcPr>
                </a:tc>
                <a:tc>
                  <a:txBody>
                    <a:bodyPr/>
                    <a:lstStyle/>
                    <a:p>
                      <a:pPr algn="r"/>
                      <a:r>
                        <a:rPr sz="1150" b="1">
                          <a:solidFill>
                            <a:srgbClr val="2C3E50"/>
                          </a:solidFill>
                          <a:latin typeface="Arial"/>
                        </a:rPr>
                        <a:t>Hoy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65</a:t>
                      </a:r>
                    </a:p>
                  </a:txBody>
                  <a:tcPr>
                    <a:solidFill>
                      <a:srgbClr val="FFFFFF"/>
                    </a:solidFill>
                  </a:tcPr>
                </a:tc>
                <a:tc>
                  <a:txBody>
                    <a:bodyPr/>
                    <a:lstStyle/>
                    <a:p>
                      <a:pPr algn="r"/>
                      <a:r>
                        <a:rPr sz="1150" b="0">
                          <a:solidFill>
                            <a:srgbClr val="5D6D7E"/>
                          </a:solidFill>
                          <a:latin typeface="Arial"/>
                        </a:rPr>
                        <a:t>&gt; 52</a:t>
                      </a:r>
                    </a:p>
                  </a:txBody>
                  <a:tcPr>
                    <a:solidFill>
                      <a:srgbClr val="FFFFFF"/>
                    </a:solidFill>
                  </a:tcPr>
                </a:tc>
                <a:tc>
                  <a:txBody>
                    <a:bodyPr/>
                    <a:lstStyle/>
                    <a:p>
                      <a:pPr algn="r"/>
                      <a:r>
                        <a:rPr sz="1150" b="0">
                          <a:solidFill>
                            <a:srgbClr val="5D6D7E"/>
                          </a:solidFill>
                          <a:latin typeface="Arial"/>
                        </a:rPr>
                        <a:t>&gt; 40</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60</a:t>
                      </a:r>
                    </a:p>
                  </a:txBody>
                  <a:tcPr>
                    <a:solidFill>
                      <a:srgbClr val="FFFFFF"/>
                    </a:solidFill>
                  </a:tcPr>
                </a:tc>
                <a:tc>
                  <a:txBody>
                    <a:bodyPr/>
                    <a:lstStyle/>
                    <a:p>
                      <a:pPr algn="r"/>
                      <a:r>
                        <a:rPr sz="1150" b="0">
                          <a:solidFill>
                            <a:srgbClr val="5D6D7E"/>
                          </a:solidFill>
                          <a:latin typeface="Arial"/>
                        </a:rPr>
                        <a:t>&gt; 47</a:t>
                      </a:r>
                    </a:p>
                  </a:txBody>
                  <a:tcPr>
                    <a:solidFill>
                      <a:srgbClr val="FFFFFF"/>
                    </a:solidFill>
                  </a:tcPr>
                </a:tc>
                <a:tc>
                  <a:txBody>
                    <a:bodyPr/>
                    <a:lstStyle/>
                    <a:p>
                      <a:pPr algn="r"/>
                      <a:r>
                        <a:rPr sz="1150" b="0">
                          <a:solidFill>
                            <a:srgbClr val="5D6D7E"/>
                          </a:solidFill>
                          <a:latin typeface="Arial"/>
                        </a:rPr>
                        <a:t>&gt; 35</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54</a:t>
                      </a:r>
                    </a:p>
                  </a:txBody>
                  <a:tcPr>
                    <a:solidFill>
                      <a:srgbClr val="FFFFFF"/>
                    </a:solidFill>
                  </a:tcPr>
                </a:tc>
                <a:tc>
                  <a:txBody>
                    <a:bodyPr/>
                    <a:lstStyle/>
                    <a:p>
                      <a:pPr algn="r"/>
                      <a:r>
                        <a:rPr sz="1150" b="0">
                          <a:solidFill>
                            <a:srgbClr val="5D6D7E"/>
                          </a:solidFill>
                          <a:latin typeface="Arial"/>
                        </a:rPr>
                        <a:t>&gt; 41</a:t>
                      </a:r>
                    </a:p>
                  </a:txBody>
                  <a:tcPr>
                    <a:solidFill>
                      <a:srgbClr val="FFFFFF"/>
                    </a:solidFill>
                  </a:tcPr>
                </a:tc>
                <a:tc>
                  <a:txBody>
                    <a:bodyPr/>
                    <a:lstStyle/>
                    <a:p>
                      <a:pPr algn="r"/>
                      <a:r>
                        <a:rPr sz="1150" b="0">
                          <a:solidFill>
                            <a:srgbClr val="5D6D7E"/>
                          </a:solidFill>
                          <a:latin typeface="Arial"/>
                        </a:rPr>
                        <a:t>&gt; 29</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60</a:t>
                      </a:r>
                    </a:p>
                  </a:txBody>
                  <a:tcPr>
                    <a:solidFill>
                      <a:srgbClr val="FFFFFF"/>
                    </a:solidFill>
                  </a:tcPr>
                </a:tc>
                <a:tc>
                  <a:txBody>
                    <a:bodyPr/>
                    <a:lstStyle/>
                    <a:p>
                      <a:pPr algn="r"/>
                      <a:r>
                        <a:rPr sz="1150" b="0">
                          <a:solidFill>
                            <a:srgbClr val="5D6D7E"/>
                          </a:solidFill>
                          <a:latin typeface="Arial"/>
                        </a:rPr>
                        <a:t>&gt; 47</a:t>
                      </a:r>
                    </a:p>
                  </a:txBody>
                  <a:tcPr>
                    <a:solidFill>
                      <a:srgbClr val="FFFFFF"/>
                    </a:solidFill>
                  </a:tcPr>
                </a:tc>
                <a:tc>
                  <a:txBody>
                    <a:bodyPr/>
                    <a:lstStyle/>
                    <a:p>
                      <a:pPr algn="r"/>
                      <a:r>
                        <a:rPr sz="1150" b="0">
                          <a:solidFill>
                            <a:srgbClr val="5D6D7E"/>
                          </a:solidFill>
                          <a:latin typeface="Arial"/>
                        </a:rPr>
                        <a:t>&gt; 35</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r>
            </a:tbl>
          </a:graphicData>
        </a:graphic>
      </p:graphicFrame>
      <p:sp>
        <p:nvSpPr>
          <p:cNvPr id="11" name="TextBox 10"/>
          <p:cNvSpPr txBox="1"/>
          <p:nvPr/>
        </p:nvSpPr>
        <p:spPr>
          <a:xfrm>
            <a:off x="566928" y="6144768"/>
            <a:ext cx="11057839" cy="640080"/>
          </a:xfrm>
          <a:prstGeom prst="rect">
            <a:avLst/>
          </a:prstGeom>
          <a:noFill/>
        </p:spPr>
        <p:txBody>
          <a:bodyPr wrap="square">
            <a:spAutoFit/>
          </a:bodyPr>
          <a:lstStyle/>
          <a:p>
            <a:pPr algn="l">
              <a:lnSpc>
                <a:spcPct val="120000"/>
              </a:lnSpc>
            </a:pPr>
            <a:r>
              <a:rPr sz="1100" b="0">
                <a:solidFill>
                  <a:srgbClr val="5D6D7E"/>
                </a:solidFill>
                <a:latin typeface="Arial"/>
              </a:rPr>
              <a:t>El corte único es más simple de operar; desplazar la parrilla conserva su forma —laxa donde el grupo es bueno— y da algo más de aceptación al mismo riesgo. '&gt;=G' se rechaza siempre en ambos.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METODOLOGÍA · RIESGO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mar-2025 a feb-2026  ·  tienda ago-2026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Cómo se estima el riesgo de tienda</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Riesgo realizado por tramo de score, en Apple Online</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Para cada uno de los 20 tramos de EFX, la morosidad observada de los contratos con 6 meses cumplidos. Es lo único del estudio que sale directamente del dato.</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MEDIDO</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Corrección por selección (reject inference)</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Los contratados de un tramo pasaron además el resto de reglas: son una muestra seleccionada y su morosidad subestima la de quien hoy se deniega. Se aplica el parceling del pipeline, con uplift según la tasa de aceptación: 2,4x donde solo entra el 3%, 1,0x donde entra el 100%.</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CORREGIDO</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Esa curva se traslada a la población de tienda</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A cada solicitud de tienda se le asigna el riesgo del tramo EFX en el que cae. Aquí está el supuesto de fondo: que el score ordena en tienda igual que en e-commerce.</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E74C3C"/>
                </a:solidFill>
                <a:latin typeface="Arial"/>
              </a:rPr>
              <a:t>ASUMIDO</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El nivel se ancla a la morosidad real de tienda</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La curva de Online predice un 3,79% sobre la cartera contratada de tienda; lo realmente observado es 3,74%. Se reescala por 0,988 para que reproduzca el dato. El nivel deja de ser un supuesto: solo queda asumido el poder discriminante.</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MEDIDO</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Qué significa en la práctica: si EFX discrimina en tienda peor de lo que discrimina en Online, los cortes de los escenarios se quedan cortos. Lo que ya no puede fallar es la altura de la curva, porque está calibrada contra la morosidad que tienda ha tenido de verdad.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METODOLOGÍA · ESTACIONALIDAD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Años completos 2024 y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Cómo se anualiza</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El problema: tienda solo tiene un mes con score, y es agosto</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El score EFX se activó en tienda en ago-2026. Comparar un mes suelto contra una media de doce exige saber cuánto vale ese mes.</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MEDIDO</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Agosto no es un mes medio, y cada canal tiene el suyo</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Índice de agosto: 0,49 en Online y 0,76 en tienda. Online concentra la demanda en el lanzamiento de iPhone (sep 2,03) y tienda en Navidad (dic 1,70). La correlación entre ambos perfiles es 0,39: no son el mismo patrón.</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3498DB"/>
                </a:solidFill>
                <a:latin typeface="Arial"/>
              </a:rPr>
              <a:t>MEDIDO</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Meses efectivos en vez de meses de calendario</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El run-rate no se divide por el número de meses sino por la suma del índice estacional de los meses cubiertos. Una ventana natural completa suma 12,00 y no altera nada; el agosto de tienda suma 0,76 y corrige por ser un mes flojo.</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CORREGIDO</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Efecto sobre el peso de tienda en Apple Total</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Sin corregir, tienda parecía pesar el 20% de la demanda. Con su estacionalidad propia pesa el 25%. Si se le hubiera aplicado la de Online —lo único posible antes de tener su histórico— habríamos dicho 34%, y todos los escenarios saldrían con más producción de la real.</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MEDIDO</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El índice se estima promediando años naturales completos, de modo que el crecimiento de volumen entre años no se confunda con estacionalidad. Lo que queda abierto es si el mix de un único mes de tienda es representativo del año.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ANEXO · EL MOTOR DEL ESTUDIO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Originación mar-2025 a feb-2026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El score EFX ordena el riesgo en e-commerce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rva.png"/>
          <p:cNvPicPr>
            <a:picLocks noChangeAspect="1"/>
          </p:cNvPicPr>
          <p:nvPr/>
        </p:nvPicPr>
        <p:blipFill>
          <a:blip r:embed="rId2"/>
          <a:stretch>
            <a:fillRect/>
          </a:stretch>
        </p:blipFill>
        <p:spPr>
          <a:xfrm>
            <a:off x="1798613" y="1563624"/>
            <a:ext cx="8594469"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La curva de riesgo por tramo es lo único medido del estudio. Todo lo demás —el riesgo de tienda, los escenarios— se deriva de ella.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ANEXO · DESGLOSE POR SEGMENTO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Tienda ago-2026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De dónde sale la mejora en tienda</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enda_segmentos.png"/>
          <p:cNvPicPr>
            <a:picLocks noChangeAspect="1"/>
          </p:cNvPicPr>
          <p:nvPr/>
        </p:nvPicPr>
        <p:blipFill>
          <a:blip r:embed="rId2"/>
          <a:stretch>
            <a:fillRect/>
          </a:stretch>
        </p:blipFill>
        <p:spPr>
          <a:xfrm>
            <a:off x="648653" y="1563624"/>
            <a:ext cx="10894388"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'New' concentra el 82% de la demanda de tienda y es donde el riesgo baja. El take-up se mide por segmento y por decisión del motor (aprobada / en revisión). '&gt;=G' no aparece: se rechaza siempre, así que no tiene ni aceptación ni riesgo.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ANEXO · ANUALIZACIÓN</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Años completos 2024 y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Los dos canales no comparten estacionalidad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stacional.png"/>
          <p:cNvPicPr>
            <a:picLocks noChangeAspect="1"/>
          </p:cNvPicPr>
          <p:nvPr/>
        </p:nvPicPr>
        <p:blipFill>
          <a:blip r:embed="rId2"/>
          <a:stretch>
            <a:fillRect/>
          </a:stretch>
        </p:blipFill>
        <p:spPr>
          <a:xfrm>
            <a:off x="1283034" y="1563624"/>
            <a:ext cx="9625627"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El único mes con score en tienda es agosto, así que su peso en Apple depende de cómo se anualice. Tienda tiene su pico en diciembre y septiembre entre sus meses más flojos: usar la curva de Online le habría inflado el peso al 34% cuando con su propia estacionalidad es el 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LIMITACIONES Y SIGUIENTES PASOS</a:t>
            </a:r>
          </a:p>
        </p:txBody>
      </p:sp>
      <p:sp>
        <p:nvSpPr>
          <p:cNvPr id="3" name="TextBox 2"/>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Qué falta y qué haría falta decidir</a:t>
            </a:r>
          </a:p>
        </p:txBody>
      </p:sp>
      <p:sp>
        <p:nvSpPr>
          <p:cNvPr id="4" name="Rectangle 3"/>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63624"/>
            <a:ext cx="5394960" cy="365760"/>
          </a:xfrm>
          <a:prstGeom prst="rect">
            <a:avLst/>
          </a:prstGeom>
          <a:noFill/>
        </p:spPr>
        <p:txBody>
          <a:bodyPr wrap="square">
            <a:spAutoFit/>
          </a:bodyPr>
          <a:lstStyle/>
          <a:p>
            <a:pPr algn="l">
              <a:lnSpc>
                <a:spcPct val="100000"/>
              </a:lnSpc>
            </a:pPr>
            <a:r>
              <a:rPr sz="1500" b="1">
                <a:solidFill>
                  <a:srgbClr val="E74C3C"/>
                </a:solidFill>
                <a:latin typeface="Arial"/>
              </a:rPr>
              <a:t>Limitaciones del estudio</a:t>
            </a:r>
          </a:p>
        </p:txBody>
      </p:sp>
      <p:sp>
        <p:nvSpPr>
          <p:cNvPr id="6" name="TextBox 5"/>
          <p:cNvSpPr txBox="1"/>
          <p:nvPr/>
        </p:nvSpPr>
        <p:spPr>
          <a:xfrm>
            <a:off x="566928" y="2020824"/>
            <a:ext cx="5394960" cy="4471416"/>
          </a:xfrm>
          <a:prstGeom prst="rect">
            <a:avLst/>
          </a:prstGeom>
          <a:noFill/>
        </p:spPr>
        <p:txBody>
          <a:bodyPr wrap="square">
            <a:spAutoFit/>
          </a:bodyPr>
          <a:lstStyle/>
          <a:p>
            <a:pPr>
              <a:spcAft>
                <a:spcPts val="900"/>
              </a:spcAft>
            </a:pPr>
            <a:r>
              <a:rPr sz="1200" b="1">
                <a:solidFill>
                  <a:srgbClr val="2C3E50"/>
                </a:solidFill>
                <a:latin typeface="Arial"/>
              </a:rPr>
              <a:t>Riesgo de tienda estimado.  </a:t>
            </a:r>
            <a:r>
              <a:rPr sz="1200">
                <a:solidFill>
                  <a:srgbClr val="5D6D7E"/>
                </a:solidFill>
                <a:latin typeface="Arial"/>
              </a:rPr>
              <a:t>Las operaciones de tienda con EFX tienen 0-2 meses y no tienen comportamiento observable. H3 hacia nov-2026, H6 hacia feb-2027.</a:t>
            </a:r>
          </a:p>
          <a:p>
            <a:pPr>
              <a:spcAft>
                <a:spcPts val="900"/>
              </a:spcAft>
            </a:pPr>
            <a:r>
              <a:rPr sz="1200" b="1">
                <a:solidFill>
                  <a:srgbClr val="2C3E50"/>
                </a:solidFill>
                <a:latin typeface="Arial"/>
              </a:rPr>
              <a:t>Comparación condicional.  </a:t>
            </a:r>
            <a:r>
              <a:rPr sz="1200">
                <a:solidFill>
                  <a:srgbClr val="5D6D7E"/>
                </a:solidFill>
                <a:latin typeface="Arial"/>
              </a:rPr>
              <a:t>El score interno y EFX se comparan con la vara de EFX. No demuestra que EFX sea mejor en tienda: lo asume. Lo contrastado es el nivel de riesgo, no el poder discriminante.</a:t>
            </a:r>
          </a:p>
          <a:p>
            <a:pPr>
              <a:spcAft>
                <a:spcPts val="900"/>
              </a:spcAft>
            </a:pPr>
            <a:r>
              <a:rPr sz="1200" b="1">
                <a:solidFill>
                  <a:srgbClr val="2C3E50"/>
                </a:solidFill>
                <a:latin typeface="Arial"/>
              </a:rPr>
              <a:t>Tramos bajos débiles.  </a:t>
            </a:r>
            <a:r>
              <a:rPr sz="1200">
                <a:solidFill>
                  <a:srgbClr val="5D6D7E"/>
                </a:solidFill>
                <a:latin typeface="Arial"/>
              </a:rPr>
              <a:t>Los tramos 1-6 apenas tienen producción, y es donde más pesa el uplift por selección (2,4x). Son los que abren el escenario más laxo.</a:t>
            </a:r>
          </a:p>
          <a:p>
            <a:pPr>
              <a:spcAft>
                <a:spcPts val="900"/>
              </a:spcAft>
            </a:pPr>
            <a:r>
              <a:rPr sz="1200" b="1">
                <a:solidFill>
                  <a:srgbClr val="2C3E50"/>
                </a:solidFill>
                <a:latin typeface="Arial"/>
              </a:rPr>
              <a:t>Un solo mes de tienda.  </a:t>
            </a:r>
            <a:r>
              <a:rPr sz="1200">
                <a:solidFill>
                  <a:srgbClr val="5D6D7E"/>
                </a:solidFill>
                <a:latin typeface="Arial"/>
              </a:rPr>
              <a:t>La foto sale de ago-2026. Su estacionalidad propia ya está medida, pero el mix de un único mes puede no ser representativo.</a:t>
            </a:r>
          </a:p>
        </p:txBody>
      </p:sp>
      <p:sp>
        <p:nvSpPr>
          <p:cNvPr id="7" name="TextBox 6"/>
          <p:cNvSpPr txBox="1"/>
          <p:nvPr/>
        </p:nvSpPr>
        <p:spPr>
          <a:xfrm>
            <a:off x="6327648" y="1563624"/>
            <a:ext cx="5394960" cy="365760"/>
          </a:xfrm>
          <a:prstGeom prst="rect">
            <a:avLst/>
          </a:prstGeom>
          <a:noFill/>
        </p:spPr>
        <p:txBody>
          <a:bodyPr wrap="square">
            <a:spAutoFit/>
          </a:bodyPr>
          <a:lstStyle/>
          <a:p>
            <a:pPr algn="l">
              <a:lnSpc>
                <a:spcPct val="100000"/>
              </a:lnSpc>
            </a:pPr>
            <a:r>
              <a:rPr sz="1500" b="1">
                <a:solidFill>
                  <a:srgbClr val="3498DB"/>
                </a:solidFill>
                <a:latin typeface="Arial"/>
              </a:rPr>
              <a:t>Siguientes pasos</a:t>
            </a:r>
          </a:p>
        </p:txBody>
      </p:sp>
      <p:sp>
        <p:nvSpPr>
          <p:cNvPr id="8" name="TextBox 7"/>
          <p:cNvSpPr txBox="1"/>
          <p:nvPr/>
        </p:nvSpPr>
        <p:spPr>
          <a:xfrm>
            <a:off x="6327648" y="2020824"/>
            <a:ext cx="5394960" cy="4471416"/>
          </a:xfrm>
          <a:prstGeom prst="rect">
            <a:avLst/>
          </a:prstGeom>
          <a:noFill/>
        </p:spPr>
        <p:txBody>
          <a:bodyPr wrap="square">
            <a:spAutoFit/>
          </a:bodyPr>
          <a:lstStyle/>
          <a:p>
            <a:pPr>
              <a:spcAft>
                <a:spcPts val="900"/>
              </a:spcAft>
            </a:pPr>
            <a:r>
              <a:rPr sz="1200" b="1">
                <a:solidFill>
                  <a:srgbClr val="2C3E50"/>
                </a:solidFill>
                <a:latin typeface="Arial"/>
              </a:rPr>
              <a:t>Extracción.  </a:t>
            </a:r>
            <a:r>
              <a:rPr sz="1200">
                <a:solidFill>
                  <a:srgbClr val="5D6D7E"/>
                </a:solidFill>
                <a:latin typeface="Arial"/>
              </a:rPr>
              <a:t>Refresco de Online a ago-2026, score EFX en tienda y su histórico de comportamiento para anclar el nivel de riesgo.</a:t>
            </a:r>
          </a:p>
          <a:p>
            <a:pPr>
              <a:spcAft>
                <a:spcPts val="900"/>
              </a:spcAft>
            </a:pPr>
            <a:r>
              <a:rPr sz="1200" b="1">
                <a:solidFill>
                  <a:srgbClr val="2C3E50"/>
                </a:solidFill>
                <a:latin typeface="Arial"/>
              </a:rPr>
              <a:t>Decisión de negocio.  </a:t>
            </a:r>
            <a:r>
              <a:rPr sz="1200">
                <a:solidFill>
                  <a:srgbClr val="5D6D7E"/>
                </a:solidFill>
                <a:latin typeface="Arial"/>
              </a:rPr>
              <a:t>Objetivo de riesgo global y si el corte es único o por segmento.</a:t>
            </a:r>
          </a:p>
          <a:p>
            <a:pPr>
              <a:spcAft>
                <a:spcPts val="900"/>
              </a:spcAft>
            </a:pPr>
            <a:r>
              <a:rPr sz="1200" b="1">
                <a:solidFill>
                  <a:srgbClr val="2C3E50"/>
                </a:solidFill>
                <a:latin typeface="Arial"/>
              </a:rPr>
              <a:t>Validación.  </a:t>
            </a:r>
            <a:r>
              <a:rPr sz="1200">
                <a:solidFill>
                  <a:srgbClr val="5D6D7E"/>
                </a:solidFill>
                <a:latin typeface="Arial"/>
              </a:rPr>
              <a:t>Repetir con el pipeline completo: reject inference, intervalos de confianza y auditoría swap-in / swap-out.</a:t>
            </a:r>
          </a:p>
          <a:p>
            <a:pPr>
              <a:spcAft>
                <a:spcPts val="900"/>
              </a:spcAft>
            </a:pPr>
            <a:r>
              <a:rPr sz="1200" b="1">
                <a:solidFill>
                  <a:srgbClr val="2C3E50"/>
                </a:solidFill>
                <a:latin typeface="Arial"/>
              </a:rPr>
              <a:t>Medición.  </a:t>
            </a:r>
            <a:r>
              <a:rPr sz="1200">
                <a:solidFill>
                  <a:srgbClr val="5D6D7E"/>
                </a:solidFill>
                <a:latin typeface="Arial"/>
              </a:rPr>
              <a:t>Revisar en nov-2026 con H3 y en feb-2027 con H6 reales de tienda.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