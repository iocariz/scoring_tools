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16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55.7%</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43.0%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3.52%</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29.0%</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21.0%</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25.7%</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30.0%</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31.6%</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2.5x).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64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acceptance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926080"/>
        </p:xfrm>
        <a:graphic>
          <a:graphicData uri="http://schemas.openxmlformats.org/drawingml/2006/table">
            <a:tbl>
              <a:tblPr firstRow="1" bandRow="1">
                <a:tableStyleId>{5C22544A-7EE6-4342-B048-85BDC9FD1C3A}</a:tableStyleId>
              </a:tblPr>
              <a:tblGrid>
                <a:gridCol w="3154680"/>
                <a:gridCol w="1234440"/>
                <a:gridCol w="1234440"/>
                <a:gridCol w="1234440"/>
              </a:tblGrid>
              <a:tr h="292608">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292608">
                <a:tc>
                  <a:txBody>
                    <a:bodyPr/>
                    <a:lstStyle/>
                    <a:p>
                      <a:pPr algn="l"/>
                      <a:r>
                        <a:rPr sz="1150" b="0">
                          <a:solidFill>
                            <a:srgbClr val="5D6D7E"/>
                          </a:solidFill>
                          <a:latin typeface="Arial"/>
                        </a:rPr>
                        <a:t>booked  (= acceptance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55.1%</a:t>
                      </a:r>
                    </a:p>
                  </a:txBody>
                  <a:tcPr>
                    <a:solidFill>
                      <a:srgbClr val="FFFFFF"/>
                    </a:solidFill>
                  </a:tcPr>
                </a:tc>
                <a:tc>
                  <a:txBody>
                    <a:bodyPr/>
                    <a:lstStyle/>
                    <a:p>
                      <a:pPr algn="r"/>
                      <a:r>
                        <a:rPr sz="1150" b="0">
                          <a:solidFill>
                            <a:srgbClr val="5D6D7E"/>
                          </a:solidFill>
                          <a:latin typeface="Arial"/>
                        </a:rPr>
                        <a:t>43.0%</a:t>
                      </a:r>
                    </a:p>
                  </a:txBody>
                  <a:tcPr>
                    <a:solidFill>
                      <a:srgbClr val="FFFFFF"/>
                    </a:solidFill>
                  </a:tcPr>
                </a:tc>
              </a:tr>
              <a:tr h="292608">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6.6%</a:t>
                      </a:r>
                    </a:p>
                  </a:txBody>
                  <a:tcPr>
                    <a:solidFill>
                      <a:srgbClr val="FFFFFF"/>
                    </a:solidFill>
                  </a:tcPr>
                </a:tc>
                <a:tc>
                  <a:txBody>
                    <a:bodyPr/>
                    <a:lstStyle/>
                    <a:p>
                      <a:pPr algn="r"/>
                      <a:r>
                        <a:rPr sz="1150" b="0">
                          <a:solidFill>
                            <a:srgbClr val="5D6D7E"/>
                          </a:solidFill>
                          <a:latin typeface="Arial"/>
                        </a:rPr>
                        <a:t>8.7%</a:t>
                      </a:r>
                    </a:p>
                  </a:txBody>
                  <a:tcPr>
                    <a:solidFill>
                      <a:srgbClr val="FFFFFF"/>
                    </a:solidFill>
                  </a:tcPr>
                </a:tc>
              </a:tr>
              <a:tr h="292608">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r>
              <a:tr h="292608">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6.8%</a:t>
                      </a:r>
                    </a:p>
                  </a:txBody>
                  <a:tcPr>
                    <a:solidFill>
                      <a:srgbClr val="FFFFFF"/>
                    </a:solidFill>
                  </a:tcPr>
                </a:tc>
                <a:tc>
                  <a:txBody>
                    <a:bodyPr/>
                    <a:lstStyle/>
                    <a:p>
                      <a:pPr algn="r"/>
                      <a:r>
                        <a:rPr sz="1150" b="0">
                          <a:solidFill>
                            <a:srgbClr val="5D6D7E"/>
                          </a:solidFill>
                          <a:latin typeface="Arial"/>
                        </a:rPr>
                        <a:t>10.6%</a:t>
                      </a:r>
                    </a:p>
                  </a:txBody>
                  <a:tcPr>
                    <a:solidFill>
                      <a:srgbClr val="FFFFFF"/>
                    </a:solidFill>
                  </a:tcPr>
                </a:tc>
                <a:tc>
                  <a:txBody>
                    <a:bodyPr/>
                    <a:lstStyle/>
                    <a:p>
                      <a:pPr algn="r"/>
                      <a:r>
                        <a:rPr sz="1150" b="0">
                          <a:solidFill>
                            <a:srgbClr val="5D6D7E"/>
                          </a:solidFill>
                          <a:latin typeface="Arial"/>
                        </a:rPr>
                        <a:t>19.2%</a:t>
                      </a:r>
                    </a:p>
                  </a:txBody>
                  <a:tcPr>
                    <a:solidFill>
                      <a:srgbClr val="FFFFFF"/>
                    </a:solidFill>
                  </a:tcPr>
                </a:tc>
              </a:tr>
              <a:tr h="292608">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19.1%</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r>
              <a:tr h="292608">
                <a:tc>
                  <a:txBody>
                    <a:bodyPr/>
                    <a:lstStyle/>
                    <a:p>
                      <a:pPr algn="l"/>
                      <a:r>
                        <a:rPr sz="1150" b="0">
                          <a:solidFill>
                            <a:srgbClr val="5D6D7E"/>
                          </a:solidFill>
                          <a:latin typeface="Arial"/>
                        </a:rPr>
                        <a:t>rejected at the light assessment (no Equifax call)</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c>
                  <a:txBody>
                    <a:bodyPr/>
                    <a:lstStyle/>
                    <a:p>
                      <a:pPr algn="r"/>
                      <a:r>
                        <a:rPr sz="1150" b="0">
                          <a:solidFill>
                            <a:srgbClr val="5D6D7E"/>
                          </a:solidFill>
                          <a:latin typeface="Arial"/>
                        </a:rPr>
                        <a:t>6.2%</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r>
              <a:tr h="292608">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292608">
                <a:tc>
                  <a:txBody>
                    <a:bodyPr/>
                    <a:lstStyle/>
                    <a:p>
                      <a:pPr algn="l"/>
                      <a:r>
                        <a:rPr sz="1150" b="0">
                          <a:solidFill>
                            <a:srgbClr val="5D6D7E"/>
                          </a:solidFill>
                          <a:latin typeface="Arial"/>
                        </a:rPr>
                        <a:t>Engine approval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64.1%</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r>
              <a:tr h="292608">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00" b="1">
                <a:solidFill>
                  <a:srgbClr val="2C3E50"/>
                </a:solidFill>
                <a:latin typeface="Arial"/>
              </a:rPr>
              <a:t>Acceptance rate (effective).  </a:t>
            </a:r>
            <a:r>
              <a:rPr sz="1000">
                <a:solidFill>
                  <a:srgbClr val="5D6D7E"/>
                </a:solidFill>
                <a:latin typeface="Arial"/>
              </a:rPr>
              <a:t>€ booked / € applied for, over every application that comes through the door — rejected, cancelled and booked alike. The first row of the table. Point 1 and every scenario use it.</a:t>
            </a:r>
          </a:p>
          <a:p>
            <a:pPr>
              <a:spcAft>
                <a:spcPts val="900"/>
              </a:spcAft>
            </a:pPr>
            <a:r>
              <a:rPr sz="1000" b="1">
                <a:solidFill>
                  <a:srgbClr val="2C3E50"/>
                </a:solidFill>
                <a:latin typeface="Arial"/>
              </a:rPr>
              <a:t>Score acceptance.  </a:t>
            </a:r>
            <a:r>
              <a:rPr sz="1000">
                <a:solidFill>
                  <a:srgbClr val="5D6D7E"/>
                </a:solidFill>
                <a:latin typeface="Arial"/>
              </a:rPr>
              <a:t>€ above the score cutoff and not rejected by another rule, over € demand. Comparable with the engine's approval rate, not with the effective one; shown only in the scenario table.</a:t>
            </a:r>
          </a:p>
          <a:p>
            <a:pPr>
              <a:spcAft>
                <a:spcPts val="900"/>
              </a:spcAft>
            </a:pPr>
            <a:r>
              <a:rPr sz="1000" b="1">
                <a:solidFill>
                  <a:srgbClr val="2C3E50"/>
                </a:solidFill>
                <a:latin typeface="Arial"/>
              </a:rPr>
              <a:t>Unfinished demand.  </a:t>
            </a:r>
            <a:r>
              <a:rPr sz="100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00" b="1">
                <a:solidFill>
                  <a:srgbClr val="2C3E50"/>
                </a:solidFill>
                <a:latin typeface="Arial"/>
              </a:rPr>
              <a:t>Approved, rejected downstream.  </a:t>
            </a:r>
            <a:r>
              <a:rPr sz="1000">
                <a:solidFill>
                  <a:srgbClr val="5D6D7E"/>
                </a:solidFill>
                <a:latin typeface="Arial"/>
              </a:rPr>
              <a:t>Approved by the engine, rejected at a later step (no reason in the extract). Treated like unfinished demand.</a:t>
            </a:r>
          </a:p>
          <a:p>
            <a:pPr>
              <a:spcAft>
                <a:spcPts val="900"/>
              </a:spcAft>
            </a:pPr>
            <a:r>
              <a:rPr sz="1000" b="1">
                <a:solidFill>
                  <a:srgbClr val="2C3E50"/>
                </a:solidFill>
                <a:latin typeface="Arial"/>
              </a:rPr>
              <a:t>Light assessment.  </a:t>
            </a:r>
            <a:r>
              <a:rPr sz="1000">
                <a:solidFill>
                  <a:srgbClr val="5D6D7E"/>
                </a:solidFill>
                <a:latin typeface="Arial"/>
              </a:rPr>
              <a:t>Applications rejected before the full study: the Equifax API is never called, so they have no score. They count in the denominator like any rejection and are never swap-in candidates nor given an imputed risk. The extract carries them for stores from Jul 2025 and for Online from May 2026 (outside the Online window); the stores 'today' window has them in 8 of its 12 months, so its acceptance rate is a blend. Online's own unscored rejections have always been in its base.</a:t>
            </a:r>
          </a:p>
          <a:p>
            <a:pPr>
              <a:spcAft>
                <a:spcPts val="900"/>
              </a:spcAft>
            </a:pPr>
            <a:r>
              <a:rPr sz="1000" b="1">
                <a:solidFill>
                  <a:srgbClr val="2C3E50"/>
                </a:solidFill>
                <a:latin typeface="Arial"/>
              </a:rPr>
              <a:t>Reject inference.  </a:t>
            </a:r>
            <a:r>
              <a:rPr sz="1000">
                <a:solidFill>
                  <a:srgbClr val="5D6D7E"/>
                </a:solidFill>
                <a:latin typeface="Arial"/>
              </a:rPr>
              <a:t>None of these states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(55.1% over Mar 2025 – Feb 2026, 43.0%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43.0% and on the previous slide 55.1%.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29.0%</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27.7%</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c>
                  <a:txBody>
                    <a:bodyPr/>
                    <a:lstStyle/>
                    <a:p>
                      <a:pPr algn="r"/>
                      <a:r>
                        <a:rPr sz="1150" b="0">
                          <a:solidFill>
                            <a:srgbClr val="5D6D7E"/>
                          </a:solidFill>
                          <a:latin typeface="Arial"/>
                        </a:rPr>
                        <a:t>21.0%</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c>
                  <a:txBody>
                    <a:bodyPr/>
                    <a:lstStyle/>
                    <a:p>
                      <a:pPr algn="r"/>
                      <a:r>
                        <a:rPr sz="1150" b="0">
                          <a:solidFill>
                            <a:srgbClr val="5D6D7E"/>
                          </a:solidFill>
                          <a:latin typeface="Arial"/>
                        </a:rPr>
                        <a:t>25.7%</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47.5%</a:t>
                      </a:r>
                    </a:p>
                  </a:txBody>
                  <a:tcPr>
                    <a:solidFill>
                      <a:srgbClr val="FFFFFF"/>
                    </a:solidFill>
                  </a:tcPr>
                </a:tc>
                <a:tc>
                  <a:txBody>
                    <a:bodyPr/>
                    <a:lstStyle/>
                    <a:p>
                      <a:pPr algn="r"/>
                      <a:r>
                        <a:rPr sz="1150" b="0">
                          <a:solidFill>
                            <a:srgbClr val="5D6D7E"/>
                          </a:solidFill>
                          <a:latin typeface="Arial"/>
                        </a:rPr>
                        <a:t>26.7%</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c>
                  <a:txBody>
                    <a:bodyPr/>
                    <a:lstStyle/>
                    <a:p>
                      <a:pPr algn="r"/>
                      <a:r>
                        <a:rPr sz="1150" b="0">
                          <a:solidFill>
                            <a:srgbClr val="5D6D7E"/>
                          </a:solidFill>
                          <a:latin typeface="Arial"/>
                        </a:rPr>
                        <a:t>30.0%</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54.4%</a:t>
                      </a:r>
                    </a:p>
                  </a:txBody>
                  <a:tcPr>
                    <a:solidFill>
                      <a:srgbClr val="FFFFFF"/>
                    </a:solidFill>
                  </a:tcPr>
                </a:tc>
                <a:tc>
                  <a:txBody>
                    <a:bodyPr/>
                    <a:lstStyle/>
                    <a:p>
                      <a:pPr algn="r"/>
                      <a:r>
                        <a:rPr sz="1150" b="0">
                          <a:solidFill>
                            <a:srgbClr val="5D6D7E"/>
                          </a:solidFill>
                          <a:latin typeface="Arial"/>
                        </a:rPr>
                        <a:t>30.4%</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c>
                  <a:txBody>
                    <a:bodyPr/>
                    <a:lstStyle/>
                    <a:p>
                      <a:pPr algn="r"/>
                      <a:r>
                        <a:rPr sz="1150" b="0">
                          <a:solidFill>
                            <a:srgbClr val="5D6D7E"/>
                          </a:solidFill>
                          <a:latin typeface="Arial"/>
                        </a:rPr>
                        <a:t>31.6%</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-0.19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2.5x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3.92% on the book stores actually wrote; the observed figure is 3.74%. The curve is rescaled by 0.953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560320"/>
        </p:xfrm>
        <a:graphic>
          <a:graphicData uri="http://schemas.openxmlformats.org/drawingml/2006/table">
            <a:tbl>
              <a:tblPr firstRow="1" bandRow="1">
                <a:tableStyleId>{5C22544A-7EE6-4342-B048-85BDC9FD1C3A}</a:tableStyleId>
              </a:tblPr>
              <a:tblGrid>
                <a:gridCol w="3108960"/>
                <a:gridCol w="1097280"/>
                <a:gridCol w="1371600"/>
                <a:gridCol w="1280160"/>
              </a:tblGrid>
              <a:tr h="256032">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Share</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56032">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51.7%</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56032">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17.5%</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56032">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46.7%</a:t>
                      </a:r>
                    </a:p>
                  </a:txBody>
                  <a:tcPr>
                    <a:solidFill>
                      <a:srgbClr val="FFFFFF"/>
                    </a:solidFill>
                  </a:tcPr>
                </a:tc>
              </a:tr>
              <a:tr h="256032">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1.7%</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41.1%</a:t>
                      </a:r>
                    </a:p>
                  </a:txBody>
                  <a:tcPr>
                    <a:solidFill>
                      <a:srgbClr val="FFFFFF"/>
                    </a:solidFill>
                  </a:tcPr>
                </a:tc>
              </a:tr>
              <a:tr h="256032">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7.9%</a:t>
                      </a:r>
                    </a:p>
                  </a:txBody>
                  <a:tcPr>
                    <a:solidFill>
                      <a:srgbClr val="FFFFFF"/>
                    </a:solidFill>
                  </a:tcPr>
                </a:tc>
              </a:tr>
              <a:tr h="256032">
                <a:tc>
                  <a:txBody>
                    <a:bodyPr/>
                    <a:lstStyle/>
                    <a:p>
                      <a:pPr algn="l"/>
                      <a:r>
                        <a:rPr sz="1150" b="0">
                          <a:solidFill>
                            <a:srgbClr val="5D6D7E"/>
                          </a:solidFill>
                          <a:latin typeface="Arial"/>
                        </a:rPr>
                        <a:t>untouched: light assessment, no Equifax call</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256032">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69.2%</a:t>
                      </a:r>
                    </a:p>
                  </a:txBody>
                  <a:tcPr>
                    <a:solidFill>
                      <a:srgbClr val="FFFFFF"/>
                    </a:solidFill>
                  </a:tcPr>
                </a:tc>
                <a:tc>
                  <a:txBody>
                    <a:bodyPr/>
                    <a:lstStyle/>
                    <a:p>
                      <a:pPr algn="r"/>
                      <a:r>
                        <a:rPr sz="1150" b="0">
                          <a:solidFill>
                            <a:srgbClr val="5D6D7E"/>
                          </a:solidFill>
                          <a:latin typeface="Arial"/>
                        </a:rPr>
                        <a:t>€14.6M (55.7%)</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r>
              <a:tr h="256032">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56032">
                <a:tc>
                  <a:txBody>
                    <a:bodyPr/>
                    <a:lstStyle/>
                    <a:p>
                      <a:pPr algn="l"/>
                      <a:r>
                        <a:rPr sz="1150" b="0">
                          <a:solidFill>
                            <a:srgbClr val="5D6D7E"/>
                          </a:solidFill>
                          <a:latin typeface="Arial"/>
                        </a:rPr>
                        <a:t>Engine today: approved → booked</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c>
                  <a:txBody>
                    <a:bodyPr/>
                    <a:lstStyle/>
                    <a:p>
                      <a:pPr algn="r"/>
                      <a:r>
                        <a:rPr sz="1150" b="0">
                          <a:solidFill>
                            <a:srgbClr val="5D6D7E"/>
                          </a:solidFill>
                          <a:latin typeface="Arial"/>
                        </a:rPr>
                        <a:t>€11.3M (43.0%)</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18.1</a:t>
                      </a:r>
                    </a:p>
                  </a:txBody>
                  <a:tcPr>
                    <a:solidFill>
                      <a:srgbClr val="FFFFFF"/>
                    </a:solidFill>
                  </a:tcPr>
                </a:tc>
                <a:tc>
                  <a:txBody>
                    <a:bodyPr/>
                    <a:lstStyle/>
                    <a:p>
                      <a:pPr algn="r"/>
                      <a:r>
                        <a:rPr sz="1150" b="0">
                          <a:solidFill>
                            <a:srgbClr val="5D6D7E"/>
                          </a:solidFill>
                          <a:latin typeface="Arial"/>
                        </a:rPr>
                        <a:t>58.2</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31% of demand but 55% of exposure, because they convert 56% of what they are asked for and Online 21%. Online's 4.26% carries the reject-inference uplift on its own book (realized 4.18%).</a:t>
            </a:r>
          </a:p>
        </p:txBody>
      </p:sp>
      <p:sp>
        <p:nvSpPr>
          <p:cNvPr id="9" name="TextBox 8"/>
          <p:cNvSpPr txBox="1"/>
          <p:nvPr/>
        </p:nvSpPr>
        <p:spPr>
          <a:xfrm>
            <a:off x="566928" y="4352544"/>
            <a:ext cx="6858000" cy="2139696"/>
          </a:xfrm>
          <a:prstGeom prst="rect">
            <a:avLst/>
          </a:prstGeom>
          <a:noFill/>
        </p:spPr>
        <p:txBody>
          <a:bodyPr wrap="square">
            <a:spAutoFit/>
          </a:bodyPr>
          <a:lstStyle/>
          <a:p>
            <a:pPr>
              <a:spcAft>
                <a:spcPts val="900"/>
              </a:spcAft>
            </a:pPr>
            <a:r>
              <a:rPr sz="1000" b="1">
                <a:solidFill>
                  <a:srgbClr val="2C3E50"/>
                </a:solidFill>
                <a:latin typeface="Arial"/>
              </a:rPr>
              <a:t>1 · Score and bin.  </a:t>
            </a:r>
            <a:r>
              <a:rPr sz="1000">
                <a:solidFill>
                  <a:srgbClr val="5D6D7E"/>
                </a:solidFill>
                <a:latin typeface="Arial"/>
              </a:rPr>
              <a:t>Every application gets its EFX score and one of the 20 bins of the Online curve.</a:t>
            </a:r>
          </a:p>
          <a:p>
            <a:pPr>
              <a:spcAft>
                <a:spcPts val="900"/>
              </a:spcAft>
            </a:pPr>
            <a:r>
              <a:rPr sz="1000" b="1">
                <a:solidFill>
                  <a:srgbClr val="2C3E50"/>
                </a:solidFill>
                <a:latin typeface="Arial"/>
              </a:rPr>
              <a:t>2 · Apply the Online grid.  </a:t>
            </a:r>
            <a:r>
              <a:rPr sz="1000">
                <a:solidFill>
                  <a:srgbClr val="5D6D7E"/>
                </a:solidFill>
                <a:latin typeface="Arial"/>
              </a:rPr>
              <a:t>Accepted if above its group's reject threshold and not rejected by another rule — only the score rule is swapped; the engine's other rules stay.</a:t>
            </a:r>
          </a:p>
          <a:p>
            <a:pPr>
              <a:spcAft>
                <a:spcPts val="900"/>
              </a:spcAft>
            </a:pPr>
            <a:r>
              <a:rPr sz="1000" b="1">
                <a:solidFill>
                  <a:srgbClr val="2C3E50"/>
                </a:solidFill>
                <a:latin typeface="Arial"/>
              </a:rPr>
              <a:t>3 · Expected production.  </a:t>
            </a:r>
            <a:r>
              <a:rPr sz="1000">
                <a:solidFill>
                  <a:srgbClr val="5D6D7E"/>
                </a:solidFill>
                <a:latin typeface="Arial"/>
              </a:rPr>
              <a:t>€ applied for × the actual take-up of its engine decision (stores: approved 82%, referred 18%); cancellations are assumed to behave as today.</a:t>
            </a:r>
          </a:p>
          <a:p>
            <a:pPr>
              <a:spcAft>
                <a:spcPts val="900"/>
              </a:spcAft>
            </a:pPr>
            <a:r>
              <a:rPr sz="1000" b="1">
                <a:solidFill>
                  <a:srgbClr val="2C3E50"/>
                </a:solidFill>
                <a:latin typeface="Arial"/>
              </a:rPr>
              <a:t>4 · Impute risk.  </a:t>
            </a:r>
            <a:r>
              <a:rPr sz="1000">
                <a:solidFill>
                  <a:srgbClr val="5D6D7E"/>
                </a:solidFill>
                <a:latin typeface="Arial"/>
              </a:rPr>
              <a:t>Each accepted € takes its bin's Online risk (reject-inference blended), weighted by expected H6 exposure; the level is rescaled by 0.953 so that today's store book reproduces its realized 3.74%.</a:t>
            </a:r>
          </a:p>
          <a:p>
            <a:pPr>
              <a:spcAft>
                <a:spcPts val="900"/>
              </a:spcAft>
            </a:pPr>
            <a:r>
              <a:rPr sz="1000" b="1">
                <a:solidFill>
                  <a:srgbClr val="2C3E50"/>
                </a:solidFill>
                <a:latin typeface="Arial"/>
              </a:rPr>
              <a:t>5 · What the grid leaves out.  </a:t>
            </a:r>
            <a:r>
              <a:rPr sz="1000">
                <a:solidFill>
                  <a:srgbClr val="5D6D7E"/>
                </a:solidFill>
                <a:latin typeface="Arial"/>
              </a:rPr>
              <a:t>The swap-out is 1.8% of demand with 47% imputed risk (median EFX 19): the octroi's weakest approvals. The swap-in brings 17.5% of demand at 4.1%. Light-assessment rejections (9.0% of demand) never reach the grid: no Equifax call, no score.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25% of demand. With their own seasonality they are 31%. Had Online's profile been applied —the only option before stores' history was available— we would have said 21%,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827620" y="1563624"/>
            <a:ext cx="8536454"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78%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21% when with their own seasonality it is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(2.5x).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