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gains acceptance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14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acceptance rate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on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61.2%</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acceptance, from 47.2%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3.51%</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2361895"/>
                <a:gridCol w="1012240"/>
                <a:gridCol w="1012240"/>
                <a:gridCol w="1237183"/>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2.4x).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258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DEFINITIONS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acceptance is measured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798064"/>
        </p:xfrm>
        <a:graphic>
          <a:graphicData uri="http://schemas.openxmlformats.org/drawingml/2006/table">
            <a:tbl>
              <a:tblPr firstRow="1" bandRow="1">
                <a:tableStyleId>{5C22544A-7EE6-4342-B048-85BDC9FD1C3A}</a:tableStyleId>
              </a:tblPr>
              <a:tblGrid>
                <a:gridCol w="3154680"/>
                <a:gridCol w="1234440"/>
                <a:gridCol w="1234440"/>
                <a:gridCol w="1234440"/>
              </a:tblGrid>
              <a:tr h="310896">
                <a:tc>
                  <a:txBody>
                    <a:bodyPr/>
                    <a:lstStyle/>
                    <a:p>
                      <a:pPr algn="l"/>
                      <a:r>
                        <a:rPr sz="1150" b="1">
                          <a:solidFill>
                            <a:srgbClr val="2C3E50"/>
                          </a:solidFill>
                          <a:latin typeface="Arial"/>
                        </a:rPr>
                        <a:t>Where each € of demand ends up</a:t>
                      </a:r>
                    </a:p>
                  </a:txBody>
                  <a:tcPr>
                    <a:solidFill>
                      <a:srgbClr val="F6F7F9"/>
                    </a:solidFill>
                  </a:tcPr>
                </a:tc>
                <a:tc>
                  <a:txBody>
                    <a:bodyPr/>
                    <a:lstStyle/>
                    <a:p>
                      <a:pPr algn="r"/>
                      <a:r>
                        <a:rPr sz="1150" b="1">
                          <a:solidFill>
                            <a:srgbClr val="2C3E50"/>
                          </a:solidFill>
                          <a:latin typeface="Arial"/>
                        </a:rPr>
                        <a:t>Online</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Aug–Sep 26</a:t>
                      </a:r>
                    </a:p>
                  </a:txBody>
                  <a:tcPr>
                    <a:solidFill>
                      <a:srgbClr val="F6F7F9"/>
                    </a:solidFill>
                  </a:tcPr>
                </a:tc>
              </a:tr>
              <a:tr h="310896">
                <a:tc>
                  <a:txBody>
                    <a:bodyPr/>
                    <a:lstStyle/>
                    <a:p>
                      <a:pPr algn="l"/>
                      <a:r>
                        <a:rPr sz="1150" b="0">
                          <a:solidFill>
                            <a:srgbClr val="5D6D7E"/>
                          </a:solidFill>
                          <a:latin typeface="Arial"/>
                        </a:rPr>
                        <a:t>booked  (= acceptance rate)</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c>
                  <a:txBody>
                    <a:bodyPr/>
                    <a:lstStyle/>
                    <a:p>
                      <a:pPr algn="r"/>
                      <a:r>
                        <a:rPr sz="1150" b="0">
                          <a:solidFill>
                            <a:srgbClr val="5D6D7E"/>
                          </a:solidFill>
                          <a:latin typeface="Arial"/>
                        </a:rPr>
                        <a:t>58.7%</a:t>
                      </a:r>
                    </a:p>
                  </a:txBody>
                  <a:tcPr>
                    <a:solidFill>
                      <a:srgbClr val="FFFFFF"/>
                    </a:solidFill>
                  </a:tcPr>
                </a:tc>
                <a:tc>
                  <a:txBody>
                    <a:bodyPr/>
                    <a:lstStyle/>
                    <a:p>
                      <a:pPr algn="r"/>
                      <a:r>
                        <a:rPr sz="1150" b="0">
                          <a:solidFill>
                            <a:srgbClr val="5D6D7E"/>
                          </a:solidFill>
                          <a:latin typeface="Arial"/>
                        </a:rPr>
                        <a:t>47.2%</a:t>
                      </a:r>
                    </a:p>
                  </a:txBody>
                  <a:tcPr>
                    <a:solidFill>
                      <a:srgbClr val="FFFFFF"/>
                    </a:solidFill>
                  </a:tcPr>
                </a:tc>
              </a:tr>
              <a:tr h="310896">
                <a:tc>
                  <a:txBody>
                    <a:bodyPr/>
                    <a:lstStyle/>
                    <a:p>
                      <a:pPr algn="l"/>
                      <a:r>
                        <a:rPr sz="1150" b="0">
                          <a:solidFill>
                            <a:srgbClr val="5D6D7E"/>
                          </a:solidFill>
                          <a:latin typeface="Arial"/>
                        </a:rPr>
                        <a:t>approved, then cancelled (unfinished demand)</a:t>
                      </a:r>
                    </a:p>
                  </a:txBody>
                  <a:tcPr>
                    <a:solidFill>
                      <a:srgbClr val="FFFFFF"/>
                    </a:solidFill>
                  </a:tcPr>
                </a:tc>
                <a:tc>
                  <a:txBody>
                    <a:bodyPr/>
                    <a:lstStyle/>
                    <a:p>
                      <a:pPr algn="r"/>
                      <a:r>
                        <a:rPr sz="1150" b="0">
                          <a:solidFill>
                            <a:srgbClr val="5D6D7E"/>
                          </a:solidFill>
                          <a:latin typeface="Arial"/>
                        </a:rPr>
                        <a:t>27.9%</a:t>
                      </a:r>
                    </a:p>
                  </a:txBody>
                  <a:tcPr>
                    <a:solidFill>
                      <a:srgbClr val="FFFFFF"/>
                    </a:solidFill>
                  </a:tcPr>
                </a:tc>
                <a:tc>
                  <a:txBody>
                    <a:bodyPr/>
                    <a:lstStyle/>
                    <a:p>
                      <a:pPr algn="r"/>
                      <a:r>
                        <a:rPr sz="1150" b="0">
                          <a:solidFill>
                            <a:srgbClr val="5D6D7E"/>
                          </a:solidFill>
                          <a:latin typeface="Arial"/>
                        </a:rPr>
                        <a:t>7.0%</a:t>
                      </a:r>
                    </a:p>
                  </a:txBody>
                  <a:tcPr>
                    <a:solidFill>
                      <a:srgbClr val="FFFFFF"/>
                    </a:solidFill>
                  </a:tcPr>
                </a:tc>
                <a:tc>
                  <a:txBody>
                    <a:bodyPr/>
                    <a:lstStyle/>
                    <a:p>
                      <a:pPr algn="r"/>
                      <a:r>
                        <a:rPr sz="1150" b="0">
                          <a:solidFill>
                            <a:srgbClr val="5D6D7E"/>
                          </a:solidFill>
                          <a:latin typeface="Arial"/>
                        </a:rPr>
                        <a:t>9.6%</a:t>
                      </a:r>
                    </a:p>
                  </a:txBody>
                  <a:tcPr>
                    <a:solidFill>
                      <a:srgbClr val="FFFFFF"/>
                    </a:solidFill>
                  </a:tcPr>
                </a:tc>
              </a:tr>
              <a:tr h="310896">
                <a:tc>
                  <a:txBody>
                    <a:bodyPr/>
                    <a:lstStyle/>
                    <a:p>
                      <a:pPr algn="l"/>
                      <a:r>
                        <a:rPr sz="1150" b="0">
                          <a:solidFill>
                            <a:srgbClr val="5D6D7E"/>
                          </a:solidFill>
                          <a:latin typeface="Arial"/>
                        </a:rPr>
                        <a:t>approved, rejected downstream</a:t>
                      </a:r>
                    </a:p>
                  </a:txBody>
                  <a:tcPr>
                    <a:solidFill>
                      <a:srgbClr val="FFFFFF"/>
                    </a:solidFill>
                  </a:tcPr>
                </a:tc>
                <a:tc>
                  <a:txBody>
                    <a:bodyPr/>
                    <a:lstStyle/>
                    <a:p>
                      <a:pPr algn="r"/>
                      <a:r>
                        <a:rPr sz="1150" b="0">
                          <a:solidFill>
                            <a:srgbClr val="5D6D7E"/>
                          </a:solidFill>
                          <a:latin typeface="Arial"/>
                        </a:rPr>
                        <a:t>3.1%</a:t>
                      </a:r>
                    </a:p>
                  </a:txBody>
                  <a:tcPr>
                    <a:solidFill>
                      <a:srgbClr val="FFFFFF"/>
                    </a:solidFill>
                  </a:tcPr>
                </a:tc>
                <a:tc>
                  <a:txBody>
                    <a:bodyPr/>
                    <a:lstStyle/>
                    <a:p>
                      <a:pPr algn="r"/>
                      <a:r>
                        <a:rPr sz="1150" b="0">
                          <a:solidFill>
                            <a:srgbClr val="5D6D7E"/>
                          </a:solidFill>
                          <a:latin typeface="Arial"/>
                        </a:rPr>
                        <a:t>2.6%</a:t>
                      </a:r>
                    </a:p>
                  </a:txBody>
                  <a:tcPr>
                    <a:solidFill>
                      <a:srgbClr val="FFFFFF"/>
                    </a:solidFill>
                  </a:tcPr>
                </a:tc>
                <a:tc>
                  <a:txBody>
                    <a:bodyPr/>
                    <a:lstStyle/>
                    <a:p>
                      <a:pPr algn="r"/>
                      <a:r>
                        <a:rPr sz="1150" b="0">
                          <a:solidFill>
                            <a:srgbClr val="5D6D7E"/>
                          </a:solidFill>
                          <a:latin typeface="Arial"/>
                        </a:rPr>
                        <a:t>2.0%</a:t>
                      </a:r>
                    </a:p>
                  </a:txBody>
                  <a:tcPr>
                    <a:solidFill>
                      <a:srgbClr val="FFFFFF"/>
                    </a:solidFill>
                  </a:tcPr>
                </a:tc>
              </a:tr>
              <a:tr h="310896">
                <a:tc>
                  <a:txBody>
                    <a:bodyPr/>
                    <a:lstStyle/>
                    <a:p>
                      <a:pPr algn="l"/>
                      <a:r>
                        <a:rPr sz="1150" b="0">
                          <a:solidFill>
                            <a:srgbClr val="5D6D7E"/>
                          </a:solidFill>
                          <a:latin typeface="Arial"/>
                        </a:rPr>
                        <a:t>rejected by the engine: score</a:t>
                      </a:r>
                    </a:p>
                  </a:txBody>
                  <a:tcPr>
                    <a:solidFill>
                      <a:srgbClr val="FFFFFF"/>
                    </a:solidFill>
                  </a:tcPr>
                </a:tc>
                <a:tc>
                  <a:txBody>
                    <a:bodyPr/>
                    <a:lstStyle/>
                    <a:p>
                      <a:pPr algn="r"/>
                      <a:r>
                        <a:rPr sz="1150" b="0">
                          <a:solidFill>
                            <a:srgbClr val="5D6D7E"/>
                          </a:solidFill>
                          <a:latin typeface="Arial"/>
                        </a:rPr>
                        <a:t>6.9%</a:t>
                      </a:r>
                    </a:p>
                  </a:txBody>
                  <a:tcPr>
                    <a:solidFill>
                      <a:srgbClr val="FFFFFF"/>
                    </a:solidFill>
                  </a:tcPr>
                </a:tc>
                <a:tc>
                  <a:txBody>
                    <a:bodyPr/>
                    <a:lstStyle/>
                    <a:p>
                      <a:pPr algn="r"/>
                      <a:r>
                        <a:rPr sz="1150" b="0">
                          <a:solidFill>
                            <a:srgbClr val="5D6D7E"/>
                          </a:solidFill>
                          <a:latin typeface="Arial"/>
                        </a:rPr>
                        <a:t>11.3%</a:t>
                      </a:r>
                    </a:p>
                  </a:txBody>
                  <a:tcPr>
                    <a:solidFill>
                      <a:srgbClr val="FFFFFF"/>
                    </a:solidFill>
                  </a:tcPr>
                </a:tc>
                <a:tc>
                  <a:txBody>
                    <a:bodyPr/>
                    <a:lstStyle/>
                    <a:p>
                      <a:pPr algn="r"/>
                      <a:r>
                        <a:rPr sz="1150" b="0">
                          <a:solidFill>
                            <a:srgbClr val="5D6D7E"/>
                          </a:solidFill>
                          <a:latin typeface="Arial"/>
                        </a:rPr>
                        <a:t>21.1%</a:t>
                      </a:r>
                    </a:p>
                  </a:txBody>
                  <a:tcPr>
                    <a:solidFill>
                      <a:srgbClr val="FFFFFF"/>
                    </a:solidFill>
                  </a:tcPr>
                </a:tc>
              </a:tr>
              <a:tr h="310896">
                <a:tc>
                  <a:txBody>
                    <a:bodyPr/>
                    <a:lstStyle/>
                    <a:p>
                      <a:pPr algn="l"/>
                      <a:r>
                        <a:rPr sz="1150" b="0">
                          <a:solidFill>
                            <a:srgbClr val="5D6D7E"/>
                          </a:solidFill>
                          <a:latin typeface="Arial"/>
                        </a:rPr>
                        <a:t>rejected by the engine: other rules</a:t>
                      </a:r>
                    </a:p>
                  </a:txBody>
                  <a:tcPr>
                    <a:solidFill>
                      <a:srgbClr val="FFFFFF"/>
                    </a:solidFill>
                  </a:tcPr>
                </a:tc>
                <a:tc>
                  <a:txBody>
                    <a:bodyPr/>
                    <a:lstStyle/>
                    <a:p>
                      <a:pPr algn="r"/>
                      <a:r>
                        <a:rPr sz="1150" b="0">
                          <a:solidFill>
                            <a:srgbClr val="5D6D7E"/>
                          </a:solidFill>
                          <a:latin typeface="Arial"/>
                        </a:rPr>
                        <a:t>41.2%</a:t>
                      </a:r>
                    </a:p>
                  </a:txBody>
                  <a:tcPr>
                    <a:solidFill>
                      <a:srgbClr val="FFFFFF"/>
                    </a:solidFill>
                  </a:tcPr>
                </a:tc>
                <a:tc>
                  <a:txBody>
                    <a:bodyPr/>
                    <a:lstStyle/>
                    <a:p>
                      <a:pPr algn="r"/>
                      <a:r>
                        <a:rPr sz="1150" b="0">
                          <a:solidFill>
                            <a:srgbClr val="5D6D7E"/>
                          </a:solidFill>
                          <a:latin typeface="Arial"/>
                        </a:rPr>
                        <a:t>20.3%</a:t>
                      </a:r>
                    </a:p>
                  </a:txBody>
                  <a:tcPr>
                    <a:solidFill>
                      <a:srgbClr val="FFFFFF"/>
                    </a:solidFill>
                  </a:tcPr>
                </a:tc>
                <a:tc>
                  <a:txBody>
                    <a:bodyPr/>
                    <a:lstStyle/>
                    <a:p>
                      <a:pPr algn="r"/>
                      <a:r>
                        <a:rPr sz="1150" b="0">
                          <a:solidFill>
                            <a:srgbClr val="5D6D7E"/>
                          </a:solidFill>
                          <a:latin typeface="Arial"/>
                        </a:rPr>
                        <a:t>20.1%</a:t>
                      </a:r>
                    </a:p>
                  </a:txBody>
                  <a:tcPr>
                    <a:solidFill>
                      <a:srgbClr val="FFFFFF"/>
                    </a:solidFill>
                  </a:tcPr>
                </a:tc>
              </a:tr>
              <a:tr h="310896">
                <a:tc>
                  <a:txBody>
                    <a:bodyPr/>
                    <a:lstStyle/>
                    <a:p>
                      <a:pPr algn="l"/>
                      <a:r>
                        <a:rPr sz="1150" b="0">
                          <a:solidFill>
                            <a:srgbClr val="5D6D7E"/>
                          </a:solidFill>
                          <a:latin typeface="Arial"/>
                        </a:rPr>
                        <a:t>Total demand</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r>
              <a:tr h="310896">
                <a:tc>
                  <a:txBody>
                    <a:bodyPr/>
                    <a:lstStyle/>
                    <a:p>
                      <a:pPr algn="l"/>
                      <a:r>
                        <a:rPr sz="1150" b="0">
                          <a:solidFill>
                            <a:srgbClr val="5D6D7E"/>
                          </a:solidFill>
                          <a:latin typeface="Arial"/>
                        </a:rPr>
                        <a:t>Engine approval (first three rows)</a:t>
                      </a:r>
                    </a:p>
                  </a:txBody>
                  <a:tcPr>
                    <a:solidFill>
                      <a:srgbClr val="FFFFFF"/>
                    </a:solidFill>
                  </a:tcPr>
                </a:tc>
                <a:tc>
                  <a:txBody>
                    <a:bodyPr/>
                    <a:lstStyle/>
                    <a:p>
                      <a:pPr algn="r"/>
                      <a:r>
                        <a:rPr sz="1150" b="0">
                          <a:solidFill>
                            <a:srgbClr val="5D6D7E"/>
                          </a:solidFill>
                          <a:latin typeface="Arial"/>
                        </a:rPr>
                        <a:t>51.9%</a:t>
                      </a:r>
                    </a:p>
                  </a:txBody>
                  <a:tcPr>
                    <a:solidFill>
                      <a:srgbClr val="FFFFFF"/>
                    </a:solidFill>
                  </a:tcPr>
                </a:tc>
                <a:tc>
                  <a:txBody>
                    <a:bodyPr/>
                    <a:lstStyle/>
                    <a:p>
                      <a:pPr algn="r"/>
                      <a:r>
                        <a:rPr sz="1150" b="0">
                          <a:solidFill>
                            <a:srgbClr val="5D6D7E"/>
                          </a:solidFill>
                          <a:latin typeface="Arial"/>
                        </a:rPr>
                        <a:t>68.3%</a:t>
                      </a:r>
                    </a:p>
                  </a:txBody>
                  <a:tcPr>
                    <a:solidFill>
                      <a:srgbClr val="FFFFFF"/>
                    </a:solidFill>
                  </a:tcPr>
                </a:tc>
                <a:tc>
                  <a:txBody>
                    <a:bodyPr/>
                    <a:lstStyle/>
                    <a:p>
                      <a:pPr algn="r"/>
                      <a:r>
                        <a:rPr sz="1150" b="0">
                          <a:solidFill>
                            <a:srgbClr val="5D6D7E"/>
                          </a:solidFill>
                          <a:latin typeface="Arial"/>
                        </a:rPr>
                        <a:t>58.8%</a:t>
                      </a:r>
                    </a:p>
                  </a:txBody>
                  <a:tcPr>
                    <a:solidFill>
                      <a:srgbClr val="FFFFFF"/>
                    </a:solidFill>
                  </a:tcPr>
                </a:tc>
              </a:tr>
              <a:tr h="310896">
                <a:tc>
                  <a:txBody>
                    <a:bodyPr/>
                    <a:lstStyle/>
                    <a:p>
                      <a:pPr algn="l"/>
                      <a:r>
                        <a:rPr sz="1150" b="0">
                          <a:solidFill>
                            <a:srgbClr val="5D6D7E"/>
                          </a:solidFill>
                          <a:latin typeface="Arial"/>
                        </a:rPr>
                        <a:t>Take-up: booked / approved</a:t>
                      </a:r>
                    </a:p>
                  </a:txBody>
                  <a:tcPr>
                    <a:solidFill>
                      <a:srgbClr val="FFFFFF"/>
                    </a:solidFill>
                  </a:tcPr>
                </a:tc>
                <a:tc>
                  <a:txBody>
                    <a:bodyPr/>
                    <a:lstStyle/>
                    <a:p>
                      <a:pPr algn="r"/>
                      <a:r>
                        <a:rPr sz="1150" b="0">
                          <a:solidFill>
                            <a:srgbClr val="5D6D7E"/>
                          </a:solidFill>
                          <a:latin typeface="Arial"/>
                        </a:rPr>
                        <a:t>40%</a:t>
                      </a:r>
                    </a:p>
                  </a:txBody>
                  <a:tcPr>
                    <a:solidFill>
                      <a:srgbClr val="FFFFFF"/>
                    </a:solidFill>
                  </a:tcPr>
                </a:tc>
                <a:tc>
                  <a:txBody>
                    <a:bodyPr/>
                    <a:lstStyle/>
                    <a:p>
                      <a:pPr algn="r"/>
                      <a:r>
                        <a:rPr sz="1150" b="0">
                          <a:solidFill>
                            <a:srgbClr val="5D6D7E"/>
                          </a:solidFill>
                          <a:latin typeface="Arial"/>
                        </a:rPr>
                        <a:t>86%</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bl>
          </a:graphicData>
        </a:graphic>
      </p:graphicFrame>
      <p:sp>
        <p:nvSpPr>
          <p:cNvPr id="7" name="TextBox 6"/>
          <p:cNvSpPr txBox="1"/>
          <p:nvPr/>
        </p:nvSpPr>
        <p:spPr>
          <a:xfrm>
            <a:off x="7699248" y="1563624"/>
            <a:ext cx="3886200" cy="4928616"/>
          </a:xfrm>
          <a:prstGeom prst="rect">
            <a:avLst/>
          </a:prstGeom>
          <a:noFill/>
        </p:spPr>
        <p:txBody>
          <a:bodyPr wrap="square">
            <a:spAutoFit/>
          </a:bodyPr>
          <a:lstStyle/>
          <a:p>
            <a:pPr>
              <a:spcAft>
                <a:spcPts val="900"/>
              </a:spcAft>
            </a:pPr>
            <a:r>
              <a:rPr sz="1050" b="1">
                <a:solidFill>
                  <a:srgbClr val="2C3E50"/>
                </a:solidFill>
                <a:latin typeface="Arial"/>
              </a:rPr>
              <a:t>Acceptance rate (effective).  </a:t>
            </a:r>
            <a:r>
              <a:rPr sz="1050">
                <a:solidFill>
                  <a:srgbClr val="5D6D7E"/>
                </a:solidFill>
                <a:latin typeface="Arial"/>
              </a:rPr>
              <a:t>€ booked / € applied for, over every application that comes through the door — rejected, cancelled and booked alike. The first row of the table. Point 1 and every scenario use it.</a:t>
            </a:r>
          </a:p>
          <a:p>
            <a:pPr>
              <a:spcAft>
                <a:spcPts val="900"/>
              </a:spcAft>
            </a:pPr>
            <a:r>
              <a:rPr sz="1050" b="1">
                <a:solidFill>
                  <a:srgbClr val="2C3E50"/>
                </a:solidFill>
                <a:latin typeface="Arial"/>
              </a:rPr>
              <a:t>Score acceptance.  </a:t>
            </a:r>
            <a:r>
              <a:rPr sz="1050">
                <a:solidFill>
                  <a:srgbClr val="5D6D7E"/>
                </a:solidFill>
                <a:latin typeface="Arial"/>
              </a:rPr>
              <a:t>€ above the score cutoff and not rejected by another rule, over € demand. Comparable with the engine's approval rate, not with the effective one; shown only in the scenario table.</a:t>
            </a:r>
          </a:p>
          <a:p>
            <a:pPr>
              <a:spcAft>
                <a:spcPts val="900"/>
              </a:spcAft>
            </a:pPr>
            <a:r>
              <a:rPr sz="1050" b="1">
                <a:solidFill>
                  <a:srgbClr val="2C3E50"/>
                </a:solidFill>
                <a:latin typeface="Arial"/>
              </a:rPr>
              <a:t>Unfinished demand.  </a:t>
            </a:r>
            <a:r>
              <a:rPr sz="1050">
                <a:solidFill>
                  <a:srgbClr val="5D6D7E"/>
                </a:solidFill>
                <a:latin typeface="Arial"/>
              </a:rPr>
              <a:t>Approved by the engine, then cancelled by the customer. It counts in the denominator and not in the numerator, like a rejection. In the scenarios every accepted application converts at the actual take-up of its decision, so cancellations are assumed to behave as today: a looser grid does not recover them.</a:t>
            </a:r>
          </a:p>
          <a:p>
            <a:pPr>
              <a:spcAft>
                <a:spcPts val="900"/>
              </a:spcAft>
            </a:pPr>
            <a:r>
              <a:rPr sz="1050" b="1">
                <a:solidFill>
                  <a:srgbClr val="2C3E50"/>
                </a:solidFill>
                <a:latin typeface="Arial"/>
              </a:rPr>
              <a:t>Approved, rejected downstream.  </a:t>
            </a:r>
            <a:r>
              <a:rPr sz="1050">
                <a:solidFill>
                  <a:srgbClr val="5D6D7E"/>
                </a:solidFill>
                <a:latin typeface="Arial"/>
              </a:rPr>
              <a:t>Approved by the engine, rejected at a later step (no reason in the extract). Treated like unfinished demand.</a:t>
            </a:r>
          </a:p>
          <a:p>
            <a:pPr>
              <a:spcAft>
                <a:spcPts val="900"/>
              </a:spcAft>
            </a:pPr>
            <a:r>
              <a:rPr sz="1050" b="1">
                <a:solidFill>
                  <a:srgbClr val="2C3E50"/>
                </a:solidFill>
                <a:latin typeface="Arial"/>
              </a:rPr>
              <a:t>Reject inference.  </a:t>
            </a:r>
            <a:r>
              <a:rPr sz="1050">
                <a:solidFill>
                  <a:srgbClr val="5D6D7E"/>
                </a:solidFill>
                <a:latin typeface="Arial"/>
              </a:rPr>
              <a:t>Neither state enters the per-bin acceptance rate — booked / (booked + score-rejected) — so they do not inflate the uplift.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accept almost three times as much as Online and carry less risk. Warning: their acceptance rate is falling (58.7% over Mar 2025 – Feb 2026, 47.2% in Aug–Sep 2026), so the baseline is moving.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47.2% and on the previous slide 58.7%. Only the score rule is swapped; stores' other rules stay. Risk is imputed from the Online curve, with the level anchored to stores' realized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316095"/>
          </a:xfrm>
          <a:prstGeom prst="rect">
            <a:avLst/>
          </a:prstGeom>
        </p:spPr>
      </p:pic>
      <p:graphicFrame>
        <p:nvGraphicFramePr>
          <p:cNvPr id="7" name="Table 6"/>
          <p:cNvGraphicFramePr>
            <a:graphicFrameLocks noGrp="1"/>
          </p:cNvGraphicFramePr>
          <p:nvPr/>
        </p:nvGraphicFramePr>
        <p:xfrm>
          <a:off x="7543800" y="1655064"/>
          <a:ext cx="4343399" cy="2852928"/>
        </p:xfrm>
        <a:graphic>
          <a:graphicData uri="http://schemas.openxmlformats.org/drawingml/2006/table">
            <a:tbl>
              <a:tblPr firstRow="1" bandRow="1">
                <a:tableStyleId>{5C22544A-7EE6-4342-B048-85BDC9FD1C3A}</a:tableStyleId>
              </a:tblPr>
              <a:tblGrid>
                <a:gridCol w="1868129"/>
                <a:gridCol w="840658"/>
                <a:gridCol w="793954"/>
                <a:gridCol w="840658"/>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Score acc.</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28.5%</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38.1%</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38.2%</a:t>
                      </a:r>
                    </a:p>
                  </a:txBody>
                  <a:tcPr>
                    <a:solidFill>
                      <a:srgbClr val="FFFFFF"/>
                    </a:solidFill>
                  </a:tcPr>
                </a:tc>
                <a:tc>
                  <a:txBody>
                    <a:bodyPr/>
                    <a:lstStyle/>
                    <a:p>
                      <a:pPr algn="r"/>
                      <a:r>
                        <a:rPr sz="1150" b="0">
                          <a:solidFill>
                            <a:srgbClr val="5D6D7E"/>
                          </a:solidFill>
                          <a:latin typeface="Arial"/>
                        </a:rPr>
                        <a:t>21.7%</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47.0%</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48.8%</a:t>
                      </a:r>
                    </a:p>
                  </a:txBody>
                  <a:tcPr>
                    <a:solidFill>
                      <a:srgbClr val="FFFFFF"/>
                    </a:solidFill>
                  </a:tcPr>
                </a:tc>
                <a:tc>
                  <a:txBody>
                    <a:bodyPr/>
                    <a:lstStyle/>
                    <a:p>
                      <a:pPr algn="r"/>
                      <a:r>
                        <a:rPr sz="1150" b="0">
                          <a:solidFill>
                            <a:srgbClr val="5D6D7E"/>
                          </a:solidFill>
                          <a:latin typeface="Arial"/>
                        </a:rPr>
                        <a:t>27.5%</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55.2%</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56.0%</a:t>
                      </a:r>
                    </a:p>
                  </a:txBody>
                  <a:tcPr>
                    <a:solidFill>
                      <a:srgbClr val="FFFFFF"/>
                    </a:solidFill>
                  </a:tcPr>
                </a:tc>
                <a:tc>
                  <a:txBody>
                    <a:bodyPr/>
                    <a:lstStyle/>
                    <a:p>
                      <a:pPr algn="r"/>
                      <a:r>
                        <a:rPr sz="1150" b="0">
                          <a:solidFill>
                            <a:srgbClr val="5D6D7E"/>
                          </a:solidFill>
                          <a:latin typeface="Arial"/>
                        </a:rPr>
                        <a:t>31.2%</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58.6%</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bl>
          </a:graphicData>
        </a:graphic>
      </p:graphicFrame>
      <p:sp>
        <p:nvSpPr>
          <p:cNvPr id="8" name="TextBox 7"/>
          <p:cNvSpPr txBox="1"/>
          <p:nvPr/>
        </p:nvSpPr>
        <p:spPr>
          <a:xfrm>
            <a:off x="566928" y="4989447"/>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300343"/>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Score acc.: demand above the cutoff.</a:t>
            </a:r>
          </a:p>
          <a:p>
            <a:pPr algn="l">
              <a:lnSpc>
                <a:spcPct val="125000"/>
              </a:lnSpc>
            </a:pPr>
            <a:r>
              <a:rPr sz="1050" b="0">
                <a:solidFill>
                  <a:srgbClr val="5D6D7E"/>
                </a:solidFill>
                <a:latin typeface="Arial"/>
              </a:rPr>
              <a:t>Eff. acc.: production / demand, the same base as point 1. The two are not comparable.</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more acceptance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-0.21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more acceptance at the same risk. '&gt;=G' is always rejected in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2.4x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3.93% on the book stores actually wrote; the observed figure is 3.74%. The curve is rescaled by 0.952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STORE DEMAND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 demand Aug–Sep 2026: from applications to risk</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468880"/>
        </p:xfrm>
        <a:graphic>
          <a:graphicData uri="http://schemas.openxmlformats.org/drawingml/2006/table">
            <a:tbl>
              <a:tblPr firstRow="1" bandRow="1">
                <a:tableStyleId>{5C22544A-7EE6-4342-B048-85BDC9FD1C3A}</a:tableStyleId>
              </a:tblPr>
              <a:tblGrid>
                <a:gridCol w="3108960"/>
                <a:gridCol w="1097280"/>
                <a:gridCol w="1371600"/>
                <a:gridCol w="1280160"/>
              </a:tblGrid>
              <a:tr h="274320">
                <a:tc>
                  <a:txBody>
                    <a:bodyPr/>
                    <a:lstStyle/>
                    <a:p>
                      <a:pPr algn="l"/>
                      <a:r>
                        <a:rPr sz="1150" b="1">
                          <a:solidFill>
                            <a:srgbClr val="2C3E50"/>
                          </a:solidFill>
                          <a:latin typeface="Arial"/>
                        </a:rPr>
                        <a:t>Each € of store demand</a:t>
                      </a:r>
                    </a:p>
                  </a:txBody>
                  <a:tcPr>
                    <a:solidFill>
                      <a:srgbClr val="F6F7F9"/>
                    </a:solidFill>
                  </a:tcPr>
                </a:tc>
                <a:tc>
                  <a:txBody>
                    <a:bodyPr/>
                    <a:lstStyle/>
                    <a:p>
                      <a:pPr algn="r"/>
                      <a:r>
                        <a:rPr sz="1150" b="1">
                          <a:solidFill>
                            <a:srgbClr val="2C3E50"/>
                          </a:solidFill>
                          <a:latin typeface="Arial"/>
                        </a:rPr>
                        <a:t>Share</a:t>
                      </a:r>
                    </a:p>
                  </a:txBody>
                  <a:tcPr>
                    <a:solidFill>
                      <a:srgbClr val="F6F7F9"/>
                    </a:solidFill>
                  </a:tcPr>
                </a:tc>
                <a:tc>
                  <a:txBody>
                    <a:bodyPr/>
                    <a:lstStyle/>
                    <a:p>
                      <a:pPr algn="r"/>
                      <a:r>
                        <a:rPr sz="1150" b="1">
                          <a:solidFill>
                            <a:srgbClr val="2C3E50"/>
                          </a:solidFill>
                          <a:latin typeface="Arial"/>
                        </a:rPr>
                        <a:t>Exp. production</a:t>
                      </a:r>
                    </a:p>
                    <a:p>
                      <a:pPr algn="r"/>
                      <a:r>
                        <a:rPr sz="1150" b="1">
                          <a:solidFill>
                            <a:srgbClr val="2C3E50"/>
                          </a:solidFill>
                          <a:latin typeface="Arial"/>
                        </a:rPr>
                        <a:t>Aug–Sep 2026</a:t>
                      </a:r>
                    </a:p>
                  </a:txBody>
                  <a:tcPr>
                    <a:solidFill>
                      <a:srgbClr val="F6F7F9"/>
                    </a:solidFill>
                  </a:tcPr>
                </a:tc>
                <a:tc>
                  <a:txBody>
                    <a:bodyPr/>
                    <a:lstStyle/>
                    <a:p>
                      <a:pPr algn="r"/>
                      <a:r>
                        <a:rPr sz="1150" b="1">
                          <a:solidFill>
                            <a:srgbClr val="2C3E50"/>
                          </a:solidFill>
                          <a:latin typeface="Arial"/>
                        </a:rPr>
                        <a:t>Imputed risk</a:t>
                      </a:r>
                    </a:p>
                  </a:txBody>
                  <a:tcPr>
                    <a:solidFill>
                      <a:srgbClr val="F6F7F9"/>
                    </a:solidFill>
                  </a:tcPr>
                </a:tc>
              </a:tr>
              <a:tr h="274320">
                <a:tc>
                  <a:txBody>
                    <a:bodyPr/>
                    <a:lstStyle/>
                    <a:p>
                      <a:pPr algn="l"/>
                      <a:r>
                        <a:rPr sz="1150" b="0">
                          <a:solidFill>
                            <a:srgbClr val="5D6D7E"/>
                          </a:solidFill>
                          <a:latin typeface="Arial"/>
                        </a:rPr>
                        <a:t>kept: approved today, above the cutoff</a:t>
                      </a:r>
                    </a:p>
                  </a:txBody>
                  <a:tcPr>
                    <a:solidFill>
                      <a:srgbClr val="FFFFFF"/>
                    </a:solidFill>
                  </a:tcPr>
                </a:tc>
                <a:tc>
                  <a:txBody>
                    <a:bodyPr/>
                    <a:lstStyle/>
                    <a:p>
                      <a:pPr algn="r"/>
                      <a:r>
                        <a:rPr sz="1150" b="0">
                          <a:solidFill>
                            <a:srgbClr val="5D6D7E"/>
                          </a:solidFill>
                          <a:latin typeface="Arial"/>
                        </a:rPr>
                        <a:t>56.8%</a:t>
                      </a:r>
                    </a:p>
                  </a:txBody>
                  <a:tcPr>
                    <a:solidFill>
                      <a:srgbClr val="FFFFFF"/>
                    </a:solidFill>
                  </a:tcPr>
                </a:tc>
                <a:tc>
                  <a:txBody>
                    <a:bodyPr/>
                    <a:lstStyle/>
                    <a:p>
                      <a:pPr algn="r"/>
                      <a:r>
                        <a:rPr sz="1150" b="0">
                          <a:solidFill>
                            <a:srgbClr val="5D6D7E"/>
                          </a:solidFill>
                          <a:latin typeface="Arial"/>
                        </a:rPr>
                        <a:t>€10.9M</a:t>
                      </a:r>
                    </a:p>
                  </a:txBody>
                  <a:tcPr>
                    <a:solidFill>
                      <a:srgbClr val="FFFFFF"/>
                    </a:solidFill>
                  </a:tcPr>
                </a:tc>
                <a:tc>
                  <a:txBody>
                    <a:bodyPr/>
                    <a:lstStyle/>
                    <a:p>
                      <a:pPr algn="r"/>
                      <a:r>
                        <a:rPr sz="1150" b="0">
                          <a:solidFill>
                            <a:srgbClr val="5D6D7E"/>
                          </a:solidFill>
                          <a:latin typeface="Arial"/>
                        </a:rPr>
                        <a:t>3.3%</a:t>
                      </a:r>
                    </a:p>
                  </a:txBody>
                  <a:tcPr>
                    <a:solidFill>
                      <a:srgbClr val="FFFFFF"/>
                    </a:solidFill>
                  </a:tcPr>
                </a:tc>
              </a:tr>
              <a:tr h="274320">
                <a:tc>
                  <a:txBody>
                    <a:bodyPr/>
                    <a:lstStyle/>
                    <a:p>
                      <a:pPr algn="l"/>
                      <a:r>
                        <a:rPr sz="1150" b="0">
                          <a:solidFill>
                            <a:srgbClr val="5D6D7E"/>
                          </a:solidFill>
                          <a:latin typeface="Arial"/>
                        </a:rPr>
                        <a:t>swap-in: rejected by score, above cutoff</a:t>
                      </a:r>
                    </a:p>
                  </a:txBody>
                  <a:tcPr>
                    <a:solidFill>
                      <a:srgbClr val="FFFFFF"/>
                    </a:solidFill>
                  </a:tcPr>
                </a:tc>
                <a:tc>
                  <a:txBody>
                    <a:bodyPr/>
                    <a:lstStyle/>
                    <a:p>
                      <a:pPr algn="r"/>
                      <a:r>
                        <a:rPr sz="1150" b="0">
                          <a:solidFill>
                            <a:srgbClr val="5D6D7E"/>
                          </a:solidFill>
                          <a:latin typeface="Arial"/>
                        </a:rPr>
                        <a:t>19.3%</a:t>
                      </a:r>
                    </a:p>
                  </a:txBody>
                  <a:tcPr>
                    <a:solidFill>
                      <a:srgbClr val="FFFFFF"/>
                    </a:solidFill>
                  </a:tcPr>
                </a:tc>
                <a:tc>
                  <a:txBody>
                    <a:bodyPr/>
                    <a:lstStyle/>
                    <a:p>
                      <a:pPr algn="r"/>
                      <a:r>
                        <a:rPr sz="1150" b="0">
                          <a:solidFill>
                            <a:srgbClr val="5D6D7E"/>
                          </a:solidFill>
                          <a:latin typeface="Arial"/>
                        </a:rPr>
                        <a:t>€3.7M</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r>
              <a:tr h="274320">
                <a:tc>
                  <a:txBody>
                    <a:bodyPr/>
                    <a:lstStyle/>
                    <a:p>
                      <a:pPr algn="l"/>
                      <a:r>
                        <a:rPr sz="1150" b="0">
                          <a:solidFill>
                            <a:srgbClr val="5D6D7E"/>
                          </a:solidFill>
                          <a:latin typeface="Arial"/>
                        </a:rPr>
                        <a:t>swap-out: approved today, below cutoff</a:t>
                      </a:r>
                    </a:p>
                  </a:txBody>
                  <a:tcPr>
                    <a:solidFill>
                      <a:srgbClr val="FFFFFF"/>
                    </a:solidFill>
                  </a:tcPr>
                </a:tc>
                <a:tc>
                  <a:txBody>
                    <a:bodyPr/>
                    <a:lstStyle/>
                    <a:p>
                      <a:pPr algn="r"/>
                      <a:r>
                        <a:rPr sz="1150" b="0">
                          <a:solidFill>
                            <a:srgbClr val="5D6D7E"/>
                          </a:solidFill>
                          <a:latin typeface="Arial"/>
                        </a:rPr>
                        <a:t>2.0%</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47.6%</a:t>
                      </a:r>
                    </a:p>
                  </a:txBody>
                  <a:tcPr>
                    <a:solidFill>
                      <a:srgbClr val="FFFFFF"/>
                    </a:solidFill>
                  </a:tcPr>
                </a:tc>
              </a:tr>
              <a:tr h="274320">
                <a:tc>
                  <a:txBody>
                    <a:bodyPr/>
                    <a:lstStyle/>
                    <a:p>
                      <a:pPr algn="l"/>
                      <a:r>
                        <a:rPr sz="1150" b="0">
                          <a:solidFill>
                            <a:srgbClr val="5D6D7E"/>
                          </a:solidFill>
                          <a:latin typeface="Arial"/>
                        </a:rPr>
                        <a:t>rejected by both scores (today, and by EFX)</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41.6%</a:t>
                      </a:r>
                    </a:p>
                  </a:txBody>
                  <a:tcPr>
                    <a:solidFill>
                      <a:srgbClr val="FFFFFF"/>
                    </a:solidFill>
                  </a:tcPr>
                </a:tc>
              </a:tr>
              <a:tr h="274320">
                <a:tc>
                  <a:txBody>
                    <a:bodyPr/>
                    <a:lstStyle/>
                    <a:p>
                      <a:pPr algn="l"/>
                      <a:r>
                        <a:rPr sz="1150" b="0">
                          <a:solidFill>
                            <a:srgbClr val="5D6D7E"/>
                          </a:solidFill>
                          <a:latin typeface="Arial"/>
                        </a:rPr>
                        <a:t>untouched: rejected by other rules</a:t>
                      </a:r>
                    </a:p>
                  </a:txBody>
                  <a:tcPr>
                    <a:solidFill>
                      <a:srgbClr val="FFFFFF"/>
                    </a:solidFill>
                  </a:tcPr>
                </a:tc>
                <a:tc>
                  <a:txBody>
                    <a:bodyPr/>
                    <a:lstStyle/>
                    <a:p>
                      <a:pPr algn="r"/>
                      <a:r>
                        <a:rPr sz="1150" b="0">
                          <a:solidFill>
                            <a:srgbClr val="5D6D7E"/>
                          </a:solidFill>
                          <a:latin typeface="Arial"/>
                        </a:rPr>
                        <a:t>20.1%</a:t>
                      </a:r>
                    </a:p>
                  </a:txBody>
                  <a:tcPr>
                    <a:solidFill>
                      <a:srgbClr val="FFFFFF"/>
                    </a:solidFill>
                  </a:tcPr>
                </a:tc>
                <a:tc>
                  <a:txBody>
                    <a:bodyPr/>
                    <a:lstStyle/>
                    <a:p>
                      <a:pPr algn="r"/>
                      <a:r>
                        <a:rPr sz="1150" b="0">
                          <a:solidFill>
                            <a:srgbClr val="5D6D7E"/>
                          </a:solidFill>
                          <a:latin typeface="Arial"/>
                        </a:rPr>
                        <a:t>€3.9M</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r h="274320">
                <a:tc>
                  <a:txBody>
                    <a:bodyPr/>
                    <a:lstStyle/>
                    <a:p>
                      <a:pPr algn="l"/>
                      <a:r>
                        <a:rPr sz="1150" b="0">
                          <a:solidFill>
                            <a:srgbClr val="5D6D7E"/>
                          </a:solidFill>
                          <a:latin typeface="Arial"/>
                        </a:rPr>
                        <a:t>Accepted by the grid (kept + swap-in)</a:t>
                      </a:r>
                    </a:p>
                  </a:txBody>
                  <a:tcPr>
                    <a:solidFill>
                      <a:srgbClr val="FFFFFF"/>
                    </a:solidFill>
                  </a:tcPr>
                </a:tc>
                <a:tc>
                  <a:txBody>
                    <a:bodyPr/>
                    <a:lstStyle/>
                    <a:p>
                      <a:pPr algn="r"/>
                      <a:r>
                        <a:rPr sz="1150" b="0">
                          <a:solidFill>
                            <a:srgbClr val="5D6D7E"/>
                          </a:solidFill>
                          <a:latin typeface="Arial"/>
                        </a:rPr>
                        <a:t>76.0%</a:t>
                      </a:r>
                    </a:p>
                  </a:txBody>
                  <a:tcPr>
                    <a:solidFill>
                      <a:srgbClr val="FFFFFF"/>
                    </a:solidFill>
                  </a:tcPr>
                </a:tc>
                <a:tc>
                  <a:txBody>
                    <a:bodyPr/>
                    <a:lstStyle/>
                    <a:p>
                      <a:pPr algn="r"/>
                      <a:r>
                        <a:rPr sz="1150" b="0">
                          <a:solidFill>
                            <a:srgbClr val="5D6D7E"/>
                          </a:solidFill>
                          <a:latin typeface="Arial"/>
                        </a:rPr>
                        <a:t>€14.6M</a:t>
                      </a:r>
                    </a:p>
                  </a:txBody>
                  <a:tcPr>
                    <a:solidFill>
                      <a:srgbClr val="FFFFFF"/>
                    </a:solidFill>
                  </a:tcPr>
                </a:tc>
                <a:tc>
                  <a:txBody>
                    <a:bodyPr/>
                    <a:lstStyle/>
                    <a:p>
                      <a:pPr algn="r"/>
                      <a:r>
                        <a:rPr sz="1150" b="0">
                          <a:solidFill>
                            <a:srgbClr val="5D6D7E"/>
                          </a:solidFill>
                          <a:latin typeface="Arial"/>
                        </a:rPr>
                        <a:t>3.51%</a:t>
                      </a:r>
                    </a:p>
                  </a:txBody>
                  <a:tcPr>
                    <a:solidFill>
                      <a:srgbClr val="FFFFFF"/>
                    </a:solidFill>
                  </a:tcPr>
                </a:tc>
              </a:tr>
              <a:tr h="274320">
                <a:tc>
                  <a:txBody>
                    <a:bodyPr/>
                    <a:lstStyle/>
                    <a:p>
                      <a:pPr algn="l"/>
                      <a:r>
                        <a:rPr sz="1150" b="0">
                          <a:solidFill>
                            <a:srgbClr val="5D6D7E"/>
                          </a:solidFill>
                          <a:latin typeface="Arial"/>
                        </a:rPr>
                        <a:t>= monthly run-rate (÷ 1.45 effective months)</a:t>
                      </a:r>
                    </a:p>
                  </a:txBody>
                  <a:tcPr>
                    <a:solidFill>
                      <a:srgbClr val="FFFFFF"/>
                    </a:solidFill>
                  </a:tcPr>
                </a:tc>
                <a:tc>
                  <a:txBody>
                    <a:bodyPr/>
                    <a:lstStyle/>
                    <a:p>
                      <a:pPr algn="r"/>
                    </a:p>
                  </a:txBody>
                  <a:tcPr>
                    <a:solidFill>
                      <a:srgbClr val="FFFFFF"/>
                    </a:solidFill>
                  </a:tcPr>
                </a:tc>
                <a:tc>
                  <a:txBody>
                    <a:bodyPr/>
                    <a:lstStyle/>
                    <a:p>
                      <a:pPr algn="r"/>
                      <a:r>
                        <a:rPr sz="1150" b="0">
                          <a:solidFill>
                            <a:srgbClr val="5D6D7E"/>
                          </a:solidFill>
                          <a:latin typeface="Arial"/>
                        </a:rPr>
                        <a:t>€10.1M/mo</a:t>
                      </a:r>
                    </a:p>
                  </a:txBody>
                  <a:tcPr>
                    <a:solidFill>
                      <a:srgbClr val="FFFFFF"/>
                    </a:solidFill>
                  </a:tcPr>
                </a:tc>
                <a:tc>
                  <a:txBody>
                    <a:bodyPr/>
                    <a:lstStyle/>
                    <a:p>
                      <a:pPr algn="r"/>
                    </a:p>
                  </a:txBody>
                  <a:tcPr>
                    <a:solidFill>
                      <a:srgbClr val="FFFFFF"/>
                    </a:solidFill>
                  </a:tcPr>
                </a:tc>
              </a:tr>
              <a:tr h="274320">
                <a:tc>
                  <a:txBody>
                    <a:bodyPr/>
                    <a:lstStyle/>
                    <a:p>
                      <a:pPr algn="l"/>
                      <a:r>
                        <a:rPr sz="1150" b="0">
                          <a:solidFill>
                            <a:srgbClr val="5D6D7E"/>
                          </a:solidFill>
                          <a:latin typeface="Arial"/>
                        </a:rPr>
                        <a:t>Today's book, valued the same way</a:t>
                      </a:r>
                    </a:p>
                  </a:txBody>
                  <a:tcPr>
                    <a:solidFill>
                      <a:srgbClr val="FFFFFF"/>
                    </a:solidFill>
                  </a:tcPr>
                </a:tc>
                <a:tc>
                  <a:txBody>
                    <a:bodyPr/>
                    <a:lstStyle/>
                    <a:p>
                      <a:pPr algn="r"/>
                      <a:r>
                        <a:rPr sz="1150" b="0">
                          <a:solidFill>
                            <a:srgbClr val="5D6D7E"/>
                          </a:solidFill>
                          <a:latin typeface="Arial"/>
                        </a:rPr>
                        <a:t>47.2%</a:t>
                      </a:r>
                    </a:p>
                  </a:txBody>
                  <a:tcPr>
                    <a:solidFill>
                      <a:srgbClr val="FFFFFF"/>
                    </a:solidFill>
                  </a:tcPr>
                </a:tc>
                <a:tc>
                  <a:txBody>
                    <a:bodyPr/>
                    <a:lstStyle/>
                    <a:p>
                      <a:pPr algn="r"/>
                      <a:r>
                        <a:rPr sz="1150" b="0">
                          <a:solidFill>
                            <a:srgbClr val="5D6D7E"/>
                          </a:solidFill>
                          <a:latin typeface="Arial"/>
                        </a:rPr>
                        <a:t>€11.3M</a:t>
                      </a:r>
                    </a:p>
                  </a:txBody>
                  <a:tcPr>
                    <a:solidFill>
                      <a:srgbClr val="FFFFFF"/>
                    </a:solidFill>
                  </a:tcPr>
                </a:tc>
                <a:tc>
                  <a:txBody>
                    <a:bodyPr/>
                    <a:lstStyle/>
                    <a:p>
                      <a:pPr algn="r"/>
                      <a:r>
                        <a:rPr sz="1150" b="0">
                          <a:solidFill>
                            <a:srgbClr val="5D6D7E"/>
                          </a:solidFill>
                          <a:latin typeface="Arial"/>
                        </a:rPr>
                        <a:t>3.74%</a:t>
                      </a:r>
                    </a:p>
                  </a:txBody>
                  <a:tcPr>
                    <a:solidFill>
                      <a:srgbClr val="FFFFFF"/>
                    </a:solidFill>
                  </a:tcPr>
                </a:tc>
              </a:tr>
            </a:tbl>
          </a:graphicData>
        </a:graphic>
      </p:graphicFrame>
      <p:graphicFrame>
        <p:nvGraphicFramePr>
          <p:cNvPr id="7" name="Table 6"/>
          <p:cNvGraphicFramePr>
            <a:graphicFrameLocks noGrp="1"/>
          </p:cNvGraphicFramePr>
          <p:nvPr/>
        </p:nvGraphicFramePr>
        <p:xfrm>
          <a:off x="7699248" y="1563624"/>
          <a:ext cx="3886198" cy="1865376"/>
        </p:xfrm>
        <a:graphic>
          <a:graphicData uri="http://schemas.openxmlformats.org/drawingml/2006/table">
            <a:tbl>
              <a:tblPr firstRow="1" bandRow="1">
                <a:tableStyleId>{5C22544A-7EE6-4342-B048-85BDC9FD1C3A}</a:tableStyleId>
              </a:tblPr>
              <a:tblGrid>
                <a:gridCol w="1876096"/>
                <a:gridCol w="670034"/>
                <a:gridCol w="670034"/>
                <a:gridCol w="670034"/>
              </a:tblGrid>
              <a:tr h="310896">
                <a:tc>
                  <a:txBody>
                    <a:bodyPr/>
                    <a:lstStyle/>
                    <a:p>
                      <a:pPr algn="l"/>
                      <a:r>
                        <a:rPr sz="1150" b="1">
                          <a:solidFill>
                            <a:srgbClr val="2C3E50"/>
                          </a:solidFill>
                          <a:latin typeface="Arial"/>
                        </a:rPr>
                        <a:t>Monthly run-rate</a:t>
                      </a:r>
                    </a:p>
                  </a:txBody>
                  <a:tcPr>
                    <a:solidFill>
                      <a:srgbClr val="F6F7F9"/>
                    </a:solidFill>
                  </a:tcPr>
                </a:tc>
                <a:tc>
                  <a:txBody>
                    <a:bodyPr/>
                    <a:lstStyle/>
                    <a:p>
                      <a:pPr algn="r"/>
                      <a:r>
                        <a:rPr sz="1150" b="1">
                          <a:solidFill>
                            <a:srgbClr val="2C3E50"/>
                          </a:solidFill>
                          <a:latin typeface="Arial"/>
                        </a:rPr>
                        <a:t>Online</a:t>
                      </a:r>
                    </a:p>
                  </a:txBody>
                  <a:tcPr>
                    <a:solidFill>
                      <a:srgbClr val="F6F7F9"/>
                    </a:solidFill>
                  </a:tcPr>
                </a:tc>
                <a:tc>
                  <a:txBody>
                    <a:bodyPr/>
                    <a:lstStyle/>
                    <a:p>
                      <a:pPr algn="r"/>
                      <a:r>
                        <a:rPr sz="1150" b="1">
                          <a:solidFill>
                            <a:srgbClr val="2C3E50"/>
                          </a:solidFill>
                          <a:latin typeface="Arial"/>
                        </a:rPr>
                        <a:t>Stores</a:t>
                      </a:r>
                    </a:p>
                  </a:txBody>
                  <a:tcPr>
                    <a:solidFill>
                      <a:srgbClr val="F6F7F9"/>
                    </a:solidFill>
                  </a:tcPr>
                </a:tc>
                <a:tc>
                  <a:txBody>
                    <a:bodyPr/>
                    <a:lstStyle/>
                    <a:p>
                      <a:pPr algn="r"/>
                      <a:r>
                        <a:rPr sz="1150" b="1">
                          <a:solidFill>
                            <a:srgbClr val="2C3E50"/>
                          </a:solidFill>
                          <a:latin typeface="Arial"/>
                        </a:rPr>
                        <a:t>Apple</a:t>
                      </a:r>
                    </a:p>
                  </a:txBody>
                  <a:tcPr>
                    <a:solidFill>
                      <a:srgbClr val="F6F7F9"/>
                    </a:solidFill>
                  </a:tcPr>
                </a:tc>
              </a:tr>
              <a:tr h="310896">
                <a:tc>
                  <a:txBody>
                    <a:bodyPr/>
                    <a:lstStyle/>
                    <a:p>
                      <a:pPr algn="l"/>
                      <a:r>
                        <a:rPr sz="1150" b="0">
                          <a:solidFill>
                            <a:srgbClr val="5D6D7E"/>
                          </a:solidFill>
                          <a:latin typeface="Arial"/>
                        </a:rPr>
                        <a:t>Effective months</a:t>
                      </a:r>
                    </a:p>
                  </a:txBody>
                  <a:tcPr>
                    <a:solidFill>
                      <a:srgbClr val="FFFFFF"/>
                    </a:solidFill>
                  </a:tcPr>
                </a:tc>
                <a:tc>
                  <a:txBody>
                    <a:bodyPr/>
                    <a:lstStyle/>
                    <a:p>
                      <a:pPr algn="r"/>
                      <a:r>
                        <a:rPr sz="1150" b="0">
                          <a:solidFill>
                            <a:srgbClr val="5D6D7E"/>
                          </a:solidFill>
                          <a:latin typeface="Arial"/>
                        </a:rPr>
                        <a:t>12.00</a:t>
                      </a:r>
                    </a:p>
                  </a:txBody>
                  <a:tcPr>
                    <a:solidFill>
                      <a:srgbClr val="FFFFFF"/>
                    </a:solidFill>
                  </a:tcPr>
                </a:tc>
                <a:tc>
                  <a:txBody>
                    <a:bodyPr/>
                    <a:lstStyle/>
                    <a:p>
                      <a:pPr algn="r"/>
                      <a:r>
                        <a:rPr sz="1150" b="0">
                          <a:solidFill>
                            <a:srgbClr val="5D6D7E"/>
                          </a:solidFill>
                          <a:latin typeface="Arial"/>
                        </a:rPr>
                        <a:t>1.45</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310896">
                <a:tc>
                  <a:txBody>
                    <a:bodyPr/>
                    <a:lstStyle/>
                    <a:p>
                      <a:pPr algn="l"/>
                      <a:r>
                        <a:rPr sz="1150" b="0">
                          <a:solidFill>
                            <a:srgbClr val="5D6D7E"/>
                          </a:solidFill>
                          <a:latin typeface="Arial"/>
                        </a:rPr>
                        <a:t>Demand, €M/mo</a:t>
                      </a:r>
                    </a:p>
                  </a:txBody>
                  <a:tcPr>
                    <a:solidFill>
                      <a:srgbClr val="FFFFFF"/>
                    </a:solidFill>
                  </a:tcPr>
                </a:tc>
                <a:tc>
                  <a:txBody>
                    <a:bodyPr/>
                    <a:lstStyle/>
                    <a:p>
                      <a:pPr algn="r"/>
                      <a:r>
                        <a:rPr sz="1150" b="0">
                          <a:solidFill>
                            <a:srgbClr val="5D6D7E"/>
                          </a:solidFill>
                          <a:latin typeface="Arial"/>
                        </a:rPr>
                        <a:t>40.1</a:t>
                      </a:r>
                    </a:p>
                  </a:txBody>
                  <a:tcPr>
                    <a:solidFill>
                      <a:srgbClr val="FFFFFF"/>
                    </a:solidFill>
                  </a:tcPr>
                </a:tc>
                <a:tc>
                  <a:txBody>
                    <a:bodyPr/>
                    <a:lstStyle/>
                    <a:p>
                      <a:pPr algn="r"/>
                      <a:r>
                        <a:rPr sz="1150" b="0">
                          <a:solidFill>
                            <a:srgbClr val="5D6D7E"/>
                          </a:solidFill>
                          <a:latin typeface="Arial"/>
                        </a:rPr>
                        <a:t>16.5</a:t>
                      </a:r>
                    </a:p>
                  </a:txBody>
                  <a:tcPr>
                    <a:solidFill>
                      <a:srgbClr val="FFFFFF"/>
                    </a:solidFill>
                  </a:tcPr>
                </a:tc>
                <a:tc>
                  <a:txBody>
                    <a:bodyPr/>
                    <a:lstStyle/>
                    <a:p>
                      <a:pPr algn="r"/>
                      <a:r>
                        <a:rPr sz="1150" b="0">
                          <a:solidFill>
                            <a:srgbClr val="5D6D7E"/>
                          </a:solidFill>
                          <a:latin typeface="Arial"/>
                        </a:rPr>
                        <a:t>56.6</a:t>
                      </a:r>
                    </a:p>
                  </a:txBody>
                  <a:tcPr>
                    <a:solidFill>
                      <a:srgbClr val="FFFFFF"/>
                    </a:solidFill>
                  </a:tcPr>
                </a:tc>
              </a:tr>
              <a:tr h="310896">
                <a:tc>
                  <a:txBody>
                    <a:bodyPr/>
                    <a:lstStyle/>
                    <a:p>
                      <a:pPr algn="l"/>
                      <a:r>
                        <a:rPr sz="1150" b="0">
                          <a:solidFill>
                            <a:srgbClr val="5D6D7E"/>
                          </a:solidFill>
                          <a:latin typeface="Arial"/>
                        </a:rPr>
                        <a:t>Exp. production, €M/mo</a:t>
                      </a:r>
                    </a:p>
                  </a:txBody>
                  <a:tcPr>
                    <a:solidFill>
                      <a:srgbClr val="FFFFFF"/>
                    </a:solidFill>
                  </a:tcPr>
                </a:tc>
                <a:tc>
                  <a:txBody>
                    <a:bodyPr/>
                    <a:lstStyle/>
                    <a:p>
                      <a:pPr algn="r"/>
                      <a:r>
                        <a:rPr sz="1150" b="0">
                          <a:solidFill>
                            <a:srgbClr val="5D6D7E"/>
                          </a:solidFill>
                          <a:latin typeface="Arial"/>
                        </a:rPr>
                        <a:t>8.4</a:t>
                      </a:r>
                    </a:p>
                  </a:txBody>
                  <a:tcPr>
                    <a:solidFill>
                      <a:srgbClr val="FFFFFF"/>
                    </a:solidFill>
                  </a:tcPr>
                </a:tc>
                <a:tc>
                  <a:txBody>
                    <a:bodyPr/>
                    <a:lstStyle/>
                    <a:p>
                      <a:pPr algn="r"/>
                      <a:r>
                        <a:rPr sz="1150" b="0">
                          <a:solidFill>
                            <a:srgbClr val="5D6D7E"/>
                          </a:solidFill>
                          <a:latin typeface="Arial"/>
                        </a:rPr>
                        <a:t>10.1</a:t>
                      </a:r>
                    </a:p>
                  </a:txBody>
                  <a:tcPr>
                    <a:solidFill>
                      <a:srgbClr val="FFFFFF"/>
                    </a:solidFill>
                  </a:tcPr>
                </a:tc>
                <a:tc>
                  <a:txBody>
                    <a:bodyPr/>
                    <a:lstStyle/>
                    <a:p>
                      <a:pPr algn="r"/>
                      <a:r>
                        <a:rPr sz="1150" b="0">
                          <a:solidFill>
                            <a:srgbClr val="5D6D7E"/>
                          </a:solidFill>
                          <a:latin typeface="Arial"/>
                        </a:rPr>
                        <a:t>18.5</a:t>
                      </a:r>
                    </a:p>
                  </a:txBody>
                  <a:tcPr>
                    <a:solidFill>
                      <a:srgbClr val="FFFFFF"/>
                    </a:solidFill>
                  </a:tcPr>
                </a:tc>
              </a:tr>
              <a:tr h="310896">
                <a:tc>
                  <a:txBody>
                    <a:bodyPr/>
                    <a:lstStyle/>
                    <a:p>
                      <a:pPr algn="l"/>
                      <a:r>
                        <a:rPr sz="1150" b="0">
                          <a:solidFill>
                            <a:srgbClr val="5D6D7E"/>
                          </a:solidFill>
                          <a:latin typeface="Arial"/>
                        </a:rPr>
                        <a:t>Share of exp. H6 exposure</a:t>
                      </a:r>
                    </a:p>
                  </a:txBody>
                  <a:tcPr>
                    <a:solidFill>
                      <a:srgbClr val="FFFFFF"/>
                    </a:solidFill>
                  </a:tcPr>
                </a:tc>
                <a:tc>
                  <a:txBody>
                    <a:bodyPr/>
                    <a:lstStyle/>
                    <a:p>
                      <a:pPr algn="r"/>
                      <a:r>
                        <a:rPr sz="1150" b="0">
                          <a:solidFill>
                            <a:srgbClr val="5D6D7E"/>
                          </a:solidFill>
                          <a:latin typeface="Arial"/>
                        </a:rPr>
                        <a:t>45%</a:t>
                      </a:r>
                    </a:p>
                  </a:txBody>
                  <a:tcPr>
                    <a:solidFill>
                      <a:srgbClr val="FFFFFF"/>
                    </a:solidFill>
                  </a:tcPr>
                </a:tc>
                <a:tc>
                  <a:txBody>
                    <a:bodyPr/>
                    <a:lstStyle/>
                    <a:p>
                      <a:pPr algn="r"/>
                      <a:r>
                        <a:rPr sz="1150" b="0">
                          <a:solidFill>
                            <a:srgbClr val="5D6D7E"/>
                          </a:solidFill>
                          <a:latin typeface="Arial"/>
                        </a:rPr>
                        <a:t>55%</a:t>
                      </a:r>
                    </a:p>
                  </a:txBody>
                  <a:tcPr>
                    <a:solidFill>
                      <a:srgbClr val="FFFFFF"/>
                    </a:solidFill>
                  </a:tcPr>
                </a:tc>
                <a:tc>
                  <a:txBody>
                    <a:bodyPr/>
                    <a:lstStyle/>
                    <a:p>
                      <a:pPr algn="r"/>
                      <a:r>
                        <a:rPr sz="1150" b="0">
                          <a:solidFill>
                            <a:srgbClr val="5D6D7E"/>
                          </a:solidFill>
                          <a:latin typeface="Arial"/>
                        </a:rPr>
                        <a:t>100%</a:t>
                      </a:r>
                    </a:p>
                  </a:txBody>
                  <a:tcPr>
                    <a:solidFill>
                      <a:srgbClr val="FFFFFF"/>
                    </a:solidFill>
                  </a:tcPr>
                </a:tc>
              </a:tr>
              <a:tr h="310896">
                <a:tc>
                  <a:txBody>
                    <a:bodyPr/>
                    <a:lstStyle/>
                    <a:p>
                      <a:pPr algn="l"/>
                      <a:r>
                        <a:rPr sz="1150" b="0">
                          <a:solidFill>
                            <a:srgbClr val="5D6D7E"/>
                          </a:solidFill>
                          <a:latin typeface="Arial"/>
                        </a:rPr>
                        <a:t>Risk (b2)</a:t>
                      </a:r>
                    </a:p>
                  </a:txBody>
                  <a:tcPr>
                    <a:solidFill>
                      <a:srgbClr val="FFFFFF"/>
                    </a:solidFill>
                  </a:tcPr>
                </a:tc>
                <a:tc>
                  <a:txBody>
                    <a:bodyPr/>
                    <a:lstStyle/>
                    <a:p>
                      <a:pPr algn="r"/>
                      <a:r>
                        <a:rPr sz="1150" b="0">
                          <a:solidFill>
                            <a:srgbClr val="5D6D7E"/>
                          </a:solidFill>
                          <a:latin typeface="Arial"/>
                        </a:rPr>
                        <a:t>4.26%</a:t>
                      </a:r>
                    </a:p>
                  </a:txBody>
                  <a:tcPr>
                    <a:solidFill>
                      <a:srgbClr val="FFFFFF"/>
                    </a:solidFill>
                  </a:tcPr>
                </a:tc>
                <a:tc>
                  <a:txBody>
                    <a:bodyPr/>
                    <a:lstStyle/>
                    <a:p>
                      <a:pPr algn="r"/>
                      <a:r>
                        <a:rPr sz="1150" b="0">
                          <a:solidFill>
                            <a:srgbClr val="5D6D7E"/>
                          </a:solidFill>
                          <a:latin typeface="Arial"/>
                        </a:rPr>
                        <a:t>3.51%</a:t>
                      </a:r>
                    </a:p>
                  </a:txBody>
                  <a:tcPr>
                    <a:solidFill>
                      <a:srgbClr val="FFFFFF"/>
                    </a:solidFill>
                  </a:tcPr>
                </a:tc>
                <a:tc>
                  <a:txBody>
                    <a:bodyPr/>
                    <a:lstStyle/>
                    <a:p>
                      <a:pPr algn="r"/>
                      <a:r>
                        <a:rPr sz="1150" b="0">
                          <a:solidFill>
                            <a:srgbClr val="5D6D7E"/>
                          </a:solidFill>
                          <a:latin typeface="Arial"/>
                        </a:rPr>
                        <a:t>3.85%</a:t>
                      </a:r>
                    </a:p>
                  </a:txBody>
                  <a:tcPr>
                    <a:solidFill>
                      <a:srgbClr val="FFFFFF"/>
                    </a:solidFill>
                  </a:tcPr>
                </a:tc>
              </a:tr>
            </a:tbl>
          </a:graphicData>
        </a:graphic>
      </p:graphicFrame>
      <p:sp>
        <p:nvSpPr>
          <p:cNvPr id="8" name="TextBox 7"/>
          <p:cNvSpPr txBox="1"/>
          <p:nvPr/>
        </p:nvSpPr>
        <p:spPr>
          <a:xfrm>
            <a:off x="7699248" y="3611880"/>
            <a:ext cx="3886200" cy="2194560"/>
          </a:xfrm>
          <a:prstGeom prst="rect">
            <a:avLst/>
          </a:prstGeom>
          <a:noFill/>
        </p:spPr>
        <p:txBody>
          <a:bodyPr wrap="square">
            <a:spAutoFit/>
          </a:bodyPr>
          <a:lstStyle/>
          <a:p>
            <a:pPr algn="l">
              <a:lnSpc>
                <a:spcPct val="120000"/>
              </a:lnSpc>
            </a:pPr>
            <a:r>
              <a:rPr sz="1050" b="0">
                <a:solidFill>
                  <a:srgbClr val="5D6D7E"/>
                </a:solidFill>
                <a:latin typeface="Arial"/>
              </a:rPr>
              <a:t>Window totals become a run-rate by dividing by effective months: €14.6M over Aug–Sep 2026 ÷ 1.45 = €10.1M/mo — not ÷ 2, because Aug and Sep are weak store months (index 0.76 / 0.69). Risk blends by expected H6 exposure, the base of b2: stores are 29% of demand but 55% of exposure, because they convert 61% of what they are asked for and Online 21%. Online's 4.26% carries the reject-inference uplift on its own book (realized 4.18%).</a:t>
            </a:r>
          </a:p>
        </p:txBody>
      </p:sp>
      <p:sp>
        <p:nvSpPr>
          <p:cNvPr id="9" name="TextBox 8"/>
          <p:cNvSpPr txBox="1"/>
          <p:nvPr/>
        </p:nvSpPr>
        <p:spPr>
          <a:xfrm>
            <a:off x="566928" y="4306823"/>
            <a:ext cx="6858000" cy="2185417"/>
          </a:xfrm>
          <a:prstGeom prst="rect">
            <a:avLst/>
          </a:prstGeom>
          <a:noFill/>
        </p:spPr>
        <p:txBody>
          <a:bodyPr wrap="square">
            <a:spAutoFit/>
          </a:bodyPr>
          <a:lstStyle/>
          <a:p>
            <a:pPr>
              <a:spcAft>
                <a:spcPts val="900"/>
              </a:spcAft>
            </a:pPr>
            <a:r>
              <a:rPr sz="1050" b="1">
                <a:solidFill>
                  <a:srgbClr val="2C3E50"/>
                </a:solidFill>
                <a:latin typeface="Arial"/>
              </a:rPr>
              <a:t>1 · Score and bin.  </a:t>
            </a:r>
            <a:r>
              <a:rPr sz="1050">
                <a:solidFill>
                  <a:srgbClr val="5D6D7E"/>
                </a:solidFill>
                <a:latin typeface="Arial"/>
              </a:rPr>
              <a:t>Every application gets its EFX score and one of the 20 bins of the Online curve.</a:t>
            </a:r>
          </a:p>
          <a:p>
            <a:pPr>
              <a:spcAft>
                <a:spcPts val="900"/>
              </a:spcAft>
            </a:pPr>
            <a:r>
              <a:rPr sz="1050" b="1">
                <a:solidFill>
                  <a:srgbClr val="2C3E50"/>
                </a:solidFill>
                <a:latin typeface="Arial"/>
              </a:rPr>
              <a:t>2 · Apply the Online grid.  </a:t>
            </a:r>
            <a:r>
              <a:rPr sz="1050">
                <a:solidFill>
                  <a:srgbClr val="5D6D7E"/>
                </a:solidFill>
                <a:latin typeface="Arial"/>
              </a:rPr>
              <a:t>Accepted if above its group's reject threshold and not rejected by another rule — only the score rule is swapped; the engine's other rules stay.</a:t>
            </a:r>
          </a:p>
          <a:p>
            <a:pPr>
              <a:spcAft>
                <a:spcPts val="900"/>
              </a:spcAft>
            </a:pPr>
            <a:r>
              <a:rPr sz="1050" b="1">
                <a:solidFill>
                  <a:srgbClr val="2C3E50"/>
                </a:solidFill>
                <a:latin typeface="Arial"/>
              </a:rPr>
              <a:t>3 · Expected production.  </a:t>
            </a:r>
            <a:r>
              <a:rPr sz="1050">
                <a:solidFill>
                  <a:srgbClr val="5D6D7E"/>
                </a:solidFill>
                <a:latin typeface="Arial"/>
              </a:rPr>
              <a:t>€ applied for × the actual take-up of its engine decision (stores: approved 82%, referred 18%); cancellations are assumed to behave as today.</a:t>
            </a:r>
          </a:p>
          <a:p>
            <a:pPr>
              <a:spcAft>
                <a:spcPts val="900"/>
              </a:spcAft>
            </a:pPr>
            <a:r>
              <a:rPr sz="1050" b="1">
                <a:solidFill>
                  <a:srgbClr val="2C3E50"/>
                </a:solidFill>
                <a:latin typeface="Arial"/>
              </a:rPr>
              <a:t>4 · Impute risk.  </a:t>
            </a:r>
            <a:r>
              <a:rPr sz="1050">
                <a:solidFill>
                  <a:srgbClr val="5D6D7E"/>
                </a:solidFill>
                <a:latin typeface="Arial"/>
              </a:rPr>
              <a:t>Each accepted € takes its bin's Online risk (reject-inference blended), weighted by expected H6 exposure; the level is rescaled by 0.952 so that today's store book reproduces its realized 3.74%.</a:t>
            </a:r>
          </a:p>
          <a:p>
            <a:pPr>
              <a:spcAft>
                <a:spcPts val="900"/>
              </a:spcAft>
            </a:pPr>
            <a:r>
              <a:rPr sz="1050" b="1">
                <a:solidFill>
                  <a:srgbClr val="2C3E50"/>
                </a:solidFill>
                <a:latin typeface="Arial"/>
              </a:rPr>
              <a:t>5 · What the grid leaves out.  </a:t>
            </a:r>
            <a:r>
              <a:rPr sz="1050">
                <a:solidFill>
                  <a:srgbClr val="5D6D7E"/>
                </a:solidFill>
                <a:latin typeface="Arial"/>
              </a:rPr>
              <a:t>The swap-out is 2.0% of demand with 48% imputed risk (median EFX 19): the octroi's weakest approvals. The swap-in brings 19.3% of demand at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23% of demand. With their own seasonality they are 29%. Had Online's profile been applied —the only option before stores' history was available— we would have said 19%,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81% of store demand and where risk falls. Take-up is measured by segment and by engine decision (approved / referred). '&gt;=G' is absent: it is always rejected, so it has neither acceptance nor risk.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19% when with their own seasonality it is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(2.4x).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