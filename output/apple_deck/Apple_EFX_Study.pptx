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737360"/>
            <a:ext cx="11057839" cy="365760"/>
          </a:xfrm>
          <a:prstGeom prst="rect">
            <a:avLst/>
          </a:prstGeom>
          <a:noFill/>
        </p:spPr>
        <p:txBody>
          <a:bodyPr wrap="square">
            <a:spAutoFit/>
          </a:bodyPr>
          <a:lstStyle/>
          <a:p>
            <a:pPr algn="l">
              <a:lnSpc>
                <a:spcPct val="100000"/>
              </a:lnSpc>
            </a:pPr>
            <a:r>
              <a:rPr sz="1300" b="1">
                <a:solidFill>
                  <a:srgbClr val="3498DB"/>
                </a:solidFill>
                <a:latin typeface="Arial"/>
              </a:rPr>
              <a:t>RISK STUDY · APPLE</a:t>
            </a:r>
          </a:p>
        </p:txBody>
      </p:sp>
      <p:sp>
        <p:nvSpPr>
          <p:cNvPr id="4" name="TextBox 3"/>
          <p:cNvSpPr txBox="1"/>
          <p:nvPr/>
        </p:nvSpPr>
        <p:spPr>
          <a:xfrm>
            <a:off x="566928" y="2148840"/>
            <a:ext cx="11057839" cy="1371600"/>
          </a:xfrm>
          <a:prstGeom prst="rect">
            <a:avLst/>
          </a:prstGeom>
          <a:noFill/>
        </p:spPr>
        <p:txBody>
          <a:bodyPr wrap="square">
            <a:spAutoFit/>
          </a:bodyPr>
          <a:lstStyle/>
          <a:p>
            <a:pPr algn="l">
              <a:lnSpc>
                <a:spcPct val="105000"/>
              </a:lnSpc>
            </a:pPr>
            <a:r>
              <a:rPr sz="4000" b="1">
                <a:solidFill>
                  <a:srgbClr val="2C3E50"/>
                </a:solidFill>
                <a:latin typeface="Arial"/>
              </a:rPr>
              <a:t>Extending the Equifax score</a:t>
            </a:r>
          </a:p>
          <a:p>
            <a:pPr algn="l">
              <a:lnSpc>
                <a:spcPct val="105000"/>
              </a:lnSpc>
            </a:pPr>
            <a:r>
              <a:rPr sz="4000" b="1">
                <a:solidFill>
                  <a:srgbClr val="2C3E50"/>
                </a:solidFill>
                <a:latin typeface="Arial"/>
              </a:rPr>
              <a:t>from e-commerce to stores</a:t>
            </a:r>
          </a:p>
        </p:txBody>
      </p:sp>
      <p:sp>
        <p:nvSpPr>
          <p:cNvPr id="5" name="TextBox 4"/>
          <p:cNvSpPr txBox="1"/>
          <p:nvPr/>
        </p:nvSpPr>
        <p:spPr>
          <a:xfrm>
            <a:off x="566928" y="3886200"/>
            <a:ext cx="7863840" cy="1097280"/>
          </a:xfrm>
          <a:prstGeom prst="rect">
            <a:avLst/>
          </a:prstGeom>
          <a:noFill/>
        </p:spPr>
        <p:txBody>
          <a:bodyPr wrap="square">
            <a:spAutoFit/>
          </a:bodyPr>
          <a:lstStyle/>
          <a:p>
            <a:pPr algn="l">
              <a:lnSpc>
                <a:spcPct val="125000"/>
              </a:lnSpc>
            </a:pPr>
            <a:r>
              <a:rPr sz="1500" b="0">
                <a:solidFill>
                  <a:srgbClr val="5D6D7E"/>
                </a:solidFill>
                <a:latin typeface="Arial"/>
              </a:rPr>
              <a:t>Applying the Apple Online grid to Apple Stores raises system approval and lowers risk at the same time. Store risk is still an estimate, but its level is now anchored to the delinquency stores have actually had: the only assumption left is that the score ranks the same way, not how much risk there is.</a:t>
            </a:r>
          </a:p>
        </p:txBody>
      </p:sp>
      <p:sp>
        <p:nvSpPr>
          <p:cNvPr id="6" name="TextBox 5"/>
          <p:cNvSpPr txBox="1"/>
          <p:nvPr/>
        </p:nvSpPr>
        <p:spPr>
          <a:xfrm>
            <a:off x="566928" y="5852160"/>
            <a:ext cx="11057839" cy="365760"/>
          </a:xfrm>
          <a:prstGeom prst="rect">
            <a:avLst/>
          </a:prstGeom>
          <a:noFill/>
        </p:spPr>
        <p:txBody>
          <a:bodyPr wrap="square">
            <a:spAutoFit/>
          </a:bodyPr>
          <a:lstStyle/>
          <a:p>
            <a:pPr algn="l">
              <a:lnSpc>
                <a:spcPct val="100000"/>
              </a:lnSpc>
            </a:pPr>
            <a:r>
              <a:rPr sz="1100" b="0">
                <a:solidFill>
                  <a:srgbClr val="5D6D7E"/>
                </a:solidFill>
                <a:latin typeface="Arial"/>
              </a:rPr>
              <a:t>Risk  ·  16 Oct 2026  ·  scope: Apple Propio (own channel, no APRS)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EXECUTIVE SUMMARY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the study says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Apple Online realized risk</a:t>
            </a:r>
          </a:p>
        </p:txBody>
      </p:sp>
      <p:sp>
        <p:nvSpPr>
          <p:cNvPr id="8" name="TextBox 7"/>
          <p:cNvSpPr txBox="1"/>
          <p:nvPr/>
        </p:nvSpPr>
        <p:spPr>
          <a:xfrm>
            <a:off x="731520" y="1984248"/>
            <a:ext cx="2432304" cy="566928"/>
          </a:xfrm>
          <a:prstGeom prst="rect">
            <a:avLst/>
          </a:prstGeom>
          <a:noFill/>
        </p:spPr>
        <p:txBody>
          <a:bodyPr wrap="square">
            <a:spAutoFit/>
          </a:bodyPr>
          <a:lstStyle/>
          <a:p>
            <a:pPr algn="l">
              <a:lnSpc>
                <a:spcPct val="100000"/>
              </a:lnSpc>
            </a:pPr>
            <a:r>
              <a:rPr sz="3000" b="1">
                <a:solidFill>
                  <a:srgbClr val="E74C3C"/>
                </a:solidFill>
                <a:latin typeface="Arial"/>
              </a:rPr>
              <a:t>4.18%</a:t>
            </a:r>
          </a:p>
        </p:txBody>
      </p:sp>
      <p:sp>
        <p:nvSpPr>
          <p:cNvPr id="9" name="TextBox 8"/>
          <p:cNvSpPr txBox="1"/>
          <p:nvPr/>
        </p:nvSpPr>
        <p:spPr>
          <a:xfrm>
            <a:off x="73152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measured on the mature book</a:t>
            </a:r>
          </a:p>
        </p:txBody>
      </p:sp>
      <p:sp>
        <p:nvSpPr>
          <p:cNvPr id="10" name="Rectangle 9"/>
          <p:cNvSpPr/>
          <p:nvPr/>
        </p:nvSpPr>
        <p:spPr>
          <a:xfrm>
            <a:off x="349300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Online system approval</a:t>
            </a:r>
          </a:p>
        </p:txBody>
      </p:sp>
      <p:sp>
        <p:nvSpPr>
          <p:cNvPr id="12" name="TextBox 11"/>
          <p:cNvSpPr txBox="1"/>
          <p:nvPr/>
        </p:nvSpPr>
        <p:spPr>
          <a:xfrm>
            <a:off x="3657600" y="1984248"/>
            <a:ext cx="2432304" cy="566928"/>
          </a:xfrm>
          <a:prstGeom prst="rect">
            <a:avLst/>
          </a:prstGeom>
          <a:noFill/>
        </p:spPr>
        <p:txBody>
          <a:bodyPr wrap="square">
            <a:spAutoFit/>
          </a:bodyPr>
          <a:lstStyle/>
          <a:p>
            <a:pPr algn="l">
              <a:lnSpc>
                <a:spcPct val="100000"/>
              </a:lnSpc>
            </a:pPr>
            <a:r>
              <a:rPr sz="3000" b="1">
                <a:solidFill>
                  <a:srgbClr val="2C3E50"/>
                </a:solidFill>
                <a:latin typeface="Arial"/>
              </a:rPr>
              <a:t>51.9%</a:t>
            </a:r>
          </a:p>
        </p:txBody>
      </p:sp>
      <p:sp>
        <p:nvSpPr>
          <p:cNvPr id="13" name="TextBox 12"/>
          <p:cNvSpPr txBox="1"/>
          <p:nvPr/>
        </p:nvSpPr>
        <p:spPr>
          <a:xfrm>
            <a:off x="365760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(OK + RV) / € demand</a:t>
            </a:r>
          </a:p>
        </p:txBody>
      </p:sp>
      <p:sp>
        <p:nvSpPr>
          <p:cNvPr id="14" name="Rectangle 13"/>
          <p:cNvSpPr/>
          <p:nvPr/>
        </p:nvSpPr>
        <p:spPr>
          <a:xfrm>
            <a:off x="641908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with the EFX grid</a:t>
            </a:r>
          </a:p>
        </p:txBody>
      </p:sp>
      <p:sp>
        <p:nvSpPr>
          <p:cNvPr id="16" name="TextBox 15"/>
          <p:cNvSpPr txBox="1"/>
          <p:nvPr/>
        </p:nvSpPr>
        <p:spPr>
          <a:xfrm>
            <a:off x="658368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69.2%</a:t>
            </a:r>
          </a:p>
        </p:txBody>
      </p:sp>
      <p:sp>
        <p:nvSpPr>
          <p:cNvPr id="17" name="TextBox 16"/>
          <p:cNvSpPr txBox="1"/>
          <p:nvPr/>
        </p:nvSpPr>
        <p:spPr>
          <a:xfrm>
            <a:off x="658368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system approval, from 53.5% today</a:t>
            </a:r>
          </a:p>
        </p:txBody>
      </p:sp>
      <p:sp>
        <p:nvSpPr>
          <p:cNvPr id="18" name="Rectangle 17"/>
          <p:cNvSpPr/>
          <p:nvPr/>
        </p:nvSpPr>
        <p:spPr>
          <a:xfrm>
            <a:off x="934516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imputed risk</a:t>
            </a:r>
          </a:p>
        </p:txBody>
      </p:sp>
      <p:sp>
        <p:nvSpPr>
          <p:cNvPr id="20" name="TextBox 19"/>
          <p:cNvSpPr txBox="1"/>
          <p:nvPr/>
        </p:nvSpPr>
        <p:spPr>
          <a:xfrm>
            <a:off x="950976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3.52%</a:t>
            </a:r>
          </a:p>
        </p:txBody>
      </p:sp>
      <p:sp>
        <p:nvSpPr>
          <p:cNvPr id="21" name="TextBox 20"/>
          <p:cNvSpPr txBox="1"/>
          <p:nvPr/>
        </p:nvSpPr>
        <p:spPr>
          <a:xfrm>
            <a:off x="950976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from 3.74% today</a:t>
            </a:r>
          </a:p>
        </p:txBody>
      </p:sp>
      <p:sp>
        <p:nvSpPr>
          <p:cNvPr id="22" name="TextBox 21"/>
          <p:cNvSpPr txBox="1"/>
          <p:nvPr/>
        </p:nvSpPr>
        <p:spPr>
          <a:xfrm>
            <a:off x="566928" y="3346704"/>
            <a:ext cx="5623560" cy="365760"/>
          </a:xfrm>
          <a:prstGeom prst="rect">
            <a:avLst/>
          </a:prstGeom>
          <a:noFill/>
        </p:spPr>
        <p:txBody>
          <a:bodyPr wrap="square">
            <a:spAutoFit/>
          </a:bodyPr>
          <a:lstStyle/>
          <a:p>
            <a:pPr algn="l">
              <a:lnSpc>
                <a:spcPct val="100000"/>
              </a:lnSpc>
            </a:pPr>
            <a:r>
              <a:rPr sz="1500" b="1">
                <a:solidFill>
                  <a:srgbClr val="2C3E50"/>
                </a:solidFill>
                <a:latin typeface="Arial"/>
              </a:rPr>
              <a:t>Global Apple risk scenarios</a:t>
            </a:r>
          </a:p>
        </p:txBody>
      </p:sp>
      <p:graphicFrame>
        <p:nvGraphicFramePr>
          <p:cNvPr id="23" name="Table 22"/>
          <p:cNvGraphicFramePr>
            <a:graphicFrameLocks noGrp="1"/>
          </p:cNvGraphicFramePr>
          <p:nvPr/>
        </p:nvGraphicFramePr>
        <p:xfrm>
          <a:off x="566928" y="3758184"/>
          <a:ext cx="5623557" cy="1920240"/>
        </p:xfrm>
        <a:graphic>
          <a:graphicData uri="http://schemas.openxmlformats.org/drawingml/2006/table">
            <a:tbl>
              <a:tblPr firstRow="1" bandRow="1">
                <a:tableStyleId>{5C22544A-7EE6-4342-B048-85BDC9FD1C3A}</a:tableStyleId>
              </a:tblPr>
              <a:tblGrid>
                <a:gridCol w="2183906"/>
                <a:gridCol w="1201148"/>
                <a:gridCol w="1037355"/>
                <a:gridCol w="1201148"/>
              </a:tblGrid>
              <a:tr h="274320">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Sys. appr.</a:t>
                      </a:r>
                    </a:p>
                  </a:txBody>
                  <a:tcPr>
                    <a:solidFill>
                      <a:srgbClr val="F6F7F9"/>
                    </a:solidFill>
                  </a:tcPr>
                </a:tc>
                <a:tc>
                  <a:txBody>
                    <a:bodyPr/>
                    <a:lstStyle/>
                    <a:p>
                      <a:pPr algn="r"/>
                      <a:r>
                        <a:rPr sz="1150" b="1">
                          <a:solidFill>
                            <a:srgbClr val="2C3E50"/>
                          </a:solidFill>
                          <a:latin typeface="Arial"/>
                        </a:rPr>
                        <a:t>Production</a:t>
                      </a:r>
                    </a:p>
                  </a:txBody>
                  <a:tcPr>
                    <a:solidFill>
                      <a:srgbClr val="F6F7F9"/>
                    </a:solidFill>
                  </a:tcPr>
                </a:tc>
              </a:tr>
              <a:tr h="274320">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54.8%</a:t>
                      </a:r>
                    </a:p>
                  </a:txBody>
                  <a:tcPr>
                    <a:solidFill>
                      <a:srgbClr val="FFFFFF"/>
                    </a:solidFill>
                  </a:tcPr>
                </a:tc>
                <a:tc>
                  <a:txBody>
                    <a:bodyPr/>
                    <a:lstStyle/>
                    <a:p>
                      <a:pPr algn="r"/>
                      <a:r>
                        <a:rPr sz="1150" b="0">
                          <a:solidFill>
                            <a:srgbClr val="5D6D7E"/>
                          </a:solidFill>
                          <a:latin typeface="Arial"/>
                        </a:rPr>
                        <a:t>€15.3M/mo</a:t>
                      </a:r>
                    </a:p>
                  </a:txBody>
                  <a:tcPr>
                    <a:solidFill>
                      <a:srgbClr val="FFFFFF"/>
                    </a:solidFill>
                  </a:tcPr>
                </a:tc>
              </a:tr>
              <a:tr h="274320">
                <a:tc>
                  <a:txBody>
                    <a:bodyPr/>
                    <a:lstStyle/>
                    <a:p>
                      <a:pPr algn="l"/>
                      <a:r>
                        <a:rPr sz="1150" b="0">
                          <a:solidFill>
                            <a:srgbClr val="5D6D7E"/>
                          </a:solidFill>
                          <a:latin typeface="Arial"/>
                        </a:rPr>
                        <a:t>Online grid in both channels</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57.2%</a:t>
                      </a:r>
                    </a:p>
                  </a:txBody>
                  <a:tcPr>
                    <a:solidFill>
                      <a:srgbClr val="FFFFFF"/>
                    </a:solidFill>
                  </a:tcPr>
                </a:tc>
                <a:tc>
                  <a:txBody>
                    <a:bodyPr/>
                    <a:lstStyle/>
                    <a:p>
                      <a:pPr algn="r"/>
                      <a:r>
                        <a:rPr sz="1150" b="0">
                          <a:solidFill>
                            <a:srgbClr val="5D6D7E"/>
                          </a:solidFill>
                          <a:latin typeface="Arial"/>
                        </a:rPr>
                        <a:t>€18.5M/mo</a:t>
                      </a:r>
                    </a:p>
                  </a:txBody>
                  <a:tcPr>
                    <a:solidFill>
                      <a:srgbClr val="FFFFFF"/>
                    </a:solidFill>
                  </a:tcPr>
                </a:tc>
              </a:tr>
              <a:tr h="274320">
                <a:tc>
                  <a:txBody>
                    <a:bodyPr/>
                    <a:lstStyle/>
                    <a:p>
                      <a:pPr algn="l"/>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37.0%</a:t>
                      </a:r>
                    </a:p>
                  </a:txBody>
                  <a:tcPr>
                    <a:solidFill>
                      <a:srgbClr val="FFFFFF"/>
                    </a:solidFill>
                  </a:tcPr>
                </a:tc>
                <a:tc>
                  <a:txBody>
                    <a:bodyPr/>
                    <a:lstStyle/>
                    <a:p>
                      <a:pPr algn="r"/>
                      <a:r>
                        <a:rPr sz="1150" b="0">
                          <a:solidFill>
                            <a:srgbClr val="5D6D7E"/>
                          </a:solidFill>
                          <a:latin typeface="Arial"/>
                        </a:rPr>
                        <a:t>€12.2M/mo</a:t>
                      </a:r>
                    </a:p>
                  </a:txBody>
                  <a:tcPr>
                    <a:solidFill>
                      <a:srgbClr val="FFFFFF"/>
                    </a:solidFill>
                  </a:tcPr>
                </a:tc>
              </a:tr>
              <a:tr h="274320">
                <a:tc>
                  <a:txBody>
                    <a:bodyPr/>
                    <a:lstStyle/>
                    <a:p>
                      <a:pPr algn="l"/>
                      <a:r>
                        <a:rPr sz="1150" b="0">
                          <a:solidFill>
                            <a:srgbClr val="5D6D7E"/>
                          </a:solidFill>
                          <a:latin typeface="Arial"/>
                        </a:rPr>
                        <a:t>3%</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45.7%</a:t>
                      </a:r>
                    </a:p>
                  </a:txBody>
                  <a:tcPr>
                    <a:solidFill>
                      <a:srgbClr val="FFFFFF"/>
                    </a:solidFill>
                  </a:tcPr>
                </a:tc>
                <a:tc>
                  <a:txBody>
                    <a:bodyPr/>
                    <a:lstStyle/>
                    <a:p>
                      <a:pPr algn="r"/>
                      <a:r>
                        <a:rPr sz="1150" b="0">
                          <a:solidFill>
                            <a:srgbClr val="5D6D7E"/>
                          </a:solidFill>
                          <a:latin typeface="Arial"/>
                        </a:rPr>
                        <a:t>€15.0M/mo</a:t>
                      </a:r>
                    </a:p>
                  </a:txBody>
                  <a:tcPr>
                    <a:solidFill>
                      <a:srgbClr val="FFFFFF"/>
                    </a:solidFill>
                  </a:tcPr>
                </a:tc>
              </a:tr>
              <a:tr h="274320">
                <a:tc>
                  <a:txBody>
                    <a:bodyPr/>
                    <a:lstStyle/>
                    <a:p>
                      <a:pPr algn="l"/>
                      <a:r>
                        <a:rPr sz="1150" b="0">
                          <a:solidFill>
                            <a:srgbClr val="5D6D7E"/>
                          </a:solidFill>
                          <a:latin typeface="Arial"/>
                        </a:rPr>
                        <a:t>3.5%</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53.7%</a:t>
                      </a:r>
                    </a:p>
                  </a:txBody>
                  <a:tcPr>
                    <a:solidFill>
                      <a:srgbClr val="FFFFFF"/>
                    </a:solidFill>
                  </a:tcPr>
                </a:tc>
                <a:tc>
                  <a:txBody>
                    <a:bodyPr/>
                    <a:lstStyle/>
                    <a:p>
                      <a:pPr algn="r"/>
                      <a:r>
                        <a:rPr sz="1150" b="0">
                          <a:solidFill>
                            <a:srgbClr val="5D6D7E"/>
                          </a:solidFill>
                          <a:latin typeface="Arial"/>
                        </a:rPr>
                        <a:t>€17.4M/mo</a:t>
                      </a:r>
                    </a:p>
                  </a:txBody>
                  <a:tcPr>
                    <a:solidFill>
                      <a:srgbClr val="FFFFFF"/>
                    </a:solidFill>
                  </a:tcPr>
                </a:tc>
              </a:tr>
              <a:tr h="274320">
                <a:tc>
                  <a:txBody>
                    <a:bodyPr/>
                    <a:lstStyle/>
                    <a:p>
                      <a:pPr algn="l"/>
                      <a:r>
                        <a:rPr sz="1150" b="0">
                          <a:solidFill>
                            <a:srgbClr val="5D6D7E"/>
                          </a:solidFill>
                          <a:latin typeface="Arial"/>
                        </a:rPr>
                        <a:t>4%</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57.0%</a:t>
                      </a:r>
                    </a:p>
                  </a:txBody>
                  <a:tcPr>
                    <a:solidFill>
                      <a:srgbClr val="FFFFFF"/>
                    </a:solidFill>
                  </a:tcPr>
                </a:tc>
                <a:tc>
                  <a:txBody>
                    <a:bodyPr/>
                    <a:lstStyle/>
                    <a:p>
                      <a:pPr algn="r"/>
                      <a:r>
                        <a:rPr sz="1150" b="0">
                          <a:solidFill>
                            <a:srgbClr val="5D6D7E"/>
                          </a:solidFill>
                          <a:latin typeface="Arial"/>
                        </a:rPr>
                        <a:t>€18.4M/mo</a:t>
                      </a:r>
                    </a:p>
                  </a:txBody>
                  <a:tcPr>
                    <a:solidFill>
                      <a:srgbClr val="FFFFFF"/>
                    </a:solidFill>
                  </a:tcPr>
                </a:tc>
              </a:tr>
            </a:tbl>
          </a:graphicData>
        </a:graphic>
      </p:graphicFrame>
      <p:sp>
        <p:nvSpPr>
          <p:cNvPr id="24" name="TextBox 23"/>
          <p:cNvSpPr txBox="1"/>
          <p:nvPr/>
        </p:nvSpPr>
        <p:spPr>
          <a:xfrm>
            <a:off x="566928" y="5678424"/>
            <a:ext cx="5623560" cy="1097280"/>
          </a:xfrm>
          <a:prstGeom prst="rect">
            <a:avLst/>
          </a:prstGeom>
          <a:noFill/>
        </p:spPr>
        <p:txBody>
          <a:bodyPr wrap="square">
            <a:spAutoFit/>
          </a:bodyPr>
          <a:lstStyle/>
          <a:p>
            <a:pPr>
              <a:spcAft>
                <a:spcPts val="900"/>
              </a:spcAft>
            </a:pPr>
            <a:r>
              <a:rPr sz="1150" b="1">
                <a:solidFill>
                  <a:srgbClr val="2C3E50"/>
                </a:solidFill>
                <a:latin typeface="Arial"/>
              </a:rPr>
              <a:t>Store risk:  </a:t>
            </a:r>
            <a:r>
              <a:rPr sz="1150">
                <a:solidFill>
                  <a:srgbClr val="5D6D7E"/>
                </a:solidFill>
                <a:latin typeface="Arial"/>
              </a:rPr>
              <a:t>curve shape taken from e-commerce; level anchored to stores' realized 3.74%. Not a measurement.</a:t>
            </a:r>
          </a:p>
          <a:p>
            <a:pPr>
              <a:spcAft>
                <a:spcPts val="900"/>
              </a:spcAft>
            </a:pPr>
            <a:r>
              <a:rPr sz="1150" b="1">
                <a:solidFill>
                  <a:srgbClr val="2C3E50"/>
                </a:solidFill>
                <a:latin typeface="Arial"/>
              </a:rPr>
              <a:t>Window:  </a:t>
            </a:r>
            <a:r>
              <a:rPr sz="1150">
                <a:solidFill>
                  <a:srgbClr val="5D6D7E"/>
                </a:solidFill>
                <a:latin typeface="Arial"/>
              </a:rPr>
              <a:t>12 months of mature originations (4.18% vs 3.92% over 26 months).</a:t>
            </a:r>
          </a:p>
          <a:p>
            <a:pPr>
              <a:spcAft>
                <a:spcPts val="900"/>
              </a:spcAft>
            </a:pPr>
            <a:r>
              <a:rPr sz="1150" b="1">
                <a:solidFill>
                  <a:srgbClr val="2C3E50"/>
                </a:solidFill>
                <a:latin typeface="Arial"/>
              </a:rPr>
              <a:t>With reject inference:  </a:t>
            </a:r>
            <a:r>
              <a:rPr sz="1150">
                <a:solidFill>
                  <a:srgbClr val="5D6D7E"/>
                </a:solidFill>
                <a:latin typeface="Arial"/>
              </a:rPr>
              <a:t>thinly accepted bins carry an uplift (up to 2.5x). It barely moves the cutoffs: where the decision sits, Online already accepts 84-97%.</a:t>
            </a:r>
          </a:p>
        </p:txBody>
      </p:sp>
      <p:sp>
        <p:nvSpPr>
          <p:cNvPr id="25" name="TextBox 24"/>
          <p:cNvSpPr txBox="1"/>
          <p:nvPr/>
        </p:nvSpPr>
        <p:spPr>
          <a:xfrm>
            <a:off x="6464808" y="3346704"/>
            <a:ext cx="5166360" cy="365760"/>
          </a:xfrm>
          <a:prstGeom prst="rect">
            <a:avLst/>
          </a:prstGeom>
          <a:noFill/>
        </p:spPr>
        <p:txBody>
          <a:bodyPr wrap="square">
            <a:spAutoFit/>
          </a:bodyPr>
          <a:lstStyle/>
          <a:p>
            <a:pPr algn="l">
              <a:lnSpc>
                <a:spcPct val="100000"/>
              </a:lnSpc>
            </a:pPr>
            <a:r>
              <a:rPr sz="1500" b="1">
                <a:solidFill>
                  <a:srgbClr val="2C3E50"/>
                </a:solidFill>
                <a:latin typeface="Arial"/>
              </a:rPr>
              <a:t>Stores: the e-commerce grid improves both</a:t>
            </a:r>
          </a:p>
        </p:txBody>
      </p:sp>
      <p:pic>
        <p:nvPicPr>
          <p:cNvPr id="26" name="Picture 25" descr="stores_compact.png"/>
          <p:cNvPicPr>
            <a:picLocks noChangeAspect="1"/>
          </p:cNvPicPr>
          <p:nvPr/>
        </p:nvPicPr>
        <p:blipFill>
          <a:blip r:embed="rId2"/>
          <a:stretch>
            <a:fillRect/>
          </a:stretch>
        </p:blipFill>
        <p:spPr>
          <a:xfrm>
            <a:off x="6464808" y="3758184"/>
            <a:ext cx="5166360" cy="23764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DEFINITIONS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system approval is measured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6858000" cy="2633472"/>
        </p:xfrm>
        <a:graphic>
          <a:graphicData uri="http://schemas.openxmlformats.org/drawingml/2006/table">
            <a:tbl>
              <a:tblPr firstRow="1" bandRow="1">
                <a:tableStyleId>{5C22544A-7EE6-4342-B048-85BDC9FD1C3A}</a:tableStyleId>
              </a:tblPr>
              <a:tblGrid>
                <a:gridCol w="3154680"/>
                <a:gridCol w="1234440"/>
                <a:gridCol w="1234440"/>
                <a:gridCol w="1234440"/>
              </a:tblGrid>
              <a:tr h="292608">
                <a:tc>
                  <a:txBody>
                    <a:bodyPr/>
                    <a:lstStyle/>
                    <a:p>
                      <a:pPr algn="l"/>
                      <a:r>
                        <a:rPr sz="1150" b="1">
                          <a:solidFill>
                            <a:srgbClr val="2C3E50"/>
                          </a:solidFill>
                          <a:latin typeface="Arial"/>
                        </a:rPr>
                        <a:t>Where each € of demand ends up</a:t>
                      </a:r>
                    </a:p>
                  </a:txBody>
                  <a:tcPr>
                    <a:solidFill>
                      <a:srgbClr val="F6F7F9"/>
                    </a:solidFill>
                  </a:tcPr>
                </a:tc>
                <a:tc>
                  <a:txBody>
                    <a:bodyPr/>
                    <a:lstStyle/>
                    <a:p>
                      <a:pPr algn="r"/>
                      <a:r>
                        <a:rPr sz="1150" b="1">
                          <a:solidFill>
                            <a:srgbClr val="2C3E50"/>
                          </a:solidFill>
                          <a:latin typeface="Arial"/>
                        </a:rPr>
                        <a:t>Online</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Aug–Sep 26</a:t>
                      </a:r>
                    </a:p>
                  </a:txBody>
                  <a:tcPr>
                    <a:solidFill>
                      <a:srgbClr val="F6F7F9"/>
                    </a:solidFill>
                  </a:tcPr>
                </a:tc>
              </a:tr>
              <a:tr h="292608">
                <a:tc>
                  <a:txBody>
                    <a:bodyPr/>
                    <a:lstStyle/>
                    <a:p>
                      <a:pPr algn="l"/>
                      <a:r>
                        <a:rPr sz="1150" b="0">
                          <a:solidFill>
                            <a:srgbClr val="5D6D7E"/>
                          </a:solidFill>
                          <a:latin typeface="Arial"/>
                        </a:rPr>
                        <a:t>booked</a:t>
                      </a:r>
                    </a:p>
                  </a:txBody>
                  <a:tcPr>
                    <a:solidFill>
                      <a:srgbClr val="FFFFFF"/>
                    </a:solidFill>
                  </a:tcPr>
                </a:tc>
                <a:tc>
                  <a:txBody>
                    <a:bodyPr/>
                    <a:lstStyle/>
                    <a:p>
                      <a:pPr algn="r"/>
                      <a:r>
                        <a:rPr sz="1150" b="0">
                          <a:solidFill>
                            <a:srgbClr val="5D6D7E"/>
                          </a:solidFill>
                          <a:latin typeface="Arial"/>
                        </a:rPr>
                        <a:t>20.9%</a:t>
                      </a:r>
                    </a:p>
                  </a:txBody>
                  <a:tcPr>
                    <a:solidFill>
                      <a:srgbClr val="FFFFFF"/>
                    </a:solidFill>
                  </a:tcPr>
                </a:tc>
                <a:tc>
                  <a:txBody>
                    <a:bodyPr/>
                    <a:lstStyle/>
                    <a:p>
                      <a:pPr algn="r"/>
                      <a:r>
                        <a:rPr sz="1150" b="0">
                          <a:solidFill>
                            <a:srgbClr val="5D6D7E"/>
                          </a:solidFill>
                          <a:latin typeface="Arial"/>
                        </a:rPr>
                        <a:t>55.1%</a:t>
                      </a:r>
                    </a:p>
                  </a:txBody>
                  <a:tcPr>
                    <a:solidFill>
                      <a:srgbClr val="FFFFFF"/>
                    </a:solidFill>
                  </a:tcPr>
                </a:tc>
                <a:tc>
                  <a:txBody>
                    <a:bodyPr/>
                    <a:lstStyle/>
                    <a:p>
                      <a:pPr algn="r"/>
                      <a:r>
                        <a:rPr sz="1150" b="0">
                          <a:solidFill>
                            <a:srgbClr val="5D6D7E"/>
                          </a:solidFill>
                          <a:latin typeface="Arial"/>
                        </a:rPr>
                        <a:t>43.0%</a:t>
                      </a:r>
                    </a:p>
                  </a:txBody>
                  <a:tcPr>
                    <a:solidFill>
                      <a:srgbClr val="FFFFFF"/>
                    </a:solidFill>
                  </a:tcPr>
                </a:tc>
              </a:tr>
              <a:tr h="292608">
                <a:tc>
                  <a:txBody>
                    <a:bodyPr/>
                    <a:lstStyle/>
                    <a:p>
                      <a:pPr algn="l"/>
                      <a:r>
                        <a:rPr sz="1150" b="0">
                          <a:solidFill>
                            <a:srgbClr val="5D6D7E"/>
                          </a:solidFill>
                          <a:latin typeface="Arial"/>
                        </a:rPr>
                        <a:t>approved, then cancelled (unfinished demand)</a:t>
                      </a:r>
                    </a:p>
                  </a:txBody>
                  <a:tcPr>
                    <a:solidFill>
                      <a:srgbClr val="FFFFFF"/>
                    </a:solidFill>
                  </a:tcPr>
                </a:tc>
                <a:tc>
                  <a:txBody>
                    <a:bodyPr/>
                    <a:lstStyle/>
                    <a:p>
                      <a:pPr algn="r"/>
                      <a:r>
                        <a:rPr sz="1150" b="0">
                          <a:solidFill>
                            <a:srgbClr val="5D6D7E"/>
                          </a:solidFill>
                          <a:latin typeface="Arial"/>
                        </a:rPr>
                        <a:t>27.9%</a:t>
                      </a:r>
                    </a:p>
                  </a:txBody>
                  <a:tcPr>
                    <a:solidFill>
                      <a:srgbClr val="FFFFFF"/>
                    </a:solidFill>
                  </a:tcPr>
                </a:tc>
                <a:tc>
                  <a:txBody>
                    <a:bodyPr/>
                    <a:lstStyle/>
                    <a:p>
                      <a:pPr algn="r"/>
                      <a:r>
                        <a:rPr sz="1150" b="0">
                          <a:solidFill>
                            <a:srgbClr val="5D6D7E"/>
                          </a:solidFill>
                          <a:latin typeface="Arial"/>
                        </a:rPr>
                        <a:t>6.6%</a:t>
                      </a:r>
                    </a:p>
                  </a:txBody>
                  <a:tcPr>
                    <a:solidFill>
                      <a:srgbClr val="FFFFFF"/>
                    </a:solidFill>
                  </a:tcPr>
                </a:tc>
                <a:tc>
                  <a:txBody>
                    <a:bodyPr/>
                    <a:lstStyle/>
                    <a:p>
                      <a:pPr algn="r"/>
                      <a:r>
                        <a:rPr sz="1150" b="0">
                          <a:solidFill>
                            <a:srgbClr val="5D6D7E"/>
                          </a:solidFill>
                          <a:latin typeface="Arial"/>
                        </a:rPr>
                        <a:t>8.7%</a:t>
                      </a:r>
                    </a:p>
                  </a:txBody>
                  <a:tcPr>
                    <a:solidFill>
                      <a:srgbClr val="FFFFFF"/>
                    </a:solidFill>
                  </a:tcPr>
                </a:tc>
              </a:tr>
              <a:tr h="292608">
                <a:tc>
                  <a:txBody>
                    <a:bodyPr/>
                    <a:lstStyle/>
                    <a:p>
                      <a:pPr algn="l"/>
                      <a:r>
                        <a:rPr sz="1150" b="0">
                          <a:solidFill>
                            <a:srgbClr val="5D6D7E"/>
                          </a:solidFill>
                          <a:latin typeface="Arial"/>
                        </a:rPr>
                        <a:t>approved, rejected downstream</a:t>
                      </a:r>
                    </a:p>
                  </a:txBody>
                  <a:tcPr>
                    <a:solidFill>
                      <a:srgbClr val="FFFFFF"/>
                    </a:solidFill>
                  </a:tcPr>
                </a:tc>
                <a:tc>
                  <a:txBody>
                    <a:bodyPr/>
                    <a:lstStyle/>
                    <a:p>
                      <a:pPr algn="r"/>
                      <a:r>
                        <a:rPr sz="1150" b="0">
                          <a:solidFill>
                            <a:srgbClr val="5D6D7E"/>
                          </a:solidFill>
                          <a:latin typeface="Arial"/>
                        </a:rPr>
                        <a:t>3.1%</a:t>
                      </a:r>
                    </a:p>
                  </a:txBody>
                  <a:tcPr>
                    <a:solidFill>
                      <a:srgbClr val="FFFFFF"/>
                    </a:solidFill>
                  </a:tcPr>
                </a:tc>
                <a:tc>
                  <a:txBody>
                    <a:bodyPr/>
                    <a:lstStyle/>
                    <a:p>
                      <a:pPr algn="r"/>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1.8%</a:t>
                      </a:r>
                    </a:p>
                  </a:txBody>
                  <a:tcPr>
                    <a:solidFill>
                      <a:srgbClr val="FFFFFF"/>
                    </a:solidFill>
                  </a:tcPr>
                </a:tc>
              </a:tr>
              <a:tr h="292608">
                <a:tc>
                  <a:txBody>
                    <a:bodyPr/>
                    <a:lstStyle/>
                    <a:p>
                      <a:pPr algn="l"/>
                      <a:r>
                        <a:rPr sz="1150" b="0">
                          <a:solidFill>
                            <a:srgbClr val="5D6D7E"/>
                          </a:solidFill>
                          <a:latin typeface="Arial"/>
                        </a:rPr>
                        <a:t>rejected by the engine: score</a:t>
                      </a:r>
                    </a:p>
                  </a:txBody>
                  <a:tcPr>
                    <a:solidFill>
                      <a:srgbClr val="FFFFFF"/>
                    </a:solidFill>
                  </a:tcPr>
                </a:tc>
                <a:tc>
                  <a:txBody>
                    <a:bodyPr/>
                    <a:lstStyle/>
                    <a:p>
                      <a:pPr algn="r"/>
                      <a:r>
                        <a:rPr sz="1150" b="0">
                          <a:solidFill>
                            <a:srgbClr val="5D6D7E"/>
                          </a:solidFill>
                          <a:latin typeface="Arial"/>
                        </a:rPr>
                        <a:t>6.8%</a:t>
                      </a:r>
                    </a:p>
                  </a:txBody>
                  <a:tcPr>
                    <a:solidFill>
                      <a:srgbClr val="FFFFFF"/>
                    </a:solidFill>
                  </a:tcPr>
                </a:tc>
                <a:tc>
                  <a:txBody>
                    <a:bodyPr/>
                    <a:lstStyle/>
                    <a:p>
                      <a:pPr algn="r"/>
                      <a:r>
                        <a:rPr sz="1150" b="0">
                          <a:solidFill>
                            <a:srgbClr val="5D6D7E"/>
                          </a:solidFill>
                          <a:latin typeface="Arial"/>
                        </a:rPr>
                        <a:t>10.6%</a:t>
                      </a:r>
                    </a:p>
                  </a:txBody>
                  <a:tcPr>
                    <a:solidFill>
                      <a:srgbClr val="FFFFFF"/>
                    </a:solidFill>
                  </a:tcPr>
                </a:tc>
                <a:tc>
                  <a:txBody>
                    <a:bodyPr/>
                    <a:lstStyle/>
                    <a:p>
                      <a:pPr algn="r"/>
                      <a:r>
                        <a:rPr sz="1150" b="0">
                          <a:solidFill>
                            <a:srgbClr val="5D6D7E"/>
                          </a:solidFill>
                          <a:latin typeface="Arial"/>
                        </a:rPr>
                        <a:t>19.2%</a:t>
                      </a:r>
                    </a:p>
                  </a:txBody>
                  <a:tcPr>
                    <a:solidFill>
                      <a:srgbClr val="FFFFFF"/>
                    </a:solidFill>
                  </a:tcPr>
                </a:tc>
              </a:tr>
              <a:tr h="292608">
                <a:tc>
                  <a:txBody>
                    <a:bodyPr/>
                    <a:lstStyle/>
                    <a:p>
                      <a:pPr algn="l"/>
                      <a:r>
                        <a:rPr sz="1150" b="0">
                          <a:solidFill>
                            <a:srgbClr val="5D6D7E"/>
                          </a:solidFill>
                          <a:latin typeface="Arial"/>
                        </a:rPr>
                        <a:t>rejected by the engine: other rules</a:t>
                      </a:r>
                    </a:p>
                  </a:txBody>
                  <a:tcPr>
                    <a:solidFill>
                      <a:srgbClr val="FFFFFF"/>
                    </a:solidFill>
                  </a:tcPr>
                </a:tc>
                <a:tc>
                  <a:txBody>
                    <a:bodyPr/>
                    <a:lstStyle/>
                    <a:p>
                      <a:pPr algn="r"/>
                      <a:r>
                        <a:rPr sz="1150" b="0">
                          <a:solidFill>
                            <a:srgbClr val="5D6D7E"/>
                          </a:solidFill>
                          <a:latin typeface="Arial"/>
                        </a:rPr>
                        <a:t>37.2%</a:t>
                      </a:r>
                    </a:p>
                  </a:txBody>
                  <a:tcPr>
                    <a:solidFill>
                      <a:srgbClr val="FFFFFF"/>
                    </a:solidFill>
                  </a:tcPr>
                </a:tc>
                <a:tc>
                  <a:txBody>
                    <a:bodyPr/>
                    <a:lstStyle/>
                    <a:p>
                      <a:pPr algn="r"/>
                      <a:r>
                        <a:rPr sz="1150" b="0">
                          <a:solidFill>
                            <a:srgbClr val="5D6D7E"/>
                          </a:solidFill>
                          <a:latin typeface="Arial"/>
                        </a:rPr>
                        <a:t>19.1%</a:t>
                      </a:r>
                    </a:p>
                  </a:txBody>
                  <a:tcPr>
                    <a:solidFill>
                      <a:srgbClr val="FFFFFF"/>
                    </a:solidFill>
                  </a:tcPr>
                </a:tc>
                <a:tc>
                  <a:txBody>
                    <a:bodyPr/>
                    <a:lstStyle/>
                    <a:p>
                      <a:pPr algn="r"/>
                      <a:r>
                        <a:rPr sz="1150" b="0">
                          <a:solidFill>
                            <a:srgbClr val="5D6D7E"/>
                          </a:solidFill>
                          <a:latin typeface="Arial"/>
                        </a:rPr>
                        <a:t>18.3%</a:t>
                      </a:r>
                    </a:p>
                  </a:txBody>
                  <a:tcPr>
                    <a:solidFill>
                      <a:srgbClr val="FFFFFF"/>
                    </a:solidFill>
                  </a:tcPr>
                </a:tc>
              </a:tr>
              <a:tr h="292608">
                <a:tc>
                  <a:txBody>
                    <a:bodyPr/>
                    <a:lstStyle/>
                    <a:p>
                      <a:pPr algn="l"/>
                      <a:r>
                        <a:rPr sz="1150" b="0">
                          <a:solidFill>
                            <a:srgbClr val="5D6D7E"/>
                          </a:solidFill>
                          <a:latin typeface="Arial"/>
                        </a:rPr>
                        <a:t>rejected at the light assessment (no Equifax call)</a:t>
                      </a:r>
                    </a:p>
                  </a:txBody>
                  <a:tcPr>
                    <a:solidFill>
                      <a:srgbClr val="FFFFFF"/>
                    </a:solidFill>
                  </a:tcPr>
                </a:tc>
                <a:tc>
                  <a:txBody>
                    <a:bodyPr/>
                    <a:lstStyle/>
                    <a:p>
                      <a:pPr algn="r"/>
                      <a:r>
                        <a:rPr sz="1150" b="0">
                          <a:solidFill>
                            <a:srgbClr val="5D6D7E"/>
                          </a:solidFill>
                          <a:latin typeface="Arial"/>
                        </a:rPr>
                        <a:t>4.1%</a:t>
                      </a:r>
                    </a:p>
                  </a:txBody>
                  <a:tcPr>
                    <a:solidFill>
                      <a:srgbClr val="FFFFFF"/>
                    </a:solidFill>
                  </a:tcPr>
                </a:tc>
                <a:tc>
                  <a:txBody>
                    <a:bodyPr/>
                    <a:lstStyle/>
                    <a:p>
                      <a:pPr algn="r"/>
                      <a:r>
                        <a:rPr sz="1150" b="0">
                          <a:solidFill>
                            <a:srgbClr val="5D6D7E"/>
                          </a:solidFill>
                          <a:latin typeface="Arial"/>
                        </a:rPr>
                        <a:t>6.2%</a:t>
                      </a:r>
                    </a:p>
                  </a:txBody>
                  <a:tcPr>
                    <a:solidFill>
                      <a:srgbClr val="FFFFFF"/>
                    </a:solidFill>
                  </a:tcPr>
                </a:tc>
                <a:tc>
                  <a:txBody>
                    <a:bodyPr/>
                    <a:lstStyle/>
                    <a:p>
                      <a:pPr algn="r"/>
                      <a:r>
                        <a:rPr sz="1150" b="0">
                          <a:solidFill>
                            <a:srgbClr val="5D6D7E"/>
                          </a:solidFill>
                          <a:latin typeface="Arial"/>
                        </a:rPr>
                        <a:t>9.0%</a:t>
                      </a:r>
                    </a:p>
                  </a:txBody>
                  <a:tcPr>
                    <a:solidFill>
                      <a:srgbClr val="FFFFFF"/>
                    </a:solidFill>
                  </a:tcPr>
                </a:tc>
              </a:tr>
              <a:tr h="292608">
                <a:tc>
                  <a:txBody>
                    <a:bodyPr/>
                    <a:lstStyle/>
                    <a:p>
                      <a:pPr algn="l"/>
                      <a:r>
                        <a:rPr sz="1150" b="0">
                          <a:solidFill>
                            <a:srgbClr val="5D6D7E"/>
                          </a:solidFill>
                          <a:latin typeface="Arial"/>
                        </a:rPr>
                        <a:t>Total demand</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r>
              <a:tr h="292608">
                <a:tc>
                  <a:txBody>
                    <a:bodyPr/>
                    <a:lstStyle/>
                    <a:p>
                      <a:pPr algn="l"/>
                      <a:r>
                        <a:rPr sz="1150" b="0">
                          <a:solidFill>
                            <a:srgbClr val="5D6D7E"/>
                          </a:solidFill>
                          <a:latin typeface="Arial"/>
                        </a:rPr>
                        <a:t>System approval: OK + RV (first three rows)</a:t>
                      </a:r>
                    </a:p>
                  </a:txBody>
                  <a:tcPr>
                    <a:solidFill>
                      <a:srgbClr val="FFFFFF"/>
                    </a:solidFill>
                  </a:tcPr>
                </a:tc>
                <a:tc>
                  <a:txBody>
                    <a:bodyPr/>
                    <a:lstStyle/>
                    <a:p>
                      <a:pPr algn="r"/>
                      <a:r>
                        <a:rPr sz="1150" b="0">
                          <a:solidFill>
                            <a:srgbClr val="5D6D7E"/>
                          </a:solidFill>
                          <a:latin typeface="Arial"/>
                        </a:rPr>
                        <a:t>51.9%</a:t>
                      </a:r>
                    </a:p>
                  </a:txBody>
                  <a:tcPr>
                    <a:solidFill>
                      <a:srgbClr val="FFFFFF"/>
                    </a:solidFill>
                  </a:tcPr>
                </a:tc>
                <a:tc>
                  <a:txBody>
                    <a:bodyPr/>
                    <a:lstStyle/>
                    <a:p>
                      <a:pPr algn="r"/>
                      <a:r>
                        <a:rPr sz="1150" b="0">
                          <a:solidFill>
                            <a:srgbClr val="5D6D7E"/>
                          </a:solidFill>
                          <a:latin typeface="Arial"/>
                        </a:rPr>
                        <a:t>64.1%</a:t>
                      </a:r>
                    </a:p>
                  </a:txBody>
                  <a:tcPr>
                    <a:solidFill>
                      <a:srgbClr val="FFFFFF"/>
                    </a:solidFill>
                  </a:tcPr>
                </a:tc>
                <a:tc>
                  <a:txBody>
                    <a:bodyPr/>
                    <a:lstStyle/>
                    <a:p>
                      <a:pPr algn="r"/>
                      <a:r>
                        <a:rPr sz="1150" b="0">
                          <a:solidFill>
                            <a:srgbClr val="5D6D7E"/>
                          </a:solidFill>
                          <a:latin typeface="Arial"/>
                        </a:rPr>
                        <a:t>53.5%</a:t>
                      </a:r>
                    </a:p>
                  </a:txBody>
                  <a:tcPr>
                    <a:solidFill>
                      <a:srgbClr val="FFFFFF"/>
                    </a:solidFill>
                  </a:tcPr>
                </a:tc>
              </a:tr>
            </a:tbl>
          </a:graphicData>
        </a:graphic>
      </p:graphicFrame>
      <p:sp>
        <p:nvSpPr>
          <p:cNvPr id="7" name="TextBox 6"/>
          <p:cNvSpPr txBox="1"/>
          <p:nvPr/>
        </p:nvSpPr>
        <p:spPr>
          <a:xfrm>
            <a:off x="7699248" y="1563624"/>
            <a:ext cx="3886200" cy="4928616"/>
          </a:xfrm>
          <a:prstGeom prst="rect">
            <a:avLst/>
          </a:prstGeom>
          <a:noFill/>
        </p:spPr>
        <p:txBody>
          <a:bodyPr wrap="square">
            <a:spAutoFit/>
          </a:bodyPr>
          <a:lstStyle/>
          <a:p>
            <a:pPr>
              <a:spcAft>
                <a:spcPts val="900"/>
              </a:spcAft>
            </a:pPr>
            <a:r>
              <a:rPr sz="1000" b="1">
                <a:solidFill>
                  <a:srgbClr val="2C3E50"/>
                </a:solidFill>
                <a:latin typeface="Arial"/>
              </a:rPr>
              <a:t>System approval.  </a:t>
            </a:r>
            <a:r>
              <a:rPr sz="1000">
                <a:solidFill>
                  <a:srgbClr val="5D6D7E"/>
                </a:solidFill>
                <a:latin typeface="Arial"/>
              </a:rPr>
              <a:t>(OK + RV) / € demand: what the engine lets through, before the customer decides — the first three rows of the table. Under a grid it is simulated as demand above the cutoff and not rejected by another rule, so today and every scenario are comparable.</a:t>
            </a:r>
          </a:p>
          <a:p>
            <a:pPr>
              <a:spcAft>
                <a:spcPts val="900"/>
              </a:spcAft>
            </a:pPr>
            <a:r>
              <a:rPr sz="1000" b="1">
                <a:solidFill>
                  <a:srgbClr val="2C3E50"/>
                </a:solidFill>
                <a:latin typeface="Arial"/>
              </a:rPr>
              <a:t>Unfinished demand.  </a:t>
            </a:r>
            <a:r>
              <a:rPr sz="1000">
                <a:solidFill>
                  <a:srgbClr val="5D6D7E"/>
                </a:solidFill>
                <a:latin typeface="Arial"/>
              </a:rPr>
              <a:t>Approved by the engine, then cancelled by the customer. It is approved, so it counts in system approval; it only lowers production. In the scenarios every accepted application converts at the actual take-up of its decision, so cancellations are assumed to behave as today.</a:t>
            </a:r>
          </a:p>
          <a:p>
            <a:pPr>
              <a:spcAft>
                <a:spcPts val="900"/>
              </a:spcAft>
            </a:pPr>
            <a:r>
              <a:rPr sz="1000" b="1">
                <a:solidFill>
                  <a:srgbClr val="2C3E50"/>
                </a:solidFill>
                <a:latin typeface="Arial"/>
              </a:rPr>
              <a:t>Approved, rejected downstream.  </a:t>
            </a:r>
            <a:r>
              <a:rPr sz="1000">
                <a:solidFill>
                  <a:srgbClr val="5D6D7E"/>
                </a:solidFill>
                <a:latin typeface="Arial"/>
              </a:rPr>
              <a:t>Approved by the engine, rejected at a later step (no reason in the extract). Counts as approved; treated like unfinished demand for production.</a:t>
            </a:r>
          </a:p>
          <a:p>
            <a:pPr>
              <a:spcAft>
                <a:spcPts val="900"/>
              </a:spcAft>
            </a:pPr>
            <a:r>
              <a:rPr sz="1000" b="1">
                <a:solidFill>
                  <a:srgbClr val="2C3E50"/>
                </a:solidFill>
                <a:latin typeface="Arial"/>
              </a:rPr>
              <a:t>Light assessment.  </a:t>
            </a:r>
            <a:r>
              <a:rPr sz="1000">
                <a:solidFill>
                  <a:srgbClr val="5D6D7E"/>
                </a:solidFill>
                <a:latin typeface="Arial"/>
              </a:rPr>
              <a:t>Applications rejected before the full study: the Equifax API is never called, so they have no score. They count in the denominator like any rejection and are never swap-in candidates nor given an imputed risk. The extract carries them for stores from Jul 2025 and for Online from May 2026 (outside the Online window); the stores 'today' window has them in 8 of its 12 months, so its system approval is a blend. Online's own unscored rejections have always been in its base.</a:t>
            </a:r>
          </a:p>
          <a:p>
            <a:pPr>
              <a:spcAft>
                <a:spcPts val="900"/>
              </a:spcAft>
            </a:pPr>
            <a:r>
              <a:rPr sz="1000" b="1">
                <a:solidFill>
                  <a:srgbClr val="2C3E50"/>
                </a:solidFill>
                <a:latin typeface="Arial"/>
              </a:rPr>
              <a:t>Reject inference.  </a:t>
            </a:r>
            <a:r>
              <a:rPr sz="1000">
                <a:solidFill>
                  <a:srgbClr val="5D6D7E"/>
                </a:solidFill>
                <a:latin typeface="Arial"/>
              </a:rPr>
              <a:t>None of these states enters the per-bin acceptance rate — booked / (booked + score-rejected) — so they do not inflate the uplift.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Online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nline.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Realized risk on originations with 6 months on book. No assumptions.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Stores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today.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Measured on stores' own history, same window as Online: describing where they stand today needs no imputation. They approve more of their demand than Online and carry less risk. Warning: their system approval is falling (64.1% over Mar 2025 – Feb 2026, 53.5% in Aug–Sep 2026), so the baseline is moving.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2 · ESTIMATED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Stores with the e-commerce grid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png"/>
          <p:cNvPicPr>
            <a:picLocks noChangeAspect="1"/>
          </p:cNvPicPr>
          <p:nvPr/>
        </p:nvPicPr>
        <p:blipFill>
          <a:blip r:embed="rId2"/>
          <a:stretch>
            <a:fillRect/>
          </a:stretch>
        </p:blipFill>
        <p:spPr>
          <a:xfrm>
            <a:off x="1006052" y="1563624"/>
            <a:ext cx="1017959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Both columns measure the same population —Aug–Sep 2026, the only period with an EFX score in stores— which is why 'today' here is 53.5% and on the previous slide 64.1%. Only the score rule is swapped; stores' other rules stay. Risk is imputed from the Online curve, with the level anchored to stores' realized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3 · SCENARIOS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each risk target costs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ier.png"/>
          <p:cNvPicPr>
            <a:picLocks noChangeAspect="1"/>
          </p:cNvPicPr>
          <p:nvPr/>
        </p:nvPicPr>
        <p:blipFill>
          <a:blip r:embed="rId2"/>
          <a:stretch>
            <a:fillRect/>
          </a:stretch>
        </p:blipFill>
        <p:spPr>
          <a:xfrm>
            <a:off x="566928" y="1563624"/>
            <a:ext cx="6720840" cy="3195879"/>
          </a:xfrm>
          <a:prstGeom prst="rect">
            <a:avLst/>
          </a:prstGeom>
        </p:spPr>
      </p:pic>
      <p:graphicFrame>
        <p:nvGraphicFramePr>
          <p:cNvPr id="7" name="Table 6"/>
          <p:cNvGraphicFramePr>
            <a:graphicFrameLocks noGrp="1"/>
          </p:cNvGraphicFramePr>
          <p:nvPr/>
        </p:nvGraphicFramePr>
        <p:xfrm>
          <a:off x="7543800" y="1655064"/>
          <a:ext cx="4343398" cy="2852928"/>
        </p:xfrm>
        <a:graphic>
          <a:graphicData uri="http://schemas.openxmlformats.org/drawingml/2006/table">
            <a:tbl>
              <a:tblPr firstRow="1" bandRow="1">
                <a:tableStyleId>{5C22544A-7EE6-4342-B048-85BDC9FD1C3A}</a:tableStyleId>
              </a:tblPr>
              <a:tblGrid>
                <a:gridCol w="2275114"/>
                <a:gridCol w="1034142"/>
                <a:gridCol w="1034142"/>
              </a:tblGrid>
              <a:tr h="237744">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Sys. appr.</a:t>
                      </a:r>
                    </a:p>
                  </a:txBody>
                  <a:tcPr>
                    <a:solidFill>
                      <a:srgbClr val="F6F7F9"/>
                    </a:solidFill>
                  </a:tcPr>
                </a:tc>
              </a:tr>
              <a:tr h="237744">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54.8%</a:t>
                      </a:r>
                    </a:p>
                  </a:txBody>
                  <a:tcPr>
                    <a:solidFill>
                      <a:srgbClr val="FFFFFF"/>
                    </a:solidFill>
                  </a:tcPr>
                </a:tc>
              </a:tr>
              <a:tr h="237744">
                <a:tc>
                  <a:txBody>
                    <a:bodyPr/>
                    <a:lstStyle/>
                    <a:p>
                      <a:pPr algn="l"/>
                      <a:r>
                        <a:rPr sz="1150" b="0">
                          <a:solidFill>
                            <a:srgbClr val="5D6D7E"/>
                          </a:solidFill>
                          <a:latin typeface="Arial"/>
                        </a:rPr>
                        <a:t>Today, current demand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52.4%</a:t>
                      </a:r>
                    </a:p>
                  </a:txBody>
                  <a:tcPr>
                    <a:solidFill>
                      <a:srgbClr val="FFFFFF"/>
                    </a:solidFill>
                  </a:tcPr>
                </a:tc>
              </a:tr>
              <a:tr h="237744">
                <a:tc>
                  <a:txBody>
                    <a:bodyPr/>
                    <a:lstStyle/>
                    <a:p>
                      <a:pPr algn="l"/>
                      <a:r>
                        <a:rPr sz="1150" b="0">
                          <a:solidFill>
                            <a:srgbClr val="5D6D7E"/>
                          </a:solidFill>
                          <a:latin typeface="Arial"/>
                        </a:rPr>
                        <a:t>Online grid (both)</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57.2%</a:t>
                      </a:r>
                    </a:p>
                  </a:txBody>
                  <a:tcPr>
                    <a:solidFill>
                      <a:srgbClr val="FFFFFF"/>
                    </a:solidFill>
                  </a:tcPr>
                </a:tc>
              </a:tr>
              <a:tr h="237744">
                <a:tc>
                  <a:txBody>
                    <a:bodyPr/>
                    <a:lstStyle/>
                    <a:p>
                      <a:pPr algn="l"/>
                      <a:r>
                        <a:rPr sz="1150" b="0">
                          <a:solidFill>
                            <a:srgbClr val="5D6D7E"/>
                          </a:solidFill>
                          <a:latin typeface="Arial"/>
                        </a:rPr>
                        <a:t>2.5% · single</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37.0%</a:t>
                      </a:r>
                    </a:p>
                  </a:txBody>
                  <a:tcPr>
                    <a:solidFill>
                      <a:srgbClr val="FFFFFF"/>
                    </a:solidFill>
                  </a:tcPr>
                </a:tc>
              </a:tr>
              <a:tr h="237744">
                <a:tc>
                  <a:txBody>
                    <a:bodyPr/>
                    <a:lstStyle/>
                    <a:p>
                      <a:pPr algn="l"/>
                      <a:r>
                        <a:rPr sz="1150" b="0">
                          <a:solidFill>
                            <a:srgbClr val="5D6D7E"/>
                          </a:solidFill>
                          <a:latin typeface="Arial"/>
                        </a:rPr>
                        <a:t>2.5% · shifted</a:t>
                      </a:r>
                    </a:p>
                  </a:txBody>
                  <a:tcPr>
                    <a:solidFill>
                      <a:srgbClr val="FFFFFF"/>
                    </a:solidFill>
                  </a:tcPr>
                </a:tc>
                <a:tc>
                  <a:txBody>
                    <a:bodyPr/>
                    <a:lstStyle/>
                    <a:p>
                      <a:pPr algn="r"/>
                      <a:r>
                        <a:rPr sz="1150" b="0">
                          <a:solidFill>
                            <a:srgbClr val="5D6D7E"/>
                          </a:solidFill>
                          <a:latin typeface="Arial"/>
                        </a:rPr>
                        <a:t>+36p</a:t>
                      </a:r>
                    </a:p>
                  </a:txBody>
                  <a:tcPr>
                    <a:solidFill>
                      <a:srgbClr val="FFFFFF"/>
                    </a:solidFill>
                  </a:tcPr>
                </a:tc>
                <a:tc>
                  <a:txBody>
                    <a:bodyPr/>
                    <a:lstStyle/>
                    <a:p>
                      <a:pPr algn="r"/>
                      <a:r>
                        <a:rPr sz="1150" b="0">
                          <a:solidFill>
                            <a:srgbClr val="5D6D7E"/>
                          </a:solidFill>
                          <a:latin typeface="Arial"/>
                        </a:rPr>
                        <a:t>37.2%</a:t>
                      </a:r>
                    </a:p>
                  </a:txBody>
                  <a:tcPr>
                    <a:solidFill>
                      <a:srgbClr val="FFFFFF"/>
                    </a:solidFill>
                  </a:tcPr>
                </a:tc>
              </a:tr>
              <a:tr h="237744">
                <a:tc>
                  <a:txBody>
                    <a:bodyPr/>
                    <a:lstStyle/>
                    <a:p>
                      <a:pPr algn="l"/>
                      <a:r>
                        <a:rPr sz="1150" b="0">
                          <a:solidFill>
                            <a:srgbClr val="5D6D7E"/>
                          </a:solidFill>
                          <a:latin typeface="Arial"/>
                        </a:rPr>
                        <a:t>3% · single</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45.7%</a:t>
                      </a:r>
                    </a:p>
                  </a:txBody>
                  <a:tcPr>
                    <a:solidFill>
                      <a:srgbClr val="FFFFFF"/>
                    </a:solidFill>
                  </a:tcPr>
                </a:tc>
              </a:tr>
              <a:tr h="237744">
                <a:tc>
                  <a:txBody>
                    <a:bodyPr/>
                    <a:lstStyle/>
                    <a:p>
                      <a:pPr algn="l"/>
                      <a:r>
                        <a:rPr sz="1150" b="0">
                          <a:solidFill>
                            <a:srgbClr val="5D6D7E"/>
                          </a:solidFill>
                          <a:latin typeface="Arial"/>
                        </a:rPr>
                        <a:t>3% · shifted</a:t>
                      </a:r>
                    </a:p>
                  </a:txBody>
                  <a:tcPr>
                    <a:solidFill>
                      <a:srgbClr val="FFFFFF"/>
                    </a:solidFill>
                  </a:tcPr>
                </a:tc>
                <a:tc>
                  <a:txBody>
                    <a:bodyPr/>
                    <a:lstStyle/>
                    <a:p>
                      <a:pPr algn="r"/>
                      <a:r>
                        <a:rPr sz="1150" b="0">
                          <a:solidFill>
                            <a:srgbClr val="5D6D7E"/>
                          </a:solidFill>
                          <a:latin typeface="Arial"/>
                        </a:rPr>
                        <a:t>+23p</a:t>
                      </a:r>
                    </a:p>
                  </a:txBody>
                  <a:tcPr>
                    <a:solidFill>
                      <a:srgbClr val="FFFFFF"/>
                    </a:solidFill>
                  </a:tcPr>
                </a:tc>
                <a:tc>
                  <a:txBody>
                    <a:bodyPr/>
                    <a:lstStyle/>
                    <a:p>
                      <a:pPr algn="r"/>
                      <a:r>
                        <a:rPr sz="1150" b="0">
                          <a:solidFill>
                            <a:srgbClr val="5D6D7E"/>
                          </a:solidFill>
                          <a:latin typeface="Arial"/>
                        </a:rPr>
                        <a:t>47.5%</a:t>
                      </a:r>
                    </a:p>
                  </a:txBody>
                  <a:tcPr>
                    <a:solidFill>
                      <a:srgbClr val="FFFFFF"/>
                    </a:solidFill>
                  </a:tcPr>
                </a:tc>
              </a:tr>
              <a:tr h="237744">
                <a:tc>
                  <a:txBody>
                    <a:bodyPr/>
                    <a:lstStyle/>
                    <a:p>
                      <a:pPr algn="l"/>
                      <a:r>
                        <a:rPr sz="1150" b="0">
                          <a:solidFill>
                            <a:srgbClr val="5D6D7E"/>
                          </a:solidFill>
                          <a:latin typeface="Arial"/>
                        </a:rPr>
                        <a:t>3.5% · single</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53.7%</a:t>
                      </a:r>
                    </a:p>
                  </a:txBody>
                  <a:tcPr>
                    <a:solidFill>
                      <a:srgbClr val="FFFFFF"/>
                    </a:solidFill>
                  </a:tcPr>
                </a:tc>
              </a:tr>
              <a:tr h="237744">
                <a:tc>
                  <a:txBody>
                    <a:bodyPr/>
                    <a:lstStyle/>
                    <a:p>
                      <a:pPr algn="l"/>
                      <a:r>
                        <a:rPr sz="1150" b="0">
                          <a:solidFill>
                            <a:srgbClr val="5D6D7E"/>
                          </a:solidFill>
                          <a:latin typeface="Arial"/>
                        </a:rPr>
                        <a:t>3.5% · shifted</a:t>
                      </a:r>
                    </a:p>
                  </a:txBody>
                  <a:tcPr>
                    <a:solidFill>
                      <a:srgbClr val="FFFFFF"/>
                    </a:solidFill>
                  </a:tcPr>
                </a:tc>
                <a:tc>
                  <a:txBody>
                    <a:bodyPr/>
                    <a:lstStyle/>
                    <a:p>
                      <a:pPr algn="r"/>
                      <a:r>
                        <a:rPr sz="1150" b="0">
                          <a:solidFill>
                            <a:srgbClr val="5D6D7E"/>
                          </a:solidFill>
                          <a:latin typeface="Arial"/>
                        </a:rPr>
                        <a:t>+10p</a:t>
                      </a:r>
                    </a:p>
                  </a:txBody>
                  <a:tcPr>
                    <a:solidFill>
                      <a:srgbClr val="FFFFFF"/>
                    </a:solidFill>
                  </a:tcPr>
                </a:tc>
                <a:tc>
                  <a:txBody>
                    <a:bodyPr/>
                    <a:lstStyle/>
                    <a:p>
                      <a:pPr algn="r"/>
                      <a:r>
                        <a:rPr sz="1150" b="0">
                          <a:solidFill>
                            <a:srgbClr val="5D6D7E"/>
                          </a:solidFill>
                          <a:latin typeface="Arial"/>
                        </a:rPr>
                        <a:t>54.4%</a:t>
                      </a:r>
                    </a:p>
                  </a:txBody>
                  <a:tcPr>
                    <a:solidFill>
                      <a:srgbClr val="FFFFFF"/>
                    </a:solidFill>
                  </a:tcPr>
                </a:tc>
              </a:tr>
              <a:tr h="237744">
                <a:tc>
                  <a:txBody>
                    <a:bodyPr/>
                    <a:lstStyle/>
                    <a:p>
                      <a:pPr algn="l"/>
                      <a:r>
                        <a:rPr sz="1150" b="0">
                          <a:solidFill>
                            <a:srgbClr val="5D6D7E"/>
                          </a:solidFill>
                          <a:latin typeface="Arial"/>
                        </a:rPr>
                        <a:t>4% · single</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57.0%</a:t>
                      </a:r>
                    </a:p>
                  </a:txBody>
                  <a:tcPr>
                    <a:solidFill>
                      <a:srgbClr val="FFFFFF"/>
                    </a:solidFill>
                  </a:tcPr>
                </a:tc>
              </a:tr>
              <a:tr h="237744">
                <a:tc>
                  <a:txBody>
                    <a:bodyPr/>
                    <a:lstStyle/>
                    <a:p>
                      <a:pPr algn="l"/>
                      <a:r>
                        <a:rPr sz="1150" b="0">
                          <a:solidFill>
                            <a:srgbClr val="5D6D7E"/>
                          </a:solidFill>
                          <a:latin typeface="Arial"/>
                        </a:rPr>
                        <a:t>4% · shifted</a:t>
                      </a:r>
                    </a:p>
                  </a:txBody>
                  <a:tcPr>
                    <a:solidFill>
                      <a:srgbClr val="FFFFFF"/>
                    </a:solidFill>
                  </a:tcPr>
                </a:tc>
                <a:tc>
                  <a:txBody>
                    <a:bodyPr/>
                    <a:lstStyle/>
                    <a:p>
                      <a:pPr algn="r"/>
                      <a:r>
                        <a:rPr sz="1150" b="0">
                          <a:solidFill>
                            <a:srgbClr val="5D6D7E"/>
                          </a:solidFill>
                          <a:latin typeface="Arial"/>
                        </a:rPr>
                        <a:t>+0p</a:t>
                      </a:r>
                    </a:p>
                  </a:txBody>
                  <a:tcPr>
                    <a:solidFill>
                      <a:srgbClr val="FFFFFF"/>
                    </a:solidFill>
                  </a:tcPr>
                </a:tc>
                <a:tc>
                  <a:txBody>
                    <a:bodyPr/>
                    <a:lstStyle/>
                    <a:p>
                      <a:pPr algn="r"/>
                      <a:r>
                        <a:rPr sz="1150" b="0">
                          <a:solidFill>
                            <a:srgbClr val="5D6D7E"/>
                          </a:solidFill>
                          <a:latin typeface="Arial"/>
                        </a:rPr>
                        <a:t>57.2%</a:t>
                      </a:r>
                    </a:p>
                  </a:txBody>
                  <a:tcPr>
                    <a:solidFill>
                      <a:srgbClr val="FFFFFF"/>
                    </a:solidFill>
                  </a:tcPr>
                </a:tc>
              </a:tr>
            </a:tbl>
          </a:graphicData>
        </a:graphic>
      </p:graphicFrame>
      <p:sp>
        <p:nvSpPr>
          <p:cNvPr id="8" name="TextBox 7"/>
          <p:cNvSpPr txBox="1"/>
          <p:nvPr/>
        </p:nvSpPr>
        <p:spPr>
          <a:xfrm>
            <a:off x="566928" y="4869231"/>
            <a:ext cx="6720840" cy="292608"/>
          </a:xfrm>
          <a:prstGeom prst="rect">
            <a:avLst/>
          </a:prstGeom>
          <a:noFill/>
        </p:spPr>
        <p:txBody>
          <a:bodyPr wrap="square">
            <a:spAutoFit/>
          </a:bodyPr>
          <a:lstStyle/>
          <a:p>
            <a:pPr algn="l">
              <a:lnSpc>
                <a:spcPct val="100000"/>
              </a:lnSpc>
            </a:pPr>
            <a:r>
              <a:rPr sz="1250" b="1">
                <a:solidFill>
                  <a:srgbClr val="E74C3C"/>
                </a:solidFill>
                <a:latin typeface="Arial"/>
              </a:rPr>
              <a:t>Why the model produces more than what was measured</a:t>
            </a:r>
          </a:p>
        </p:txBody>
      </p:sp>
      <p:sp>
        <p:nvSpPr>
          <p:cNvPr id="9" name="TextBox 8"/>
          <p:cNvSpPr txBox="1"/>
          <p:nvPr/>
        </p:nvSpPr>
        <p:spPr>
          <a:xfrm>
            <a:off x="566928" y="5180127"/>
            <a:ext cx="6720840" cy="1280160"/>
          </a:xfrm>
          <a:prstGeom prst="rect">
            <a:avLst/>
          </a:prstGeom>
          <a:noFill/>
        </p:spPr>
        <p:txBody>
          <a:bodyPr wrap="square">
            <a:spAutoFit/>
          </a:bodyPr>
          <a:lstStyle/>
          <a:p>
            <a:pPr algn="l">
              <a:lnSpc>
                <a:spcPct val="120000"/>
              </a:lnSpc>
            </a:pPr>
            <a:r>
              <a:rPr sz="1100" b="0">
                <a:solidFill>
                  <a:srgbClr val="5D6D7E"/>
                </a:solidFill>
                <a:latin typeface="Arial"/>
              </a:rPr>
              <a:t>The current grid replicates Online's actual decisions (it accepts 51.8% of demand; the engine approved 51.9%: swap-in 0.6%, swap-out 0.6%) and every accepted application converts at the take-up rate of its actual decision. Modelled and measured Online coincide: the gap between €18.5M and €15.3M per month is stores. That gap has two parts: the grid (+€2.3M/mo on the same base, €16.2M → €18.5M) and volume (+€0.9M: store demand in Aug–Sep 2026 runs 40% above the average of the 'today' window).</a:t>
            </a:r>
          </a:p>
        </p:txBody>
      </p:sp>
      <p:sp>
        <p:nvSpPr>
          <p:cNvPr id="10" name="TextBox 9"/>
          <p:cNvSpPr txBox="1"/>
          <p:nvPr/>
        </p:nvSpPr>
        <p:spPr>
          <a:xfrm>
            <a:off x="7543800" y="4672584"/>
            <a:ext cx="4343400" cy="2103120"/>
          </a:xfrm>
          <a:prstGeom prst="rect">
            <a:avLst/>
          </a:prstGeom>
          <a:noFill/>
        </p:spPr>
        <p:txBody>
          <a:bodyPr wrap="square">
            <a:spAutoFit/>
          </a:bodyPr>
          <a:lstStyle/>
          <a:p>
            <a:pPr algn="l">
              <a:lnSpc>
                <a:spcPct val="125000"/>
              </a:lnSpc>
            </a:pPr>
            <a:r>
              <a:rPr sz="1050" b="0">
                <a:solidFill>
                  <a:srgbClr val="5D6D7E"/>
                </a:solidFill>
                <a:latin typeface="Arial"/>
              </a:rPr>
              <a:t>System approval: demand the engine lets through — (OK + RV) today; above the cutoff and not rejected by another rule under a grid.</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Shifting the current grid keeps its shape —looser where the group is good— and gives slightly higher system approval at the same risk.</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Scenario risks carry the reject-inference uplift, a conservative margin that also falls on Online's own book (+0.08 pp vs realized); the two 'today' rows are realized. Like for like, the current grid moves risk by -0.19 pp.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3 · E-COMMERCE, STORES AND APPLE</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Scenarios by channel</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11057831" cy="2304288"/>
        </p:xfrm>
        <a:graphic>
          <a:graphicData uri="http://schemas.openxmlformats.org/drawingml/2006/table">
            <a:tbl>
              <a:tblPr firstRow="1" bandRow="1">
                <a:tableStyleId>{5C22544A-7EE6-4342-B048-85BDC9FD1C3A}</a:tableStyleId>
              </a:tblPr>
              <a:tblGrid>
                <a:gridCol w="2250710"/>
                <a:gridCol w="978569"/>
                <a:gridCol w="978569"/>
                <a:gridCol w="978569"/>
                <a:gridCol w="978569"/>
                <a:gridCol w="978569"/>
                <a:gridCol w="978569"/>
                <a:gridCol w="978569"/>
                <a:gridCol w="978569"/>
                <a:gridCol w="978569"/>
              </a:tblGrid>
              <a:tr h="384048">
                <a:tc>
                  <a:txBody>
                    <a:bodyPr/>
                    <a:lstStyle/>
                    <a:p>
                      <a:pPr algn="l"/>
                      <a:r>
                        <a:rPr sz="1050" b="1">
                          <a:solidFill>
                            <a:srgbClr val="2C3E50"/>
                          </a:solidFill>
                          <a:latin typeface="Arial"/>
                        </a:rPr>
                        <a:t>Scenario</a:t>
                      </a:r>
                    </a:p>
                  </a:txBody>
                  <a:tcPr>
                    <a:solidFill>
                      <a:srgbClr val="F6F7F9"/>
                    </a:solidFill>
                  </a:tcPr>
                </a:tc>
                <a:tc>
                  <a:txBody>
                    <a:bodyPr/>
                    <a:lstStyle/>
                    <a:p>
                      <a:pPr algn="r"/>
                      <a:r>
                        <a:rPr sz="1050" b="1">
                          <a:solidFill>
                            <a:srgbClr val="2C3E50"/>
                          </a:solidFill>
                          <a:latin typeface="Arial"/>
                        </a:rPr>
                        <a:t>E-com</a:t>
                      </a:r>
                    </a:p>
                    <a:p>
                      <a:pPr algn="r"/>
                      <a:r>
                        <a:rPr sz="1050" b="1">
                          <a:solidFill>
                            <a:srgbClr val="2C3E50"/>
                          </a:solidFill>
                          <a:latin typeface="Arial"/>
                        </a:rPr>
                        <a:t>sys. appr.</a:t>
                      </a:r>
                    </a:p>
                  </a:txBody>
                  <a:tcPr>
                    <a:solidFill>
                      <a:srgbClr val="F6F7F9"/>
                    </a:solidFill>
                  </a:tcPr>
                </a:tc>
                <a:tc>
                  <a:txBody>
                    <a:bodyPr/>
                    <a:lstStyle/>
                    <a:p>
                      <a:pPr algn="r"/>
                      <a:r>
                        <a:rPr sz="1050" b="1">
                          <a:solidFill>
                            <a:srgbClr val="2C3E50"/>
                          </a:solidFill>
                          <a:latin typeface="Arial"/>
                        </a:rPr>
                        <a:t>E-com</a:t>
                      </a:r>
                    </a:p>
                    <a:p>
                      <a:pPr algn="r"/>
                      <a:r>
                        <a:rPr sz="1050" b="1">
                          <a:solidFill>
                            <a:srgbClr val="2C3E50"/>
                          </a:solidFill>
                          <a:latin typeface="Arial"/>
                        </a:rPr>
                        <a:t>prod./mo</a:t>
                      </a:r>
                    </a:p>
                  </a:txBody>
                  <a:tcPr>
                    <a:solidFill>
                      <a:srgbClr val="F6F7F9"/>
                    </a:solidFill>
                  </a:tcPr>
                </a:tc>
                <a:tc>
                  <a:txBody>
                    <a:bodyPr/>
                    <a:lstStyle/>
                    <a:p>
                      <a:pPr algn="r"/>
                      <a:r>
                        <a:rPr sz="1050" b="1">
                          <a:solidFill>
                            <a:srgbClr val="2C3E50"/>
                          </a:solidFill>
                          <a:latin typeface="Arial"/>
                        </a:rPr>
                        <a:t>E-com</a:t>
                      </a:r>
                    </a:p>
                    <a:p>
                      <a:pPr algn="r"/>
                      <a:r>
                        <a:rPr sz="1050" b="1">
                          <a:solidFill>
                            <a:srgbClr val="2C3E50"/>
                          </a:solidFill>
                          <a:latin typeface="Arial"/>
                        </a:rPr>
                        <a:t>risk</a:t>
                      </a:r>
                    </a:p>
                  </a:txBody>
                  <a:tcPr>
                    <a:solidFill>
                      <a:srgbClr val="F6F7F9"/>
                    </a:solidFill>
                  </a:tcPr>
                </a:tc>
                <a:tc>
                  <a:txBody>
                    <a:bodyPr/>
                    <a:lstStyle/>
                    <a:p>
                      <a:pPr algn="r"/>
                      <a:r>
                        <a:rPr sz="1050" b="1">
                          <a:solidFill>
                            <a:srgbClr val="2C3E50"/>
                          </a:solidFill>
                          <a:latin typeface="Arial"/>
                        </a:rPr>
                        <a:t>Stores</a:t>
                      </a:r>
                    </a:p>
                    <a:p>
                      <a:pPr algn="r"/>
                      <a:r>
                        <a:rPr sz="1050" b="1">
                          <a:solidFill>
                            <a:srgbClr val="2C3E50"/>
                          </a:solidFill>
                          <a:latin typeface="Arial"/>
                        </a:rPr>
                        <a:t>sys. appr.</a:t>
                      </a:r>
                    </a:p>
                  </a:txBody>
                  <a:tcPr>
                    <a:solidFill>
                      <a:srgbClr val="F6F7F9"/>
                    </a:solidFill>
                  </a:tcPr>
                </a:tc>
                <a:tc>
                  <a:txBody>
                    <a:bodyPr/>
                    <a:lstStyle/>
                    <a:p>
                      <a:pPr algn="r"/>
                      <a:r>
                        <a:rPr sz="1050" b="1">
                          <a:solidFill>
                            <a:srgbClr val="2C3E50"/>
                          </a:solidFill>
                          <a:latin typeface="Arial"/>
                        </a:rPr>
                        <a:t>Stores</a:t>
                      </a:r>
                    </a:p>
                    <a:p>
                      <a:pPr algn="r"/>
                      <a:r>
                        <a:rPr sz="1050" b="1">
                          <a:solidFill>
                            <a:srgbClr val="2C3E50"/>
                          </a:solidFill>
                          <a:latin typeface="Arial"/>
                        </a:rPr>
                        <a:t>prod./mo</a:t>
                      </a:r>
                    </a:p>
                  </a:txBody>
                  <a:tcPr>
                    <a:solidFill>
                      <a:srgbClr val="F6F7F9"/>
                    </a:solidFill>
                  </a:tcPr>
                </a:tc>
                <a:tc>
                  <a:txBody>
                    <a:bodyPr/>
                    <a:lstStyle/>
                    <a:p>
                      <a:pPr algn="r"/>
                      <a:r>
                        <a:rPr sz="1050" b="1">
                          <a:solidFill>
                            <a:srgbClr val="2C3E50"/>
                          </a:solidFill>
                          <a:latin typeface="Arial"/>
                        </a:rPr>
                        <a:t>Stores</a:t>
                      </a:r>
                    </a:p>
                    <a:p>
                      <a:pPr algn="r"/>
                      <a:r>
                        <a:rPr sz="1050" b="1">
                          <a:solidFill>
                            <a:srgbClr val="2C3E50"/>
                          </a:solidFill>
                          <a:latin typeface="Arial"/>
                        </a:rPr>
                        <a:t>risk</a:t>
                      </a:r>
                    </a:p>
                  </a:txBody>
                  <a:tcPr>
                    <a:solidFill>
                      <a:srgbClr val="F6F7F9"/>
                    </a:solidFill>
                  </a:tcPr>
                </a:tc>
                <a:tc>
                  <a:txBody>
                    <a:bodyPr/>
                    <a:lstStyle/>
                    <a:p>
                      <a:pPr algn="r"/>
                      <a:r>
                        <a:rPr sz="1050" b="1">
                          <a:solidFill>
                            <a:srgbClr val="2C3E50"/>
                          </a:solidFill>
                          <a:latin typeface="Arial"/>
                        </a:rPr>
                        <a:t>Apple</a:t>
                      </a:r>
                    </a:p>
                    <a:p>
                      <a:pPr algn="r"/>
                      <a:r>
                        <a:rPr sz="1050" b="1">
                          <a:solidFill>
                            <a:srgbClr val="2C3E50"/>
                          </a:solidFill>
                          <a:latin typeface="Arial"/>
                        </a:rPr>
                        <a:t>sys. appr.</a:t>
                      </a:r>
                    </a:p>
                  </a:txBody>
                  <a:tcPr>
                    <a:solidFill>
                      <a:srgbClr val="F6F7F9"/>
                    </a:solidFill>
                  </a:tcPr>
                </a:tc>
                <a:tc>
                  <a:txBody>
                    <a:bodyPr/>
                    <a:lstStyle/>
                    <a:p>
                      <a:pPr algn="r"/>
                      <a:r>
                        <a:rPr sz="1050" b="1">
                          <a:solidFill>
                            <a:srgbClr val="2C3E50"/>
                          </a:solidFill>
                          <a:latin typeface="Arial"/>
                        </a:rPr>
                        <a:t>Apple</a:t>
                      </a:r>
                    </a:p>
                    <a:p>
                      <a:pPr algn="r"/>
                      <a:r>
                        <a:rPr sz="1050" b="1">
                          <a:solidFill>
                            <a:srgbClr val="2C3E50"/>
                          </a:solidFill>
                          <a:latin typeface="Arial"/>
                        </a:rPr>
                        <a:t>prod./mo</a:t>
                      </a:r>
                    </a:p>
                  </a:txBody>
                  <a:tcPr>
                    <a:solidFill>
                      <a:srgbClr val="F6F7F9"/>
                    </a:solidFill>
                  </a:tcPr>
                </a:tc>
                <a:tc>
                  <a:txBody>
                    <a:bodyPr/>
                    <a:lstStyle/>
                    <a:p>
                      <a:pPr algn="r"/>
                      <a:r>
                        <a:rPr sz="1050" b="1">
                          <a:solidFill>
                            <a:srgbClr val="2C3E50"/>
                          </a:solidFill>
                          <a:latin typeface="Arial"/>
                        </a:rPr>
                        <a:t>Apple</a:t>
                      </a:r>
                    </a:p>
                    <a:p>
                      <a:pPr algn="r"/>
                      <a:r>
                        <a:rPr sz="1050" b="1">
                          <a:solidFill>
                            <a:srgbClr val="2C3E50"/>
                          </a:solidFill>
                          <a:latin typeface="Arial"/>
                        </a:rPr>
                        <a:t>risk</a:t>
                      </a:r>
                    </a:p>
                  </a:txBody>
                  <a:tcPr>
                    <a:solidFill>
                      <a:srgbClr val="F6F7F9"/>
                    </a:solidFill>
                  </a:tcPr>
                </a:tc>
              </a:tr>
              <a:tr h="274320">
                <a:tc>
                  <a:txBody>
                    <a:bodyPr/>
                    <a:lstStyle/>
                    <a:p>
                      <a:pPr algn="l"/>
                      <a:r>
                        <a:rPr sz="1050" b="0">
                          <a:solidFill>
                            <a:srgbClr val="5D6D7E"/>
                          </a:solidFill>
                          <a:latin typeface="Arial"/>
                        </a:rPr>
                        <a:t>Today (measured)</a:t>
                      </a:r>
                    </a:p>
                  </a:txBody>
                  <a:tcPr>
                    <a:solidFill>
                      <a:srgbClr val="FFFFFF"/>
                    </a:solidFill>
                  </a:tcPr>
                </a:tc>
                <a:tc>
                  <a:txBody>
                    <a:bodyPr/>
                    <a:lstStyle/>
                    <a:p>
                      <a:pPr algn="r"/>
                      <a:r>
                        <a:rPr sz="1050" b="0">
                          <a:solidFill>
                            <a:srgbClr val="5D6D7E"/>
                          </a:solidFill>
                          <a:latin typeface="Arial"/>
                        </a:rPr>
                        <a:t>51.9%</a:t>
                      </a:r>
                    </a:p>
                  </a:txBody>
                  <a:tcPr>
                    <a:solidFill>
                      <a:srgbClr val="FFFFFF"/>
                    </a:solidFill>
                  </a:tcPr>
                </a:tc>
                <a:tc>
                  <a:txBody>
                    <a:bodyPr/>
                    <a:lstStyle/>
                    <a:p>
                      <a:pPr algn="r"/>
                      <a:r>
                        <a:rPr sz="1050" b="0">
                          <a:solidFill>
                            <a:srgbClr val="5D6D7E"/>
                          </a:solidFill>
                          <a:latin typeface="Arial"/>
                        </a:rPr>
                        <a:t>€8.4M</a:t>
                      </a:r>
                    </a:p>
                  </a:txBody>
                  <a:tcPr>
                    <a:solidFill>
                      <a:srgbClr val="FFFFFF"/>
                    </a:solidFill>
                  </a:tcPr>
                </a:tc>
                <a:tc>
                  <a:txBody>
                    <a:bodyPr/>
                    <a:lstStyle/>
                    <a:p>
                      <a:pPr algn="r"/>
                      <a:r>
                        <a:rPr sz="1050" b="0">
                          <a:solidFill>
                            <a:srgbClr val="5D6D7E"/>
                          </a:solidFill>
                          <a:latin typeface="Arial"/>
                        </a:rPr>
                        <a:t>4.18%</a:t>
                      </a:r>
                    </a:p>
                  </a:txBody>
                  <a:tcPr>
                    <a:solidFill>
                      <a:srgbClr val="FFFFFF"/>
                    </a:solidFill>
                  </a:tcPr>
                </a:tc>
                <a:tc>
                  <a:txBody>
                    <a:bodyPr/>
                    <a:lstStyle/>
                    <a:p>
                      <a:pPr algn="r"/>
                      <a:r>
                        <a:rPr sz="1050" b="0">
                          <a:solidFill>
                            <a:srgbClr val="5D6D7E"/>
                          </a:solidFill>
                          <a:latin typeface="Arial"/>
                        </a:rPr>
                        <a:t>64.1%</a:t>
                      </a:r>
                    </a:p>
                  </a:txBody>
                  <a:tcPr>
                    <a:solidFill>
                      <a:srgbClr val="FFFFFF"/>
                    </a:solidFill>
                  </a:tcPr>
                </a:tc>
                <a:tc>
                  <a:txBody>
                    <a:bodyPr/>
                    <a:lstStyle/>
                    <a:p>
                      <a:pPr algn="r"/>
                      <a:r>
                        <a:rPr sz="1050" b="0">
                          <a:solidFill>
                            <a:srgbClr val="5D6D7E"/>
                          </a:solidFill>
                          <a:latin typeface="Arial"/>
                        </a:rPr>
                        <a:t>€6.9M</a:t>
                      </a:r>
                    </a:p>
                  </a:txBody>
                  <a:tcPr>
                    <a:solidFill>
                      <a:srgbClr val="FFFFFF"/>
                    </a:solidFill>
                  </a:tcPr>
                </a:tc>
                <a:tc>
                  <a:txBody>
                    <a:bodyPr/>
                    <a:lstStyle/>
                    <a:p>
                      <a:pPr algn="r"/>
                      <a:r>
                        <a:rPr sz="1050" b="0">
                          <a:solidFill>
                            <a:srgbClr val="5D6D7E"/>
                          </a:solidFill>
                          <a:latin typeface="Arial"/>
                        </a:rPr>
                        <a:t>3.74%</a:t>
                      </a:r>
                    </a:p>
                  </a:txBody>
                  <a:tcPr>
                    <a:solidFill>
                      <a:srgbClr val="FFFFFF"/>
                    </a:solidFill>
                  </a:tcPr>
                </a:tc>
                <a:tc>
                  <a:txBody>
                    <a:bodyPr/>
                    <a:lstStyle/>
                    <a:p>
                      <a:pPr algn="r"/>
                      <a:r>
                        <a:rPr sz="1050" b="0">
                          <a:solidFill>
                            <a:srgbClr val="5D6D7E"/>
                          </a:solidFill>
                          <a:latin typeface="Arial"/>
                        </a:rPr>
                        <a:t>54.8%</a:t>
                      </a:r>
                    </a:p>
                  </a:txBody>
                  <a:tcPr>
                    <a:solidFill>
                      <a:srgbClr val="FFFFFF"/>
                    </a:solidFill>
                  </a:tcPr>
                </a:tc>
                <a:tc>
                  <a:txBody>
                    <a:bodyPr/>
                    <a:lstStyle/>
                    <a:p>
                      <a:pPr algn="r"/>
                      <a:r>
                        <a:rPr sz="1050" b="0">
                          <a:solidFill>
                            <a:srgbClr val="5D6D7E"/>
                          </a:solidFill>
                          <a:latin typeface="Arial"/>
                        </a:rPr>
                        <a:t>€15.3M</a:t>
                      </a:r>
                    </a:p>
                  </a:txBody>
                  <a:tcPr>
                    <a:solidFill>
                      <a:srgbClr val="FFFFFF"/>
                    </a:solidFill>
                  </a:tcPr>
                </a:tc>
                <a:tc>
                  <a:txBody>
                    <a:bodyPr/>
                    <a:lstStyle/>
                    <a:p>
                      <a:pPr algn="r"/>
                      <a:r>
                        <a:rPr sz="1050" b="0">
                          <a:solidFill>
                            <a:srgbClr val="5D6D7E"/>
                          </a:solidFill>
                          <a:latin typeface="Arial"/>
                        </a:rPr>
                        <a:t>3.99%</a:t>
                      </a:r>
                    </a:p>
                  </a:txBody>
                  <a:tcPr>
                    <a:solidFill>
                      <a:srgbClr val="FFFFFF"/>
                    </a:solidFill>
                  </a:tcPr>
                </a:tc>
              </a:tr>
              <a:tr h="274320">
                <a:tc>
                  <a:txBody>
                    <a:bodyPr/>
                    <a:lstStyle/>
                    <a:p>
                      <a:pPr algn="l"/>
                      <a:r>
                        <a:rPr sz="1050" b="0">
                          <a:solidFill>
                            <a:srgbClr val="5D6D7E"/>
                          </a:solidFill>
                          <a:latin typeface="Arial"/>
                        </a:rPr>
                        <a:t>Today, current store demand</a:t>
                      </a:r>
                    </a:p>
                  </a:txBody>
                  <a:tcPr>
                    <a:solidFill>
                      <a:srgbClr val="FFFFFF"/>
                    </a:solidFill>
                  </a:tcPr>
                </a:tc>
                <a:tc>
                  <a:txBody>
                    <a:bodyPr/>
                    <a:lstStyle/>
                    <a:p>
                      <a:pPr algn="r"/>
                      <a:r>
                        <a:rPr sz="1050" b="0">
                          <a:solidFill>
                            <a:srgbClr val="5D6D7E"/>
                          </a:solidFill>
                          <a:latin typeface="Arial"/>
                        </a:rPr>
                        <a:t>51.9%</a:t>
                      </a:r>
                    </a:p>
                  </a:txBody>
                  <a:tcPr>
                    <a:solidFill>
                      <a:srgbClr val="FFFFFF"/>
                    </a:solidFill>
                  </a:tcPr>
                </a:tc>
                <a:tc>
                  <a:txBody>
                    <a:bodyPr/>
                    <a:lstStyle/>
                    <a:p>
                      <a:pPr algn="r"/>
                      <a:r>
                        <a:rPr sz="1050" b="0">
                          <a:solidFill>
                            <a:srgbClr val="5D6D7E"/>
                          </a:solidFill>
                          <a:latin typeface="Arial"/>
                        </a:rPr>
                        <a:t>€8.4M</a:t>
                      </a:r>
                    </a:p>
                  </a:txBody>
                  <a:tcPr>
                    <a:solidFill>
                      <a:srgbClr val="FFFFFF"/>
                    </a:solidFill>
                  </a:tcPr>
                </a:tc>
                <a:tc>
                  <a:txBody>
                    <a:bodyPr/>
                    <a:lstStyle/>
                    <a:p>
                      <a:pPr algn="r"/>
                      <a:r>
                        <a:rPr sz="1050" b="0">
                          <a:solidFill>
                            <a:srgbClr val="5D6D7E"/>
                          </a:solidFill>
                          <a:latin typeface="Arial"/>
                        </a:rPr>
                        <a:t>4.15%</a:t>
                      </a:r>
                    </a:p>
                  </a:txBody>
                  <a:tcPr>
                    <a:solidFill>
                      <a:srgbClr val="FFFFFF"/>
                    </a:solidFill>
                  </a:tcPr>
                </a:tc>
                <a:tc>
                  <a:txBody>
                    <a:bodyPr/>
                    <a:lstStyle/>
                    <a:p>
                      <a:pPr algn="r"/>
                      <a:r>
                        <a:rPr sz="1050" b="0">
                          <a:solidFill>
                            <a:srgbClr val="5D6D7E"/>
                          </a:solidFill>
                          <a:latin typeface="Arial"/>
                        </a:rPr>
                        <a:t>53.5%</a:t>
                      </a:r>
                    </a:p>
                  </a:txBody>
                  <a:tcPr>
                    <a:solidFill>
                      <a:srgbClr val="FFFFFF"/>
                    </a:solidFill>
                  </a:tcPr>
                </a:tc>
                <a:tc>
                  <a:txBody>
                    <a:bodyPr/>
                    <a:lstStyle/>
                    <a:p>
                      <a:pPr algn="r"/>
                      <a:r>
                        <a:rPr sz="1050" b="0">
                          <a:solidFill>
                            <a:srgbClr val="5D6D7E"/>
                          </a:solidFill>
                          <a:latin typeface="Arial"/>
                        </a:rPr>
                        <a:t>€7.8M</a:t>
                      </a:r>
                    </a:p>
                  </a:txBody>
                  <a:tcPr>
                    <a:solidFill>
                      <a:srgbClr val="FFFFFF"/>
                    </a:solidFill>
                  </a:tcPr>
                </a:tc>
                <a:tc>
                  <a:txBody>
                    <a:bodyPr/>
                    <a:lstStyle/>
                    <a:p>
                      <a:pPr algn="r"/>
                      <a:r>
                        <a:rPr sz="1050" b="0">
                          <a:solidFill>
                            <a:srgbClr val="5D6D7E"/>
                          </a:solidFill>
                          <a:latin typeface="Arial"/>
                        </a:rPr>
                        <a:t>3.74%</a:t>
                      </a:r>
                    </a:p>
                  </a:txBody>
                  <a:tcPr>
                    <a:solidFill>
                      <a:srgbClr val="FFFFFF"/>
                    </a:solidFill>
                  </a:tcPr>
                </a:tc>
                <a:tc>
                  <a:txBody>
                    <a:bodyPr/>
                    <a:lstStyle/>
                    <a:p>
                      <a:pPr algn="r"/>
                      <a:r>
                        <a:rPr sz="1050" b="0">
                          <a:solidFill>
                            <a:srgbClr val="5D6D7E"/>
                          </a:solidFill>
                          <a:latin typeface="Arial"/>
                        </a:rPr>
                        <a:t>52.4%</a:t>
                      </a:r>
                    </a:p>
                  </a:txBody>
                  <a:tcPr>
                    <a:solidFill>
                      <a:srgbClr val="FFFFFF"/>
                    </a:solidFill>
                  </a:tcPr>
                </a:tc>
                <a:tc>
                  <a:txBody>
                    <a:bodyPr/>
                    <a:lstStyle/>
                    <a:p>
                      <a:pPr algn="r"/>
                      <a:r>
                        <a:rPr sz="1050" b="0">
                          <a:solidFill>
                            <a:srgbClr val="5D6D7E"/>
                          </a:solidFill>
                          <a:latin typeface="Arial"/>
                        </a:rPr>
                        <a:t>€16.2M</a:t>
                      </a:r>
                    </a:p>
                  </a:txBody>
                  <a:tcPr>
                    <a:solidFill>
                      <a:srgbClr val="FFFFFF"/>
                    </a:solidFill>
                  </a:tcPr>
                </a:tc>
                <a:tc>
                  <a:txBody>
                    <a:bodyPr/>
                    <a:lstStyle/>
                    <a:p>
                      <a:pPr algn="r"/>
                      <a:r>
                        <a:rPr sz="1050" b="0">
                          <a:solidFill>
                            <a:srgbClr val="5D6D7E"/>
                          </a:solidFill>
                          <a:latin typeface="Arial"/>
                        </a:rPr>
                        <a:t>3.95%</a:t>
                      </a:r>
                    </a:p>
                  </a:txBody>
                  <a:tcPr>
                    <a:solidFill>
                      <a:srgbClr val="FFFFFF"/>
                    </a:solidFill>
                  </a:tcPr>
                </a:tc>
              </a:tr>
              <a:tr h="274320">
                <a:tc>
                  <a:txBody>
                    <a:bodyPr/>
                    <a:lstStyle/>
                    <a:p>
                      <a:pPr algn="l"/>
                      <a:r>
                        <a:rPr sz="1050" b="0">
                          <a:solidFill>
                            <a:srgbClr val="5D6D7E"/>
                          </a:solidFill>
                          <a:latin typeface="Arial"/>
                        </a:rPr>
                        <a:t>Online grid in both</a:t>
                      </a:r>
                    </a:p>
                  </a:txBody>
                  <a:tcPr>
                    <a:solidFill>
                      <a:srgbClr val="FFFFFF"/>
                    </a:solidFill>
                  </a:tcPr>
                </a:tc>
                <a:tc>
                  <a:txBody>
                    <a:bodyPr/>
                    <a:lstStyle/>
                    <a:p>
                      <a:pPr algn="r"/>
                      <a:r>
                        <a:rPr sz="1050" b="0">
                          <a:solidFill>
                            <a:srgbClr val="5D6D7E"/>
                          </a:solidFill>
                          <a:latin typeface="Arial"/>
                        </a:rPr>
                        <a:t>51.8%</a:t>
                      </a:r>
                    </a:p>
                  </a:txBody>
                  <a:tcPr>
                    <a:solidFill>
                      <a:srgbClr val="FFFFFF"/>
                    </a:solidFill>
                  </a:tcPr>
                </a:tc>
                <a:tc>
                  <a:txBody>
                    <a:bodyPr/>
                    <a:lstStyle/>
                    <a:p>
                      <a:pPr algn="r"/>
                      <a:r>
                        <a:rPr sz="1050" b="0">
                          <a:solidFill>
                            <a:srgbClr val="5D6D7E"/>
                          </a:solidFill>
                          <a:latin typeface="Arial"/>
                        </a:rPr>
                        <a:t>€8.4M</a:t>
                      </a:r>
                    </a:p>
                  </a:txBody>
                  <a:tcPr>
                    <a:solidFill>
                      <a:srgbClr val="FFFFFF"/>
                    </a:solidFill>
                  </a:tcPr>
                </a:tc>
                <a:tc>
                  <a:txBody>
                    <a:bodyPr/>
                    <a:lstStyle/>
                    <a:p>
                      <a:pPr algn="r"/>
                      <a:r>
                        <a:rPr sz="1050" b="0">
                          <a:solidFill>
                            <a:srgbClr val="5D6D7E"/>
                          </a:solidFill>
                          <a:latin typeface="Arial"/>
                        </a:rPr>
                        <a:t>4.26%</a:t>
                      </a:r>
                    </a:p>
                  </a:txBody>
                  <a:tcPr>
                    <a:solidFill>
                      <a:srgbClr val="FFFFFF"/>
                    </a:solidFill>
                  </a:tcPr>
                </a:tc>
                <a:tc>
                  <a:txBody>
                    <a:bodyPr/>
                    <a:lstStyle/>
                    <a:p>
                      <a:pPr algn="r"/>
                      <a:r>
                        <a:rPr sz="1050" b="0">
                          <a:solidFill>
                            <a:srgbClr val="5D6D7E"/>
                          </a:solidFill>
                          <a:latin typeface="Arial"/>
                        </a:rPr>
                        <a:t>69.2%</a:t>
                      </a:r>
                    </a:p>
                  </a:txBody>
                  <a:tcPr>
                    <a:solidFill>
                      <a:srgbClr val="FFFFFF"/>
                    </a:solidFill>
                  </a:tcPr>
                </a:tc>
                <a:tc>
                  <a:txBody>
                    <a:bodyPr/>
                    <a:lstStyle/>
                    <a:p>
                      <a:pPr algn="r"/>
                      <a:r>
                        <a:rPr sz="1050" b="0">
                          <a:solidFill>
                            <a:srgbClr val="5D6D7E"/>
                          </a:solidFill>
                          <a:latin typeface="Arial"/>
                        </a:rPr>
                        <a:t>€10.1M</a:t>
                      </a:r>
                    </a:p>
                  </a:txBody>
                  <a:tcPr>
                    <a:solidFill>
                      <a:srgbClr val="FFFFFF"/>
                    </a:solidFill>
                  </a:tcPr>
                </a:tc>
                <a:tc>
                  <a:txBody>
                    <a:bodyPr/>
                    <a:lstStyle/>
                    <a:p>
                      <a:pPr algn="r"/>
                      <a:r>
                        <a:rPr sz="1050" b="0">
                          <a:solidFill>
                            <a:srgbClr val="5D6D7E"/>
                          </a:solidFill>
                          <a:latin typeface="Arial"/>
                        </a:rPr>
                        <a:t>3.52%</a:t>
                      </a:r>
                    </a:p>
                  </a:txBody>
                  <a:tcPr>
                    <a:solidFill>
                      <a:srgbClr val="FFFFFF"/>
                    </a:solidFill>
                  </a:tcPr>
                </a:tc>
                <a:tc>
                  <a:txBody>
                    <a:bodyPr/>
                    <a:lstStyle/>
                    <a:p>
                      <a:pPr algn="r"/>
                      <a:r>
                        <a:rPr sz="1050" b="0">
                          <a:solidFill>
                            <a:srgbClr val="5D6D7E"/>
                          </a:solidFill>
                          <a:latin typeface="Arial"/>
                        </a:rPr>
                        <a:t>57.2%</a:t>
                      </a:r>
                    </a:p>
                  </a:txBody>
                  <a:tcPr>
                    <a:solidFill>
                      <a:srgbClr val="FFFFFF"/>
                    </a:solidFill>
                  </a:tcPr>
                </a:tc>
                <a:tc>
                  <a:txBody>
                    <a:bodyPr/>
                    <a:lstStyle/>
                    <a:p>
                      <a:pPr algn="r"/>
                      <a:r>
                        <a:rPr sz="1050" b="0">
                          <a:solidFill>
                            <a:srgbClr val="5D6D7E"/>
                          </a:solidFill>
                          <a:latin typeface="Arial"/>
                        </a:rPr>
                        <a:t>€18.5M</a:t>
                      </a:r>
                    </a:p>
                  </a:txBody>
                  <a:tcPr>
                    <a:solidFill>
                      <a:srgbClr val="FFFFFF"/>
                    </a:solidFill>
                  </a:tcPr>
                </a:tc>
                <a:tc>
                  <a:txBody>
                    <a:bodyPr/>
                    <a:lstStyle/>
                    <a:p>
                      <a:pPr algn="r"/>
                      <a:r>
                        <a:rPr sz="1050" b="0">
                          <a:solidFill>
                            <a:srgbClr val="5D6D7E"/>
                          </a:solidFill>
                          <a:latin typeface="Arial"/>
                        </a:rPr>
                        <a:t>3.85%</a:t>
                      </a:r>
                    </a:p>
                  </a:txBody>
                  <a:tcPr>
                    <a:solidFill>
                      <a:srgbClr val="FFFFFF"/>
                    </a:solidFill>
                  </a:tcPr>
                </a:tc>
              </a:tr>
              <a:tr h="274320">
                <a:tc>
                  <a:txBody>
                    <a:bodyPr/>
                    <a:lstStyle/>
                    <a:p>
                      <a:pPr algn="l"/>
                      <a:r>
                        <a:rPr sz="1050" b="0">
                          <a:solidFill>
                            <a:srgbClr val="5D6D7E"/>
                          </a:solidFill>
                          <a:latin typeface="Arial"/>
                        </a:rPr>
                        <a:t>2.5% target · shifted grid</a:t>
                      </a:r>
                    </a:p>
                  </a:txBody>
                  <a:tcPr>
                    <a:solidFill>
                      <a:srgbClr val="FFFFFF"/>
                    </a:solidFill>
                  </a:tcPr>
                </a:tc>
                <a:tc>
                  <a:txBody>
                    <a:bodyPr/>
                    <a:lstStyle/>
                    <a:p>
                      <a:pPr algn="r"/>
                      <a:r>
                        <a:rPr sz="1050" b="0">
                          <a:solidFill>
                            <a:srgbClr val="5D6D7E"/>
                          </a:solidFill>
                          <a:latin typeface="Arial"/>
                        </a:rPr>
                        <a:t>32.1%</a:t>
                      </a:r>
                    </a:p>
                  </a:txBody>
                  <a:tcPr>
                    <a:solidFill>
                      <a:srgbClr val="FFFFFF"/>
                    </a:solidFill>
                  </a:tcPr>
                </a:tc>
                <a:tc>
                  <a:txBody>
                    <a:bodyPr/>
                    <a:lstStyle/>
                    <a:p>
                      <a:pPr algn="r"/>
                      <a:r>
                        <a:rPr sz="1050" b="0">
                          <a:solidFill>
                            <a:srgbClr val="5D6D7E"/>
                          </a:solidFill>
                          <a:latin typeface="Arial"/>
                        </a:rPr>
                        <a:t>€5.2M</a:t>
                      </a:r>
                    </a:p>
                  </a:txBody>
                  <a:tcPr>
                    <a:solidFill>
                      <a:srgbClr val="FFFFFF"/>
                    </a:solidFill>
                  </a:tcPr>
                </a:tc>
                <a:tc>
                  <a:txBody>
                    <a:bodyPr/>
                    <a:lstStyle/>
                    <a:p>
                      <a:pPr algn="r"/>
                      <a:r>
                        <a:rPr sz="1050" b="0">
                          <a:solidFill>
                            <a:srgbClr val="5D6D7E"/>
                          </a:solidFill>
                          <a:latin typeface="Arial"/>
                        </a:rPr>
                        <a:t>2.61%</a:t>
                      </a:r>
                    </a:p>
                  </a:txBody>
                  <a:tcPr>
                    <a:solidFill>
                      <a:srgbClr val="FFFFFF"/>
                    </a:solidFill>
                  </a:tcPr>
                </a:tc>
                <a:tc>
                  <a:txBody>
                    <a:bodyPr/>
                    <a:lstStyle/>
                    <a:p>
                      <a:pPr algn="r"/>
                      <a:r>
                        <a:rPr sz="1050" b="0">
                          <a:solidFill>
                            <a:srgbClr val="5D6D7E"/>
                          </a:solidFill>
                          <a:latin typeface="Arial"/>
                        </a:rPr>
                        <a:t>48.4%</a:t>
                      </a:r>
                    </a:p>
                  </a:txBody>
                  <a:tcPr>
                    <a:solidFill>
                      <a:srgbClr val="FFFFFF"/>
                    </a:solidFill>
                  </a:tcPr>
                </a:tc>
                <a:tc>
                  <a:txBody>
                    <a:bodyPr/>
                    <a:lstStyle/>
                    <a:p>
                      <a:pPr algn="r"/>
                      <a:r>
                        <a:rPr sz="1050" b="0">
                          <a:solidFill>
                            <a:srgbClr val="5D6D7E"/>
                          </a:solidFill>
                          <a:latin typeface="Arial"/>
                        </a:rPr>
                        <a:t>€7.1M</a:t>
                      </a:r>
                    </a:p>
                  </a:txBody>
                  <a:tcPr>
                    <a:solidFill>
                      <a:srgbClr val="FFFFFF"/>
                    </a:solidFill>
                  </a:tcPr>
                </a:tc>
                <a:tc>
                  <a:txBody>
                    <a:bodyPr/>
                    <a:lstStyle/>
                    <a:p>
                      <a:pPr algn="r"/>
                      <a:r>
                        <a:rPr sz="1050" b="0">
                          <a:solidFill>
                            <a:srgbClr val="5D6D7E"/>
                          </a:solidFill>
                          <a:latin typeface="Arial"/>
                        </a:rPr>
                        <a:t>2.40%</a:t>
                      </a:r>
                    </a:p>
                  </a:txBody>
                  <a:tcPr>
                    <a:solidFill>
                      <a:srgbClr val="FFFFFF"/>
                    </a:solidFill>
                  </a:tcPr>
                </a:tc>
                <a:tc>
                  <a:txBody>
                    <a:bodyPr/>
                    <a:lstStyle/>
                    <a:p>
                      <a:pPr algn="r"/>
                      <a:r>
                        <a:rPr sz="1050" b="0">
                          <a:solidFill>
                            <a:srgbClr val="5D6D7E"/>
                          </a:solidFill>
                          <a:latin typeface="Arial"/>
                        </a:rPr>
                        <a:t>37.2%</a:t>
                      </a:r>
                    </a:p>
                  </a:txBody>
                  <a:tcPr>
                    <a:solidFill>
                      <a:srgbClr val="FFFFFF"/>
                    </a:solidFill>
                  </a:tcPr>
                </a:tc>
                <a:tc>
                  <a:txBody>
                    <a:bodyPr/>
                    <a:lstStyle/>
                    <a:p>
                      <a:pPr algn="r"/>
                      <a:r>
                        <a:rPr sz="1050" b="0">
                          <a:solidFill>
                            <a:srgbClr val="5D6D7E"/>
                          </a:solidFill>
                          <a:latin typeface="Arial"/>
                        </a:rPr>
                        <a:t>€12.3M</a:t>
                      </a:r>
                    </a:p>
                  </a:txBody>
                  <a:tcPr>
                    <a:solidFill>
                      <a:srgbClr val="FFFFFF"/>
                    </a:solidFill>
                  </a:tcPr>
                </a:tc>
                <a:tc>
                  <a:txBody>
                    <a:bodyPr/>
                    <a:lstStyle/>
                    <a:p>
                      <a:pPr algn="r"/>
                      <a:r>
                        <a:rPr sz="1050" b="0">
                          <a:solidFill>
                            <a:srgbClr val="5D6D7E"/>
                          </a:solidFill>
                          <a:latin typeface="Arial"/>
                        </a:rPr>
                        <a:t>2.48%</a:t>
                      </a:r>
                    </a:p>
                  </a:txBody>
                  <a:tcPr>
                    <a:solidFill>
                      <a:srgbClr val="FFFFFF"/>
                    </a:solidFill>
                  </a:tcPr>
                </a:tc>
              </a:tr>
              <a:tr h="274320">
                <a:tc>
                  <a:txBody>
                    <a:bodyPr/>
                    <a:lstStyle/>
                    <a:p>
                      <a:pPr algn="l"/>
                      <a:r>
                        <a:rPr sz="1050" b="0">
                          <a:solidFill>
                            <a:srgbClr val="5D6D7E"/>
                          </a:solidFill>
                          <a:latin typeface="Arial"/>
                        </a:rPr>
                        <a:t>3% target · shifted grid</a:t>
                      </a:r>
                    </a:p>
                  </a:txBody>
                  <a:tcPr>
                    <a:solidFill>
                      <a:srgbClr val="FFFFFF"/>
                    </a:solidFill>
                  </a:tcPr>
                </a:tc>
                <a:tc>
                  <a:txBody>
                    <a:bodyPr/>
                    <a:lstStyle/>
                    <a:p>
                      <a:pPr algn="r"/>
                      <a:r>
                        <a:rPr sz="1050" b="0">
                          <a:solidFill>
                            <a:srgbClr val="5D6D7E"/>
                          </a:solidFill>
                          <a:latin typeface="Arial"/>
                        </a:rPr>
                        <a:t>41.8%</a:t>
                      </a:r>
                    </a:p>
                  </a:txBody>
                  <a:tcPr>
                    <a:solidFill>
                      <a:srgbClr val="FFFFFF"/>
                    </a:solidFill>
                  </a:tcPr>
                </a:tc>
                <a:tc>
                  <a:txBody>
                    <a:bodyPr/>
                    <a:lstStyle/>
                    <a:p>
                      <a:pPr algn="r"/>
                      <a:r>
                        <a:rPr sz="1050" b="0">
                          <a:solidFill>
                            <a:srgbClr val="5D6D7E"/>
                          </a:solidFill>
                          <a:latin typeface="Arial"/>
                        </a:rPr>
                        <a:t>€6.8M</a:t>
                      </a:r>
                    </a:p>
                  </a:txBody>
                  <a:tcPr>
                    <a:solidFill>
                      <a:srgbClr val="FFFFFF"/>
                    </a:solidFill>
                  </a:tcPr>
                </a:tc>
                <a:tc>
                  <a:txBody>
                    <a:bodyPr/>
                    <a:lstStyle/>
                    <a:p>
                      <a:pPr algn="r"/>
                      <a:r>
                        <a:rPr sz="1050" b="0">
                          <a:solidFill>
                            <a:srgbClr val="5D6D7E"/>
                          </a:solidFill>
                          <a:latin typeface="Arial"/>
                        </a:rPr>
                        <a:t>3.14%</a:t>
                      </a:r>
                    </a:p>
                  </a:txBody>
                  <a:tcPr>
                    <a:solidFill>
                      <a:srgbClr val="FFFFFF"/>
                    </a:solidFill>
                  </a:tcPr>
                </a:tc>
                <a:tc>
                  <a:txBody>
                    <a:bodyPr/>
                    <a:lstStyle/>
                    <a:p>
                      <a:pPr algn="r"/>
                      <a:r>
                        <a:rPr sz="1050" b="0">
                          <a:solidFill>
                            <a:srgbClr val="5D6D7E"/>
                          </a:solidFill>
                          <a:latin typeface="Arial"/>
                        </a:rPr>
                        <a:t>60.1%</a:t>
                      </a:r>
                    </a:p>
                  </a:txBody>
                  <a:tcPr>
                    <a:solidFill>
                      <a:srgbClr val="FFFFFF"/>
                    </a:solidFill>
                  </a:tcPr>
                </a:tc>
                <a:tc>
                  <a:txBody>
                    <a:bodyPr/>
                    <a:lstStyle/>
                    <a:p>
                      <a:pPr algn="r"/>
                      <a:r>
                        <a:rPr sz="1050" b="0">
                          <a:solidFill>
                            <a:srgbClr val="5D6D7E"/>
                          </a:solidFill>
                          <a:latin typeface="Arial"/>
                        </a:rPr>
                        <a:t>€8.8M</a:t>
                      </a:r>
                    </a:p>
                  </a:txBody>
                  <a:tcPr>
                    <a:solidFill>
                      <a:srgbClr val="FFFFFF"/>
                    </a:solidFill>
                  </a:tcPr>
                </a:tc>
                <a:tc>
                  <a:txBody>
                    <a:bodyPr/>
                    <a:lstStyle/>
                    <a:p>
                      <a:pPr algn="r"/>
                      <a:r>
                        <a:rPr sz="1050" b="0">
                          <a:solidFill>
                            <a:srgbClr val="5D6D7E"/>
                          </a:solidFill>
                          <a:latin typeface="Arial"/>
                        </a:rPr>
                        <a:t>2.83%</a:t>
                      </a:r>
                    </a:p>
                  </a:txBody>
                  <a:tcPr>
                    <a:solidFill>
                      <a:srgbClr val="FFFFFF"/>
                    </a:solidFill>
                  </a:tcPr>
                </a:tc>
                <a:tc>
                  <a:txBody>
                    <a:bodyPr/>
                    <a:lstStyle/>
                    <a:p>
                      <a:pPr algn="r"/>
                      <a:r>
                        <a:rPr sz="1050" b="0">
                          <a:solidFill>
                            <a:srgbClr val="5D6D7E"/>
                          </a:solidFill>
                          <a:latin typeface="Arial"/>
                        </a:rPr>
                        <a:t>47.5%</a:t>
                      </a:r>
                    </a:p>
                  </a:txBody>
                  <a:tcPr>
                    <a:solidFill>
                      <a:srgbClr val="FFFFFF"/>
                    </a:solidFill>
                  </a:tcPr>
                </a:tc>
                <a:tc>
                  <a:txBody>
                    <a:bodyPr/>
                    <a:lstStyle/>
                    <a:p>
                      <a:pPr algn="r"/>
                      <a:r>
                        <a:rPr sz="1050" b="0">
                          <a:solidFill>
                            <a:srgbClr val="5D6D7E"/>
                          </a:solidFill>
                          <a:latin typeface="Arial"/>
                        </a:rPr>
                        <a:t>€15.6M</a:t>
                      </a:r>
                    </a:p>
                  </a:txBody>
                  <a:tcPr>
                    <a:solidFill>
                      <a:srgbClr val="FFFFFF"/>
                    </a:solidFill>
                  </a:tcPr>
                </a:tc>
                <a:tc>
                  <a:txBody>
                    <a:bodyPr/>
                    <a:lstStyle/>
                    <a:p>
                      <a:pPr algn="r"/>
                      <a:r>
                        <a:rPr sz="1050" b="0">
                          <a:solidFill>
                            <a:srgbClr val="5D6D7E"/>
                          </a:solidFill>
                          <a:latin typeface="Arial"/>
                        </a:rPr>
                        <a:t>2.97%</a:t>
                      </a:r>
                    </a:p>
                  </a:txBody>
                  <a:tcPr>
                    <a:solidFill>
                      <a:srgbClr val="FFFFFF"/>
                    </a:solidFill>
                  </a:tcPr>
                </a:tc>
              </a:tr>
              <a:tr h="274320">
                <a:tc>
                  <a:txBody>
                    <a:bodyPr/>
                    <a:lstStyle/>
                    <a:p>
                      <a:pPr algn="l"/>
                      <a:r>
                        <a:rPr sz="1050" b="0">
                          <a:solidFill>
                            <a:srgbClr val="5D6D7E"/>
                          </a:solidFill>
                          <a:latin typeface="Arial"/>
                        </a:rPr>
                        <a:t>3.5% target · shifted grid</a:t>
                      </a:r>
                    </a:p>
                  </a:txBody>
                  <a:tcPr>
                    <a:solidFill>
                      <a:srgbClr val="FFFFFF"/>
                    </a:solidFill>
                  </a:tcPr>
                </a:tc>
                <a:tc>
                  <a:txBody>
                    <a:bodyPr/>
                    <a:lstStyle/>
                    <a:p>
                      <a:pPr algn="r"/>
                      <a:r>
                        <a:rPr sz="1050" b="0">
                          <a:solidFill>
                            <a:srgbClr val="5D6D7E"/>
                          </a:solidFill>
                          <a:latin typeface="Arial"/>
                        </a:rPr>
                        <a:t>48.8%</a:t>
                      </a:r>
                    </a:p>
                  </a:txBody>
                  <a:tcPr>
                    <a:solidFill>
                      <a:srgbClr val="FFFFFF"/>
                    </a:solidFill>
                  </a:tcPr>
                </a:tc>
                <a:tc>
                  <a:txBody>
                    <a:bodyPr/>
                    <a:lstStyle/>
                    <a:p>
                      <a:pPr algn="r"/>
                      <a:r>
                        <a:rPr sz="1050" b="0">
                          <a:solidFill>
                            <a:srgbClr val="5D6D7E"/>
                          </a:solidFill>
                          <a:latin typeface="Arial"/>
                        </a:rPr>
                        <a:t>€7.9M</a:t>
                      </a:r>
                    </a:p>
                  </a:txBody>
                  <a:tcPr>
                    <a:solidFill>
                      <a:srgbClr val="FFFFFF"/>
                    </a:solidFill>
                  </a:tcPr>
                </a:tc>
                <a:tc>
                  <a:txBody>
                    <a:bodyPr/>
                    <a:lstStyle/>
                    <a:p>
                      <a:pPr algn="r"/>
                      <a:r>
                        <a:rPr sz="1050" b="0">
                          <a:solidFill>
                            <a:srgbClr val="5D6D7E"/>
                          </a:solidFill>
                          <a:latin typeface="Arial"/>
                        </a:rPr>
                        <a:t>3.75%</a:t>
                      </a:r>
                    </a:p>
                  </a:txBody>
                  <a:tcPr>
                    <a:solidFill>
                      <a:srgbClr val="FFFFFF"/>
                    </a:solidFill>
                  </a:tcPr>
                </a:tc>
                <a:tc>
                  <a:txBody>
                    <a:bodyPr/>
                    <a:lstStyle/>
                    <a:p>
                      <a:pPr algn="r"/>
                      <a:r>
                        <a:rPr sz="1050" b="0">
                          <a:solidFill>
                            <a:srgbClr val="5D6D7E"/>
                          </a:solidFill>
                          <a:latin typeface="Arial"/>
                        </a:rPr>
                        <a:t>67.0%</a:t>
                      </a:r>
                    </a:p>
                  </a:txBody>
                  <a:tcPr>
                    <a:solidFill>
                      <a:srgbClr val="FFFFFF"/>
                    </a:solidFill>
                  </a:tcPr>
                </a:tc>
                <a:tc>
                  <a:txBody>
                    <a:bodyPr/>
                    <a:lstStyle/>
                    <a:p>
                      <a:pPr algn="r"/>
                      <a:r>
                        <a:rPr sz="1050" b="0">
                          <a:solidFill>
                            <a:srgbClr val="5D6D7E"/>
                          </a:solidFill>
                          <a:latin typeface="Arial"/>
                        </a:rPr>
                        <a:t>€9.8M</a:t>
                      </a:r>
                    </a:p>
                  </a:txBody>
                  <a:tcPr>
                    <a:solidFill>
                      <a:srgbClr val="FFFFFF"/>
                    </a:solidFill>
                  </a:tcPr>
                </a:tc>
                <a:tc>
                  <a:txBody>
                    <a:bodyPr/>
                    <a:lstStyle/>
                    <a:p>
                      <a:pPr algn="r"/>
                      <a:r>
                        <a:rPr sz="1050" b="0">
                          <a:solidFill>
                            <a:srgbClr val="5D6D7E"/>
                          </a:solidFill>
                          <a:latin typeface="Arial"/>
                        </a:rPr>
                        <a:t>3.27%</a:t>
                      </a:r>
                    </a:p>
                  </a:txBody>
                  <a:tcPr>
                    <a:solidFill>
                      <a:srgbClr val="FFFFFF"/>
                    </a:solidFill>
                  </a:tcPr>
                </a:tc>
                <a:tc>
                  <a:txBody>
                    <a:bodyPr/>
                    <a:lstStyle/>
                    <a:p>
                      <a:pPr algn="r"/>
                      <a:r>
                        <a:rPr sz="1050" b="0">
                          <a:solidFill>
                            <a:srgbClr val="5D6D7E"/>
                          </a:solidFill>
                          <a:latin typeface="Arial"/>
                        </a:rPr>
                        <a:t>54.4%</a:t>
                      </a:r>
                    </a:p>
                  </a:txBody>
                  <a:tcPr>
                    <a:solidFill>
                      <a:srgbClr val="FFFFFF"/>
                    </a:solidFill>
                  </a:tcPr>
                </a:tc>
                <a:tc>
                  <a:txBody>
                    <a:bodyPr/>
                    <a:lstStyle/>
                    <a:p>
                      <a:pPr algn="r"/>
                      <a:r>
                        <a:rPr sz="1050" b="0">
                          <a:solidFill>
                            <a:srgbClr val="5D6D7E"/>
                          </a:solidFill>
                          <a:latin typeface="Arial"/>
                        </a:rPr>
                        <a:t>€17.7M</a:t>
                      </a:r>
                    </a:p>
                  </a:txBody>
                  <a:tcPr>
                    <a:solidFill>
                      <a:srgbClr val="FFFFFF"/>
                    </a:solidFill>
                  </a:tcPr>
                </a:tc>
                <a:tc>
                  <a:txBody>
                    <a:bodyPr/>
                    <a:lstStyle/>
                    <a:p>
                      <a:pPr algn="r"/>
                      <a:r>
                        <a:rPr sz="1050" b="0">
                          <a:solidFill>
                            <a:srgbClr val="5D6D7E"/>
                          </a:solidFill>
                          <a:latin typeface="Arial"/>
                        </a:rPr>
                        <a:t>3.48%</a:t>
                      </a:r>
                    </a:p>
                  </a:txBody>
                  <a:tcPr>
                    <a:solidFill>
                      <a:srgbClr val="FFFFFF"/>
                    </a:solidFill>
                  </a:tcPr>
                </a:tc>
              </a:tr>
              <a:tr h="274320">
                <a:tc>
                  <a:txBody>
                    <a:bodyPr/>
                    <a:lstStyle/>
                    <a:p>
                      <a:pPr algn="l"/>
                      <a:r>
                        <a:rPr sz="1050" b="0">
                          <a:solidFill>
                            <a:srgbClr val="5D6D7E"/>
                          </a:solidFill>
                          <a:latin typeface="Arial"/>
                        </a:rPr>
                        <a:t>4% target · shifted grid</a:t>
                      </a:r>
                    </a:p>
                  </a:txBody>
                  <a:tcPr>
                    <a:solidFill>
                      <a:srgbClr val="FFFFFF"/>
                    </a:solidFill>
                  </a:tcPr>
                </a:tc>
                <a:tc>
                  <a:txBody>
                    <a:bodyPr/>
                    <a:lstStyle/>
                    <a:p>
                      <a:pPr algn="r"/>
                      <a:r>
                        <a:rPr sz="1050" b="0">
                          <a:solidFill>
                            <a:srgbClr val="5D6D7E"/>
                          </a:solidFill>
                          <a:latin typeface="Arial"/>
                        </a:rPr>
                        <a:t>51.8%</a:t>
                      </a:r>
                    </a:p>
                  </a:txBody>
                  <a:tcPr>
                    <a:solidFill>
                      <a:srgbClr val="FFFFFF"/>
                    </a:solidFill>
                  </a:tcPr>
                </a:tc>
                <a:tc>
                  <a:txBody>
                    <a:bodyPr/>
                    <a:lstStyle/>
                    <a:p>
                      <a:pPr algn="r"/>
                      <a:r>
                        <a:rPr sz="1050" b="0">
                          <a:solidFill>
                            <a:srgbClr val="5D6D7E"/>
                          </a:solidFill>
                          <a:latin typeface="Arial"/>
                        </a:rPr>
                        <a:t>€8.4M</a:t>
                      </a:r>
                    </a:p>
                  </a:txBody>
                  <a:tcPr>
                    <a:solidFill>
                      <a:srgbClr val="FFFFFF"/>
                    </a:solidFill>
                  </a:tcPr>
                </a:tc>
                <a:tc>
                  <a:txBody>
                    <a:bodyPr/>
                    <a:lstStyle/>
                    <a:p>
                      <a:pPr algn="r"/>
                      <a:r>
                        <a:rPr sz="1050" b="0">
                          <a:solidFill>
                            <a:srgbClr val="5D6D7E"/>
                          </a:solidFill>
                          <a:latin typeface="Arial"/>
                        </a:rPr>
                        <a:t>4.26%</a:t>
                      </a:r>
                    </a:p>
                  </a:txBody>
                  <a:tcPr>
                    <a:solidFill>
                      <a:srgbClr val="FFFFFF"/>
                    </a:solidFill>
                  </a:tcPr>
                </a:tc>
                <a:tc>
                  <a:txBody>
                    <a:bodyPr/>
                    <a:lstStyle/>
                    <a:p>
                      <a:pPr algn="r"/>
                      <a:r>
                        <a:rPr sz="1050" b="0">
                          <a:solidFill>
                            <a:srgbClr val="5D6D7E"/>
                          </a:solidFill>
                          <a:latin typeface="Arial"/>
                        </a:rPr>
                        <a:t>69.2%</a:t>
                      </a:r>
                    </a:p>
                  </a:txBody>
                  <a:tcPr>
                    <a:solidFill>
                      <a:srgbClr val="FFFFFF"/>
                    </a:solidFill>
                  </a:tcPr>
                </a:tc>
                <a:tc>
                  <a:txBody>
                    <a:bodyPr/>
                    <a:lstStyle/>
                    <a:p>
                      <a:pPr algn="r"/>
                      <a:r>
                        <a:rPr sz="1050" b="0">
                          <a:solidFill>
                            <a:srgbClr val="5D6D7E"/>
                          </a:solidFill>
                          <a:latin typeface="Arial"/>
                        </a:rPr>
                        <a:t>€10.1M</a:t>
                      </a:r>
                    </a:p>
                  </a:txBody>
                  <a:tcPr>
                    <a:solidFill>
                      <a:srgbClr val="FFFFFF"/>
                    </a:solidFill>
                  </a:tcPr>
                </a:tc>
                <a:tc>
                  <a:txBody>
                    <a:bodyPr/>
                    <a:lstStyle/>
                    <a:p>
                      <a:pPr algn="r"/>
                      <a:r>
                        <a:rPr sz="1050" b="0">
                          <a:solidFill>
                            <a:srgbClr val="5D6D7E"/>
                          </a:solidFill>
                          <a:latin typeface="Arial"/>
                        </a:rPr>
                        <a:t>3.52%</a:t>
                      </a:r>
                    </a:p>
                  </a:txBody>
                  <a:tcPr>
                    <a:solidFill>
                      <a:srgbClr val="FFFFFF"/>
                    </a:solidFill>
                  </a:tcPr>
                </a:tc>
                <a:tc>
                  <a:txBody>
                    <a:bodyPr/>
                    <a:lstStyle/>
                    <a:p>
                      <a:pPr algn="r"/>
                      <a:r>
                        <a:rPr sz="1050" b="0">
                          <a:solidFill>
                            <a:srgbClr val="5D6D7E"/>
                          </a:solidFill>
                          <a:latin typeface="Arial"/>
                        </a:rPr>
                        <a:t>57.2%</a:t>
                      </a:r>
                    </a:p>
                  </a:txBody>
                  <a:tcPr>
                    <a:solidFill>
                      <a:srgbClr val="FFFFFF"/>
                    </a:solidFill>
                  </a:tcPr>
                </a:tc>
                <a:tc>
                  <a:txBody>
                    <a:bodyPr/>
                    <a:lstStyle/>
                    <a:p>
                      <a:pPr algn="r"/>
                      <a:r>
                        <a:rPr sz="1050" b="0">
                          <a:solidFill>
                            <a:srgbClr val="5D6D7E"/>
                          </a:solidFill>
                          <a:latin typeface="Arial"/>
                        </a:rPr>
                        <a:t>€18.5M</a:t>
                      </a:r>
                    </a:p>
                  </a:txBody>
                  <a:tcPr>
                    <a:solidFill>
                      <a:srgbClr val="FFFFFF"/>
                    </a:solidFill>
                  </a:tcPr>
                </a:tc>
                <a:tc>
                  <a:txBody>
                    <a:bodyPr/>
                    <a:lstStyle/>
                    <a:p>
                      <a:pPr algn="r"/>
                      <a:r>
                        <a:rPr sz="1050" b="0">
                          <a:solidFill>
                            <a:srgbClr val="5D6D7E"/>
                          </a:solidFill>
                          <a:latin typeface="Arial"/>
                        </a:rPr>
                        <a:t>3.85%</a:t>
                      </a:r>
                    </a:p>
                  </a:txBody>
                  <a:tcPr>
                    <a:solidFill>
                      <a:srgbClr val="FFFFFF"/>
                    </a:solidFill>
                  </a:tcPr>
                </a:tc>
              </a:tr>
            </a:tbl>
          </a:graphicData>
        </a:graphic>
      </p:graphicFrame>
      <p:sp>
        <p:nvSpPr>
          <p:cNvPr id="7" name="TextBox 6"/>
          <p:cNvSpPr txBox="1"/>
          <p:nvPr/>
        </p:nvSpPr>
        <p:spPr>
          <a:xfrm>
            <a:off x="566928" y="4005072"/>
            <a:ext cx="11057839" cy="2670048"/>
          </a:xfrm>
          <a:prstGeom prst="rect">
            <a:avLst/>
          </a:prstGeom>
          <a:noFill/>
        </p:spPr>
        <p:txBody>
          <a:bodyPr wrap="square">
            <a:spAutoFit/>
          </a:bodyPr>
          <a:lstStyle/>
          <a:p>
            <a:pPr algn="l">
              <a:lnSpc>
                <a:spcPct val="120000"/>
              </a:lnSpc>
            </a:pPr>
            <a:r>
              <a:rPr sz="1000" b="0">
                <a:solidFill>
                  <a:srgbClr val="5D6D7E"/>
                </a:solidFill>
                <a:latin typeface="Arial"/>
              </a:rPr>
              <a:t>Stores: 'Today (measured)' is the Mar 2025 – Feb 2026 window with the internal score; every other row is Aug–Sep 2026, the only period with an EFX score. Online is always Mar 2025 – Feb 2026. Online's risk in the grid rows carries the reject-inference uplift on its own book (realized 4.18%).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4 · GRIDS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Policy — no period</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grid each scenario implies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1057839" cy="320040"/>
          </a:xfrm>
          <a:prstGeom prst="rect">
            <a:avLst/>
          </a:prstGeom>
          <a:noFill/>
        </p:spPr>
        <p:txBody>
          <a:bodyPr wrap="square">
            <a:spAutoFit/>
          </a:bodyPr>
          <a:lstStyle/>
          <a:p>
            <a:pPr algn="l">
              <a:lnSpc>
                <a:spcPct val="100000"/>
              </a:lnSpc>
            </a:pPr>
            <a:r>
              <a:rPr sz="1150" b="0">
                <a:solidFill>
                  <a:srgbClr val="5D6D7E"/>
                </a:solidFill>
                <a:latin typeface="Arial"/>
              </a:rPr>
              <a:t>REJECT threshold by group: applications above the value are accepted.</a:t>
            </a:r>
          </a:p>
        </p:txBody>
      </p:sp>
      <p:sp>
        <p:nvSpPr>
          <p:cNvPr id="7" name="TextBox 6"/>
          <p:cNvSpPr txBox="1"/>
          <p:nvPr/>
        </p:nvSpPr>
        <p:spPr>
          <a:xfrm>
            <a:off x="566928" y="1975104"/>
            <a:ext cx="11057839" cy="292608"/>
          </a:xfrm>
          <a:prstGeom prst="rect">
            <a:avLst/>
          </a:prstGeom>
          <a:noFill/>
        </p:spPr>
        <p:txBody>
          <a:bodyPr wrap="square">
            <a:spAutoFit/>
          </a:bodyPr>
          <a:lstStyle/>
          <a:p>
            <a:pPr algn="l">
              <a:lnSpc>
                <a:spcPct val="100000"/>
              </a:lnSpc>
            </a:pPr>
            <a:r>
              <a:rPr sz="1400" b="1">
                <a:solidFill>
                  <a:srgbClr val="2C3E50"/>
                </a:solidFill>
                <a:latin typeface="Arial"/>
              </a:rPr>
              <a:t>Single cutoff for all of Apple</a:t>
            </a:r>
          </a:p>
        </p:txBody>
      </p:sp>
      <p:graphicFrame>
        <p:nvGraphicFramePr>
          <p:cNvPr id="8" name="Table 7"/>
          <p:cNvGraphicFramePr>
            <a:graphicFrameLocks noGrp="1"/>
          </p:cNvGraphicFramePr>
          <p:nvPr/>
        </p:nvGraphicFramePr>
        <p:xfrm>
          <a:off x="566928" y="2286000"/>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9" name="TextBox 8"/>
          <p:cNvSpPr txBox="1"/>
          <p:nvPr/>
        </p:nvSpPr>
        <p:spPr>
          <a:xfrm>
            <a:off x="566928" y="4059936"/>
            <a:ext cx="11057839" cy="292608"/>
          </a:xfrm>
          <a:prstGeom prst="rect">
            <a:avLst/>
          </a:prstGeom>
          <a:noFill/>
        </p:spPr>
        <p:txBody>
          <a:bodyPr wrap="square">
            <a:spAutoFit/>
          </a:bodyPr>
          <a:lstStyle/>
          <a:p>
            <a:pPr algn="l">
              <a:lnSpc>
                <a:spcPct val="100000"/>
              </a:lnSpc>
            </a:pPr>
            <a:r>
              <a:rPr sz="1400" b="1">
                <a:solidFill>
                  <a:srgbClr val="2C3E50"/>
                </a:solidFill>
                <a:latin typeface="Arial"/>
              </a:rPr>
              <a:t>Current grid, shifted</a:t>
            </a:r>
          </a:p>
        </p:txBody>
      </p:sp>
      <p:graphicFrame>
        <p:nvGraphicFramePr>
          <p:cNvPr id="10" name="Table 9"/>
          <p:cNvGraphicFramePr>
            <a:graphicFrameLocks noGrp="1"/>
          </p:cNvGraphicFramePr>
          <p:nvPr/>
        </p:nvGraphicFramePr>
        <p:xfrm>
          <a:off x="566928" y="4370832"/>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63</a:t>
                      </a:r>
                    </a:p>
                  </a:txBody>
                  <a:tcPr>
                    <a:solidFill>
                      <a:srgbClr val="FFFFFF"/>
                    </a:solidFill>
                  </a:tcPr>
                </a:tc>
                <a:tc>
                  <a:txBody>
                    <a:bodyPr/>
                    <a:lstStyle/>
                    <a:p>
                      <a:pPr algn="r"/>
                      <a:r>
                        <a:rPr sz="1150" b="0">
                          <a:solidFill>
                            <a:srgbClr val="5D6D7E"/>
                          </a:solidFill>
                          <a:latin typeface="Arial"/>
                        </a:rPr>
                        <a:t>&gt; 50</a:t>
                      </a:r>
                    </a:p>
                  </a:txBody>
                  <a:tcPr>
                    <a:solidFill>
                      <a:srgbClr val="FFFFFF"/>
                    </a:solidFill>
                  </a:tcPr>
                </a:tc>
                <a:tc>
                  <a:txBody>
                    <a:bodyPr/>
                    <a:lstStyle/>
                    <a:p>
                      <a:pPr algn="r"/>
                      <a:r>
                        <a:rPr sz="1150" b="0">
                          <a:solidFill>
                            <a:srgbClr val="5D6D7E"/>
                          </a:solidFill>
                          <a:latin typeface="Arial"/>
                        </a:rPr>
                        <a:t>&gt; 37</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52</a:t>
                      </a:r>
                    </a:p>
                  </a:txBody>
                  <a:tcPr>
                    <a:solidFill>
                      <a:srgbClr val="FFFFFF"/>
                    </a:solidFill>
                  </a:tcPr>
                </a:tc>
                <a:tc>
                  <a:txBody>
                    <a:bodyPr/>
                    <a:lstStyle/>
                    <a:p>
                      <a:pPr algn="r"/>
                      <a:r>
                        <a:rPr sz="1150" b="0">
                          <a:solidFill>
                            <a:srgbClr val="5D6D7E"/>
                          </a:solidFill>
                          <a:latin typeface="Arial"/>
                        </a:rPr>
                        <a:t>&gt; 39</a:t>
                      </a:r>
                    </a:p>
                  </a:txBody>
                  <a:tcPr>
                    <a:solidFill>
                      <a:srgbClr val="FFFFFF"/>
                    </a:solidFill>
                  </a:tcPr>
                </a:tc>
                <a:tc>
                  <a:txBody>
                    <a:bodyPr/>
                    <a:lstStyle/>
                    <a:p>
                      <a:pPr algn="r"/>
                      <a:r>
                        <a:rPr sz="1150" b="0">
                          <a:solidFill>
                            <a:srgbClr val="5D6D7E"/>
                          </a:solidFill>
                          <a:latin typeface="Arial"/>
                        </a:rPr>
                        <a:t>&gt; 26</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11" name="TextBox 10"/>
          <p:cNvSpPr txBox="1"/>
          <p:nvPr/>
        </p:nvSpPr>
        <p:spPr>
          <a:xfrm>
            <a:off x="566928" y="6144768"/>
            <a:ext cx="11057839" cy="640080"/>
          </a:xfrm>
          <a:prstGeom prst="rect">
            <a:avLst/>
          </a:prstGeom>
          <a:noFill/>
        </p:spPr>
        <p:txBody>
          <a:bodyPr wrap="square">
            <a:spAutoFit/>
          </a:bodyPr>
          <a:lstStyle/>
          <a:p>
            <a:pPr algn="l">
              <a:lnSpc>
                <a:spcPct val="120000"/>
              </a:lnSpc>
            </a:pPr>
            <a:r>
              <a:rPr sz="1100" b="0">
                <a:solidFill>
                  <a:srgbClr val="5D6D7E"/>
                </a:solidFill>
                <a:latin typeface="Arial"/>
              </a:rPr>
              <a:t>A single cutoff is simpler to operate; shifting the grid keeps its shape —looser where the group is good— and gives slightly higher system approval at the same risk. '&gt;=G' is always rejected in both.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store risk is estimated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Realized risk by score bin, in Apple Online</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For each of the 20 EFX bins, the observed delinquency of contracts with 6 months on book. The only part of the study that comes straight from the data.</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Selection correction (reject inference)</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Booked contracts in a bin also passed every other rule: they are a selected sample and their delinquency understates that of applicants rejected today. The pipeline's parceling is applied, with an uplift driven by the acceptance rate: 2.5x where only 3% get in, 1.0x where 100% do.</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That curve is carried over to the store population</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Each store application is assigned the risk of the EFX bin it falls in. This is the underlying assumption: that the score ranks store applicants the same way it ranks e-commerce ones.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E74C3C"/>
                </a:solidFill>
                <a:latin typeface="Arial"/>
              </a:rPr>
              <a:t>ASSUMED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The level is anchored to stores' actual delinquency</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The Online curve predicts 3.92% on the book stores actually wrote; the observed figure is 3.74%. The curve is rescaled by 0.953 to reproduce the data. The level is no longer an assumption: only the ranking power remains assumed.</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What this means in practice: if EFX ranks store applicants worse than it ranks Online ones, the scenario cutoffs fall short. What can no longer be wrong is the height of the curve, because it is calibrated against the delinquency stores have actually had.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STORE DEMAND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 demand Aug–Sep 2026: from applications to risk</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6858000" cy="2560320"/>
        </p:xfrm>
        <a:graphic>
          <a:graphicData uri="http://schemas.openxmlformats.org/drawingml/2006/table">
            <a:tbl>
              <a:tblPr firstRow="1" bandRow="1">
                <a:tableStyleId>{5C22544A-7EE6-4342-B048-85BDC9FD1C3A}</a:tableStyleId>
              </a:tblPr>
              <a:tblGrid>
                <a:gridCol w="3108960"/>
                <a:gridCol w="1097280"/>
                <a:gridCol w="1371600"/>
                <a:gridCol w="1280160"/>
              </a:tblGrid>
              <a:tr h="256032">
                <a:tc>
                  <a:txBody>
                    <a:bodyPr/>
                    <a:lstStyle/>
                    <a:p>
                      <a:pPr algn="l"/>
                      <a:r>
                        <a:rPr sz="1150" b="1">
                          <a:solidFill>
                            <a:srgbClr val="2C3E50"/>
                          </a:solidFill>
                          <a:latin typeface="Arial"/>
                        </a:rPr>
                        <a:t>Each € of store demand</a:t>
                      </a:r>
                    </a:p>
                  </a:txBody>
                  <a:tcPr>
                    <a:solidFill>
                      <a:srgbClr val="F6F7F9"/>
                    </a:solidFill>
                  </a:tcPr>
                </a:tc>
                <a:tc>
                  <a:txBody>
                    <a:bodyPr/>
                    <a:lstStyle/>
                    <a:p>
                      <a:pPr algn="r"/>
                      <a:r>
                        <a:rPr sz="1150" b="1">
                          <a:solidFill>
                            <a:srgbClr val="2C3E50"/>
                          </a:solidFill>
                          <a:latin typeface="Arial"/>
                        </a:rPr>
                        <a:t>Sys. appr.</a:t>
                      </a:r>
                    </a:p>
                  </a:txBody>
                  <a:tcPr>
                    <a:solidFill>
                      <a:srgbClr val="F6F7F9"/>
                    </a:solidFill>
                  </a:tcPr>
                </a:tc>
                <a:tc>
                  <a:txBody>
                    <a:bodyPr/>
                    <a:lstStyle/>
                    <a:p>
                      <a:pPr algn="r"/>
                      <a:r>
                        <a:rPr sz="1150" b="1">
                          <a:solidFill>
                            <a:srgbClr val="2C3E50"/>
                          </a:solidFill>
                          <a:latin typeface="Arial"/>
                        </a:rPr>
                        <a:t>Exp. production</a:t>
                      </a:r>
                    </a:p>
                    <a:p>
                      <a:pPr algn="r"/>
                      <a:r>
                        <a:rPr sz="1150" b="1">
                          <a:solidFill>
                            <a:srgbClr val="2C3E50"/>
                          </a:solidFill>
                          <a:latin typeface="Arial"/>
                        </a:rPr>
                        <a:t>Aug–Sep 2026</a:t>
                      </a:r>
                    </a:p>
                  </a:txBody>
                  <a:tcPr>
                    <a:solidFill>
                      <a:srgbClr val="F6F7F9"/>
                    </a:solidFill>
                  </a:tcPr>
                </a:tc>
                <a:tc>
                  <a:txBody>
                    <a:bodyPr/>
                    <a:lstStyle/>
                    <a:p>
                      <a:pPr algn="r"/>
                      <a:r>
                        <a:rPr sz="1150" b="1">
                          <a:solidFill>
                            <a:srgbClr val="2C3E50"/>
                          </a:solidFill>
                          <a:latin typeface="Arial"/>
                        </a:rPr>
                        <a:t>Imputed risk</a:t>
                      </a:r>
                    </a:p>
                  </a:txBody>
                  <a:tcPr>
                    <a:solidFill>
                      <a:srgbClr val="F6F7F9"/>
                    </a:solidFill>
                  </a:tcPr>
                </a:tc>
              </a:tr>
              <a:tr h="256032">
                <a:tc>
                  <a:txBody>
                    <a:bodyPr/>
                    <a:lstStyle/>
                    <a:p>
                      <a:pPr algn="l"/>
                      <a:r>
                        <a:rPr sz="1150" b="0">
                          <a:solidFill>
                            <a:srgbClr val="5D6D7E"/>
                          </a:solidFill>
                          <a:latin typeface="Arial"/>
                        </a:rPr>
                        <a:t>kept: approved today, above the cutoff</a:t>
                      </a:r>
                    </a:p>
                  </a:txBody>
                  <a:tcPr>
                    <a:solidFill>
                      <a:srgbClr val="FFFFFF"/>
                    </a:solidFill>
                  </a:tcPr>
                </a:tc>
                <a:tc>
                  <a:txBody>
                    <a:bodyPr/>
                    <a:lstStyle/>
                    <a:p>
                      <a:pPr algn="r"/>
                      <a:r>
                        <a:rPr sz="1150" b="0">
                          <a:solidFill>
                            <a:srgbClr val="5D6D7E"/>
                          </a:solidFill>
                          <a:latin typeface="Arial"/>
                        </a:rPr>
                        <a:t>51.7%</a:t>
                      </a:r>
                    </a:p>
                  </a:txBody>
                  <a:tcPr>
                    <a:solidFill>
                      <a:srgbClr val="FFFFFF"/>
                    </a:solidFill>
                  </a:tcPr>
                </a:tc>
                <a:tc>
                  <a:txBody>
                    <a:bodyPr/>
                    <a:lstStyle/>
                    <a:p>
                      <a:pPr algn="r"/>
                      <a:r>
                        <a:rPr sz="1150" b="0">
                          <a:solidFill>
                            <a:srgbClr val="5D6D7E"/>
                          </a:solidFill>
                          <a:latin typeface="Arial"/>
                        </a:rPr>
                        <a:t>€10.9M</a:t>
                      </a:r>
                    </a:p>
                  </a:txBody>
                  <a:tcPr>
                    <a:solidFill>
                      <a:srgbClr val="FFFFFF"/>
                    </a:solidFill>
                  </a:tcPr>
                </a:tc>
                <a:tc>
                  <a:txBody>
                    <a:bodyPr/>
                    <a:lstStyle/>
                    <a:p>
                      <a:pPr algn="r"/>
                      <a:r>
                        <a:rPr sz="1150" b="0">
                          <a:solidFill>
                            <a:srgbClr val="5D6D7E"/>
                          </a:solidFill>
                          <a:latin typeface="Arial"/>
                        </a:rPr>
                        <a:t>3.3%</a:t>
                      </a:r>
                    </a:p>
                  </a:txBody>
                  <a:tcPr>
                    <a:solidFill>
                      <a:srgbClr val="FFFFFF"/>
                    </a:solidFill>
                  </a:tcPr>
                </a:tc>
              </a:tr>
              <a:tr h="256032">
                <a:tc>
                  <a:txBody>
                    <a:bodyPr/>
                    <a:lstStyle/>
                    <a:p>
                      <a:pPr algn="l"/>
                      <a:r>
                        <a:rPr sz="1150" b="0">
                          <a:solidFill>
                            <a:srgbClr val="5D6D7E"/>
                          </a:solidFill>
                          <a:latin typeface="Arial"/>
                        </a:rPr>
                        <a:t>swap-in: rejected by score, above cutoff</a:t>
                      </a:r>
                    </a:p>
                  </a:txBody>
                  <a:tcPr>
                    <a:solidFill>
                      <a:srgbClr val="FFFFFF"/>
                    </a:solidFill>
                  </a:tcPr>
                </a:tc>
                <a:tc>
                  <a:txBody>
                    <a:bodyPr/>
                    <a:lstStyle/>
                    <a:p>
                      <a:pPr algn="r"/>
                      <a:r>
                        <a:rPr sz="1150" b="0">
                          <a:solidFill>
                            <a:srgbClr val="5D6D7E"/>
                          </a:solidFill>
                          <a:latin typeface="Arial"/>
                        </a:rPr>
                        <a:t>17.5%</a:t>
                      </a:r>
                    </a:p>
                  </a:txBody>
                  <a:tcPr>
                    <a:solidFill>
                      <a:srgbClr val="FFFFFF"/>
                    </a:solidFill>
                  </a:tcPr>
                </a:tc>
                <a:tc>
                  <a:txBody>
                    <a:bodyPr/>
                    <a:lstStyle/>
                    <a:p>
                      <a:pPr algn="r"/>
                      <a:r>
                        <a:rPr sz="1150" b="0">
                          <a:solidFill>
                            <a:srgbClr val="5D6D7E"/>
                          </a:solidFill>
                          <a:latin typeface="Arial"/>
                        </a:rPr>
                        <a:t>€3.7M</a:t>
                      </a:r>
                    </a:p>
                  </a:txBody>
                  <a:tcPr>
                    <a:solidFill>
                      <a:srgbClr val="FFFFFF"/>
                    </a:solidFill>
                  </a:tcPr>
                </a:tc>
                <a:tc>
                  <a:txBody>
                    <a:bodyPr/>
                    <a:lstStyle/>
                    <a:p>
                      <a:pPr algn="r"/>
                      <a:r>
                        <a:rPr sz="1150" b="0">
                          <a:solidFill>
                            <a:srgbClr val="5D6D7E"/>
                          </a:solidFill>
                          <a:latin typeface="Arial"/>
                        </a:rPr>
                        <a:t>4.1%</a:t>
                      </a:r>
                    </a:p>
                  </a:txBody>
                  <a:tcPr>
                    <a:solidFill>
                      <a:srgbClr val="FFFFFF"/>
                    </a:solidFill>
                  </a:tcPr>
                </a:tc>
              </a:tr>
              <a:tr h="256032">
                <a:tc>
                  <a:txBody>
                    <a:bodyPr/>
                    <a:lstStyle/>
                    <a:p>
                      <a:pPr algn="l"/>
                      <a:r>
                        <a:rPr sz="1150" b="0">
                          <a:solidFill>
                            <a:srgbClr val="5D6D7E"/>
                          </a:solidFill>
                          <a:latin typeface="Arial"/>
                        </a:rPr>
                        <a:t>swap-out: approved today, below cutoff</a:t>
                      </a:r>
                    </a:p>
                  </a:txBody>
                  <a:tcPr>
                    <a:solidFill>
                      <a:srgbClr val="FFFFFF"/>
                    </a:solidFill>
                  </a:tcPr>
                </a:tc>
                <a:tc>
                  <a:txBody>
                    <a:bodyPr/>
                    <a:lstStyle/>
                    <a:p>
                      <a:pPr algn="r"/>
                      <a:r>
                        <a:rPr sz="1150" b="0">
                          <a:solidFill>
                            <a:srgbClr val="5D6D7E"/>
                          </a:solidFill>
                          <a:latin typeface="Arial"/>
                        </a:rPr>
                        <a:t>1.8%</a:t>
                      </a:r>
                    </a:p>
                  </a:txBody>
                  <a:tcPr>
                    <a:solidFill>
                      <a:srgbClr val="FFFFFF"/>
                    </a:solidFill>
                  </a:tcPr>
                </a:tc>
                <a:tc>
                  <a:txBody>
                    <a:bodyPr/>
                    <a:lstStyle/>
                    <a:p>
                      <a:pPr algn="r"/>
                      <a:r>
                        <a:rPr sz="1150" b="0">
                          <a:solidFill>
                            <a:srgbClr val="5D6D7E"/>
                          </a:solidFill>
                          <a:latin typeface="Arial"/>
                        </a:rPr>
                        <a:t>€0.4M</a:t>
                      </a:r>
                    </a:p>
                  </a:txBody>
                  <a:tcPr>
                    <a:solidFill>
                      <a:srgbClr val="FFFFFF"/>
                    </a:solidFill>
                  </a:tcPr>
                </a:tc>
                <a:tc>
                  <a:txBody>
                    <a:bodyPr/>
                    <a:lstStyle/>
                    <a:p>
                      <a:pPr algn="r"/>
                      <a:r>
                        <a:rPr sz="1150" b="0">
                          <a:solidFill>
                            <a:srgbClr val="5D6D7E"/>
                          </a:solidFill>
                          <a:latin typeface="Arial"/>
                        </a:rPr>
                        <a:t>46.7%</a:t>
                      </a:r>
                    </a:p>
                  </a:txBody>
                  <a:tcPr>
                    <a:solidFill>
                      <a:srgbClr val="FFFFFF"/>
                    </a:solidFill>
                  </a:tcPr>
                </a:tc>
              </a:tr>
              <a:tr h="256032">
                <a:tc>
                  <a:txBody>
                    <a:bodyPr/>
                    <a:lstStyle/>
                    <a:p>
                      <a:pPr algn="l"/>
                      <a:r>
                        <a:rPr sz="1150" b="0">
                          <a:solidFill>
                            <a:srgbClr val="5D6D7E"/>
                          </a:solidFill>
                          <a:latin typeface="Arial"/>
                        </a:rPr>
                        <a:t>rejected by both scores (today, and by EFX)</a:t>
                      </a:r>
                    </a:p>
                  </a:txBody>
                  <a:tcPr>
                    <a:solidFill>
                      <a:srgbClr val="FFFFFF"/>
                    </a:solidFill>
                  </a:tcPr>
                </a:tc>
                <a:tc>
                  <a:txBody>
                    <a:bodyPr/>
                    <a:lstStyle/>
                    <a:p>
                      <a:pPr algn="r"/>
                      <a:r>
                        <a:rPr sz="1150" b="0">
                          <a:solidFill>
                            <a:srgbClr val="5D6D7E"/>
                          </a:solidFill>
                          <a:latin typeface="Arial"/>
                        </a:rPr>
                        <a:t>1.7%</a:t>
                      </a:r>
                    </a:p>
                  </a:txBody>
                  <a:tcPr>
                    <a:solidFill>
                      <a:srgbClr val="FFFFFF"/>
                    </a:solidFill>
                  </a:tcPr>
                </a:tc>
                <a:tc>
                  <a:txBody>
                    <a:bodyPr/>
                    <a:lstStyle/>
                    <a:p>
                      <a:pPr algn="r"/>
                      <a:r>
                        <a:rPr sz="1150" b="0">
                          <a:solidFill>
                            <a:srgbClr val="5D6D7E"/>
                          </a:solidFill>
                          <a:latin typeface="Arial"/>
                        </a:rPr>
                        <a:t>€0.4M</a:t>
                      </a:r>
                    </a:p>
                  </a:txBody>
                  <a:tcPr>
                    <a:solidFill>
                      <a:srgbClr val="FFFFFF"/>
                    </a:solidFill>
                  </a:tcPr>
                </a:tc>
                <a:tc>
                  <a:txBody>
                    <a:bodyPr/>
                    <a:lstStyle/>
                    <a:p>
                      <a:pPr algn="r"/>
                      <a:r>
                        <a:rPr sz="1150" b="0">
                          <a:solidFill>
                            <a:srgbClr val="5D6D7E"/>
                          </a:solidFill>
                          <a:latin typeface="Arial"/>
                        </a:rPr>
                        <a:t>41.1%</a:t>
                      </a:r>
                    </a:p>
                  </a:txBody>
                  <a:tcPr>
                    <a:solidFill>
                      <a:srgbClr val="FFFFFF"/>
                    </a:solidFill>
                  </a:tcPr>
                </a:tc>
              </a:tr>
              <a:tr h="256032">
                <a:tc>
                  <a:txBody>
                    <a:bodyPr/>
                    <a:lstStyle/>
                    <a:p>
                      <a:pPr algn="l"/>
                      <a:r>
                        <a:rPr sz="1150" b="0">
                          <a:solidFill>
                            <a:srgbClr val="5D6D7E"/>
                          </a:solidFill>
                          <a:latin typeface="Arial"/>
                        </a:rPr>
                        <a:t>untouched: rejected by other rules</a:t>
                      </a:r>
                    </a:p>
                  </a:txBody>
                  <a:tcPr>
                    <a:solidFill>
                      <a:srgbClr val="FFFFFF"/>
                    </a:solidFill>
                  </a:tcPr>
                </a:tc>
                <a:tc>
                  <a:txBody>
                    <a:bodyPr/>
                    <a:lstStyle/>
                    <a:p>
                      <a:pPr algn="r"/>
                      <a:r>
                        <a:rPr sz="1150" b="0">
                          <a:solidFill>
                            <a:srgbClr val="5D6D7E"/>
                          </a:solidFill>
                          <a:latin typeface="Arial"/>
                        </a:rPr>
                        <a:t>18.3%</a:t>
                      </a:r>
                    </a:p>
                  </a:txBody>
                  <a:tcPr>
                    <a:solidFill>
                      <a:srgbClr val="FFFFFF"/>
                    </a:solidFill>
                  </a:tcPr>
                </a:tc>
                <a:tc>
                  <a:txBody>
                    <a:bodyPr/>
                    <a:lstStyle/>
                    <a:p>
                      <a:pPr algn="r"/>
                      <a:r>
                        <a:rPr sz="1150" b="0">
                          <a:solidFill>
                            <a:srgbClr val="5D6D7E"/>
                          </a:solidFill>
                          <a:latin typeface="Arial"/>
                        </a:rPr>
                        <a:t>€3.9M</a:t>
                      </a:r>
                    </a:p>
                  </a:txBody>
                  <a:tcPr>
                    <a:solidFill>
                      <a:srgbClr val="FFFFFF"/>
                    </a:solidFill>
                  </a:tcPr>
                </a:tc>
                <a:tc>
                  <a:txBody>
                    <a:bodyPr/>
                    <a:lstStyle/>
                    <a:p>
                      <a:pPr algn="r"/>
                      <a:r>
                        <a:rPr sz="1150" b="0">
                          <a:solidFill>
                            <a:srgbClr val="5D6D7E"/>
                          </a:solidFill>
                          <a:latin typeface="Arial"/>
                        </a:rPr>
                        <a:t>7.9%</a:t>
                      </a:r>
                    </a:p>
                  </a:txBody>
                  <a:tcPr>
                    <a:solidFill>
                      <a:srgbClr val="FFFFFF"/>
                    </a:solidFill>
                  </a:tcPr>
                </a:tc>
              </a:tr>
              <a:tr h="256032">
                <a:tc>
                  <a:txBody>
                    <a:bodyPr/>
                    <a:lstStyle/>
                    <a:p>
                      <a:pPr algn="l"/>
                      <a:r>
                        <a:rPr sz="1150" b="0">
                          <a:solidFill>
                            <a:srgbClr val="5D6D7E"/>
                          </a:solidFill>
                          <a:latin typeface="Arial"/>
                        </a:rPr>
                        <a:t>untouched: light assessment, no Equifax call</a:t>
                      </a:r>
                    </a:p>
                  </a:txBody>
                  <a:tcPr>
                    <a:solidFill>
                      <a:srgbClr val="FFFFFF"/>
                    </a:solidFill>
                  </a:tcPr>
                </a:tc>
                <a:tc>
                  <a:txBody>
                    <a:bodyPr/>
                    <a:lstStyle/>
                    <a:p>
                      <a:pPr algn="r"/>
                      <a:r>
                        <a:rPr sz="1150" b="0">
                          <a:solidFill>
                            <a:srgbClr val="5D6D7E"/>
                          </a:solidFill>
                          <a:latin typeface="Arial"/>
                        </a:rPr>
                        <a:t>9.0%</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r>
              <a:tr h="256032">
                <a:tc>
                  <a:txBody>
                    <a:bodyPr/>
                    <a:lstStyle/>
                    <a:p>
                      <a:pPr algn="l"/>
                      <a:r>
                        <a:rPr sz="1150" b="0">
                          <a:solidFill>
                            <a:srgbClr val="5D6D7E"/>
                          </a:solidFill>
                          <a:latin typeface="Arial"/>
                        </a:rPr>
                        <a:t>Accepted by the grid (kept + swap-in)</a:t>
                      </a:r>
                    </a:p>
                  </a:txBody>
                  <a:tcPr>
                    <a:solidFill>
                      <a:srgbClr val="FFFFFF"/>
                    </a:solidFill>
                  </a:tcPr>
                </a:tc>
                <a:tc>
                  <a:txBody>
                    <a:bodyPr/>
                    <a:lstStyle/>
                    <a:p>
                      <a:pPr algn="r"/>
                      <a:r>
                        <a:rPr sz="1150" b="0">
                          <a:solidFill>
                            <a:srgbClr val="5D6D7E"/>
                          </a:solidFill>
                          <a:latin typeface="Arial"/>
                        </a:rPr>
                        <a:t>69.2%</a:t>
                      </a:r>
                    </a:p>
                  </a:txBody>
                  <a:tcPr>
                    <a:solidFill>
                      <a:srgbClr val="FFFFFF"/>
                    </a:solidFill>
                  </a:tcPr>
                </a:tc>
                <a:tc>
                  <a:txBody>
                    <a:bodyPr/>
                    <a:lstStyle/>
                    <a:p>
                      <a:pPr algn="r"/>
                      <a:r>
                        <a:rPr sz="1150" b="0">
                          <a:solidFill>
                            <a:srgbClr val="5D6D7E"/>
                          </a:solidFill>
                          <a:latin typeface="Arial"/>
                        </a:rPr>
                        <a:t>€14.6M</a:t>
                      </a:r>
                    </a:p>
                  </a:txBody>
                  <a:tcPr>
                    <a:solidFill>
                      <a:srgbClr val="FFFFFF"/>
                    </a:solidFill>
                  </a:tcPr>
                </a:tc>
                <a:tc>
                  <a:txBody>
                    <a:bodyPr/>
                    <a:lstStyle/>
                    <a:p>
                      <a:pPr algn="r"/>
                      <a:r>
                        <a:rPr sz="1150" b="0">
                          <a:solidFill>
                            <a:srgbClr val="5D6D7E"/>
                          </a:solidFill>
                          <a:latin typeface="Arial"/>
                        </a:rPr>
                        <a:t>3.52%</a:t>
                      </a:r>
                    </a:p>
                  </a:txBody>
                  <a:tcPr>
                    <a:solidFill>
                      <a:srgbClr val="FFFFFF"/>
                    </a:solidFill>
                  </a:tcPr>
                </a:tc>
              </a:tr>
              <a:tr h="256032">
                <a:tc>
                  <a:txBody>
                    <a:bodyPr/>
                    <a:lstStyle/>
                    <a:p>
                      <a:pPr algn="l"/>
                      <a:r>
                        <a:rPr sz="1150" b="0">
                          <a:solidFill>
                            <a:srgbClr val="5D6D7E"/>
                          </a:solidFill>
                          <a:latin typeface="Arial"/>
                        </a:rPr>
                        <a:t>= monthly run-rate (÷ 1.45 effective months)</a:t>
                      </a:r>
                    </a:p>
                  </a:txBody>
                  <a:tcPr>
                    <a:solidFill>
                      <a:srgbClr val="FFFFFF"/>
                    </a:solidFill>
                  </a:tcPr>
                </a:tc>
                <a:tc>
                  <a:txBody>
                    <a:bodyPr/>
                    <a:lstStyle/>
                    <a:p>
                      <a:pPr algn="r"/>
                    </a:p>
                  </a:txBody>
                  <a:tcPr>
                    <a:solidFill>
                      <a:srgbClr val="FFFFFF"/>
                    </a:solidFill>
                  </a:tcPr>
                </a:tc>
                <a:tc>
                  <a:txBody>
                    <a:bodyPr/>
                    <a:lstStyle/>
                    <a:p>
                      <a:pPr algn="r"/>
                      <a:r>
                        <a:rPr sz="1150" b="0">
                          <a:solidFill>
                            <a:srgbClr val="5D6D7E"/>
                          </a:solidFill>
                          <a:latin typeface="Arial"/>
                        </a:rPr>
                        <a:t>€10.1M/mo</a:t>
                      </a:r>
                    </a:p>
                  </a:txBody>
                  <a:tcPr>
                    <a:solidFill>
                      <a:srgbClr val="FFFFFF"/>
                    </a:solidFill>
                  </a:tcPr>
                </a:tc>
                <a:tc>
                  <a:txBody>
                    <a:bodyPr/>
                    <a:lstStyle/>
                    <a:p>
                      <a:pPr algn="r"/>
                    </a:p>
                  </a:txBody>
                  <a:tcPr>
                    <a:solidFill>
                      <a:srgbClr val="FFFFFF"/>
                    </a:solidFill>
                  </a:tcPr>
                </a:tc>
              </a:tr>
              <a:tr h="256032">
                <a:tc>
                  <a:txBody>
                    <a:bodyPr/>
                    <a:lstStyle/>
                    <a:p>
                      <a:pPr algn="l"/>
                      <a:r>
                        <a:rPr sz="1150" b="0">
                          <a:solidFill>
                            <a:srgbClr val="5D6D7E"/>
                          </a:solidFill>
                          <a:latin typeface="Arial"/>
                        </a:rPr>
                        <a:t>Engine today: approved → booked</a:t>
                      </a:r>
                    </a:p>
                  </a:txBody>
                  <a:tcPr>
                    <a:solidFill>
                      <a:srgbClr val="FFFFFF"/>
                    </a:solidFill>
                  </a:tcPr>
                </a:tc>
                <a:tc>
                  <a:txBody>
                    <a:bodyPr/>
                    <a:lstStyle/>
                    <a:p>
                      <a:pPr algn="r"/>
                      <a:r>
                        <a:rPr sz="1150" b="0">
                          <a:solidFill>
                            <a:srgbClr val="5D6D7E"/>
                          </a:solidFill>
                          <a:latin typeface="Arial"/>
                        </a:rPr>
                        <a:t>53.5%</a:t>
                      </a:r>
                    </a:p>
                  </a:txBody>
                  <a:tcPr>
                    <a:solidFill>
                      <a:srgbClr val="FFFFFF"/>
                    </a:solidFill>
                  </a:tcPr>
                </a:tc>
                <a:tc>
                  <a:txBody>
                    <a:bodyPr/>
                    <a:lstStyle/>
                    <a:p>
                      <a:pPr algn="r"/>
                      <a:r>
                        <a:rPr sz="1150" b="0">
                          <a:solidFill>
                            <a:srgbClr val="5D6D7E"/>
                          </a:solidFill>
                          <a:latin typeface="Arial"/>
                        </a:rPr>
                        <a:t>€11.3M</a:t>
                      </a:r>
                    </a:p>
                  </a:txBody>
                  <a:tcPr>
                    <a:solidFill>
                      <a:srgbClr val="FFFFFF"/>
                    </a:solidFill>
                  </a:tcPr>
                </a:tc>
                <a:tc>
                  <a:txBody>
                    <a:bodyPr/>
                    <a:lstStyle/>
                    <a:p>
                      <a:pPr algn="r"/>
                      <a:r>
                        <a:rPr sz="1150" b="0">
                          <a:solidFill>
                            <a:srgbClr val="5D6D7E"/>
                          </a:solidFill>
                          <a:latin typeface="Arial"/>
                        </a:rPr>
                        <a:t>3.74%</a:t>
                      </a:r>
                    </a:p>
                  </a:txBody>
                  <a:tcPr>
                    <a:solidFill>
                      <a:srgbClr val="FFFFFF"/>
                    </a:solidFill>
                  </a:tcPr>
                </a:tc>
              </a:tr>
            </a:tbl>
          </a:graphicData>
        </a:graphic>
      </p:graphicFrame>
      <p:graphicFrame>
        <p:nvGraphicFramePr>
          <p:cNvPr id="7" name="Table 6"/>
          <p:cNvGraphicFramePr>
            <a:graphicFrameLocks noGrp="1"/>
          </p:cNvGraphicFramePr>
          <p:nvPr/>
        </p:nvGraphicFramePr>
        <p:xfrm>
          <a:off x="7699248" y="1563624"/>
          <a:ext cx="3886198" cy="1865376"/>
        </p:xfrm>
        <a:graphic>
          <a:graphicData uri="http://schemas.openxmlformats.org/drawingml/2006/table">
            <a:tbl>
              <a:tblPr firstRow="1" bandRow="1">
                <a:tableStyleId>{5C22544A-7EE6-4342-B048-85BDC9FD1C3A}</a:tableStyleId>
              </a:tblPr>
              <a:tblGrid>
                <a:gridCol w="1876096"/>
                <a:gridCol w="670034"/>
                <a:gridCol w="670034"/>
                <a:gridCol w="670034"/>
              </a:tblGrid>
              <a:tr h="310896">
                <a:tc>
                  <a:txBody>
                    <a:bodyPr/>
                    <a:lstStyle/>
                    <a:p>
                      <a:pPr algn="l"/>
                      <a:r>
                        <a:rPr sz="1150" b="1">
                          <a:solidFill>
                            <a:srgbClr val="2C3E50"/>
                          </a:solidFill>
                          <a:latin typeface="Arial"/>
                        </a:rPr>
                        <a:t>Monthly run-rate</a:t>
                      </a:r>
                    </a:p>
                  </a:txBody>
                  <a:tcPr>
                    <a:solidFill>
                      <a:srgbClr val="F6F7F9"/>
                    </a:solidFill>
                  </a:tcPr>
                </a:tc>
                <a:tc>
                  <a:txBody>
                    <a:bodyPr/>
                    <a:lstStyle/>
                    <a:p>
                      <a:pPr algn="r"/>
                      <a:r>
                        <a:rPr sz="1150" b="1">
                          <a:solidFill>
                            <a:srgbClr val="2C3E50"/>
                          </a:solidFill>
                          <a:latin typeface="Arial"/>
                        </a:rPr>
                        <a:t>Online</a:t>
                      </a:r>
                    </a:p>
                  </a:txBody>
                  <a:tcPr>
                    <a:solidFill>
                      <a:srgbClr val="F6F7F9"/>
                    </a:solidFill>
                  </a:tcPr>
                </a:tc>
                <a:tc>
                  <a:txBody>
                    <a:bodyPr/>
                    <a:lstStyle/>
                    <a:p>
                      <a:pPr algn="r"/>
                      <a:r>
                        <a:rPr sz="1150" b="1">
                          <a:solidFill>
                            <a:srgbClr val="2C3E50"/>
                          </a:solidFill>
                          <a:latin typeface="Arial"/>
                        </a:rPr>
                        <a:t>Stores</a:t>
                      </a:r>
                    </a:p>
                  </a:txBody>
                  <a:tcPr>
                    <a:solidFill>
                      <a:srgbClr val="F6F7F9"/>
                    </a:solidFill>
                  </a:tcPr>
                </a:tc>
                <a:tc>
                  <a:txBody>
                    <a:bodyPr/>
                    <a:lstStyle/>
                    <a:p>
                      <a:pPr algn="r"/>
                      <a:r>
                        <a:rPr sz="1150" b="1">
                          <a:solidFill>
                            <a:srgbClr val="2C3E50"/>
                          </a:solidFill>
                          <a:latin typeface="Arial"/>
                        </a:rPr>
                        <a:t>Apple</a:t>
                      </a:r>
                    </a:p>
                  </a:txBody>
                  <a:tcPr>
                    <a:solidFill>
                      <a:srgbClr val="F6F7F9"/>
                    </a:solidFill>
                  </a:tcPr>
                </a:tc>
              </a:tr>
              <a:tr h="310896">
                <a:tc>
                  <a:txBody>
                    <a:bodyPr/>
                    <a:lstStyle/>
                    <a:p>
                      <a:pPr algn="l"/>
                      <a:r>
                        <a:rPr sz="1150" b="0">
                          <a:solidFill>
                            <a:srgbClr val="5D6D7E"/>
                          </a:solidFill>
                          <a:latin typeface="Arial"/>
                        </a:rPr>
                        <a:t>Effective months</a:t>
                      </a:r>
                    </a:p>
                  </a:txBody>
                  <a:tcPr>
                    <a:solidFill>
                      <a:srgbClr val="FFFFFF"/>
                    </a:solidFill>
                  </a:tcPr>
                </a:tc>
                <a:tc>
                  <a:txBody>
                    <a:bodyPr/>
                    <a:lstStyle/>
                    <a:p>
                      <a:pPr algn="r"/>
                      <a:r>
                        <a:rPr sz="1150" b="0">
                          <a:solidFill>
                            <a:srgbClr val="5D6D7E"/>
                          </a:solidFill>
                          <a:latin typeface="Arial"/>
                        </a:rPr>
                        <a:t>12.00</a:t>
                      </a:r>
                    </a:p>
                  </a:txBody>
                  <a:tcPr>
                    <a:solidFill>
                      <a:srgbClr val="FFFFFF"/>
                    </a:solidFill>
                  </a:tcPr>
                </a:tc>
                <a:tc>
                  <a:txBody>
                    <a:bodyPr/>
                    <a:lstStyle/>
                    <a:p>
                      <a:pPr algn="r"/>
                      <a:r>
                        <a:rPr sz="1150" b="0">
                          <a:solidFill>
                            <a:srgbClr val="5D6D7E"/>
                          </a:solidFill>
                          <a:latin typeface="Arial"/>
                        </a:rPr>
                        <a:t>1.45</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r>
              <a:tr h="310896">
                <a:tc>
                  <a:txBody>
                    <a:bodyPr/>
                    <a:lstStyle/>
                    <a:p>
                      <a:pPr algn="l"/>
                      <a:r>
                        <a:rPr sz="1150" b="0">
                          <a:solidFill>
                            <a:srgbClr val="5D6D7E"/>
                          </a:solidFill>
                          <a:latin typeface="Arial"/>
                        </a:rPr>
                        <a:t>Demand, €M/mo</a:t>
                      </a:r>
                    </a:p>
                  </a:txBody>
                  <a:tcPr>
                    <a:solidFill>
                      <a:srgbClr val="FFFFFF"/>
                    </a:solidFill>
                  </a:tcPr>
                </a:tc>
                <a:tc>
                  <a:txBody>
                    <a:bodyPr/>
                    <a:lstStyle/>
                    <a:p>
                      <a:pPr algn="r"/>
                      <a:r>
                        <a:rPr sz="1150" b="0">
                          <a:solidFill>
                            <a:srgbClr val="5D6D7E"/>
                          </a:solidFill>
                          <a:latin typeface="Arial"/>
                        </a:rPr>
                        <a:t>40.1</a:t>
                      </a:r>
                    </a:p>
                  </a:txBody>
                  <a:tcPr>
                    <a:solidFill>
                      <a:srgbClr val="FFFFFF"/>
                    </a:solidFill>
                  </a:tcPr>
                </a:tc>
                <a:tc>
                  <a:txBody>
                    <a:bodyPr/>
                    <a:lstStyle/>
                    <a:p>
                      <a:pPr algn="r"/>
                      <a:r>
                        <a:rPr sz="1150" b="0">
                          <a:solidFill>
                            <a:srgbClr val="5D6D7E"/>
                          </a:solidFill>
                          <a:latin typeface="Arial"/>
                        </a:rPr>
                        <a:t>18.1</a:t>
                      </a:r>
                    </a:p>
                  </a:txBody>
                  <a:tcPr>
                    <a:solidFill>
                      <a:srgbClr val="FFFFFF"/>
                    </a:solidFill>
                  </a:tcPr>
                </a:tc>
                <a:tc>
                  <a:txBody>
                    <a:bodyPr/>
                    <a:lstStyle/>
                    <a:p>
                      <a:pPr algn="r"/>
                      <a:r>
                        <a:rPr sz="1150" b="0">
                          <a:solidFill>
                            <a:srgbClr val="5D6D7E"/>
                          </a:solidFill>
                          <a:latin typeface="Arial"/>
                        </a:rPr>
                        <a:t>58.2</a:t>
                      </a:r>
                    </a:p>
                  </a:txBody>
                  <a:tcPr>
                    <a:solidFill>
                      <a:srgbClr val="FFFFFF"/>
                    </a:solidFill>
                  </a:tcPr>
                </a:tc>
              </a:tr>
              <a:tr h="310896">
                <a:tc>
                  <a:txBody>
                    <a:bodyPr/>
                    <a:lstStyle/>
                    <a:p>
                      <a:pPr algn="l"/>
                      <a:r>
                        <a:rPr sz="1150" b="0">
                          <a:solidFill>
                            <a:srgbClr val="5D6D7E"/>
                          </a:solidFill>
                          <a:latin typeface="Arial"/>
                        </a:rPr>
                        <a:t>Exp. production, €M/mo</a:t>
                      </a:r>
                    </a:p>
                  </a:txBody>
                  <a:tcPr>
                    <a:solidFill>
                      <a:srgbClr val="FFFFFF"/>
                    </a:solidFill>
                  </a:tcPr>
                </a:tc>
                <a:tc>
                  <a:txBody>
                    <a:bodyPr/>
                    <a:lstStyle/>
                    <a:p>
                      <a:pPr algn="r"/>
                      <a:r>
                        <a:rPr sz="1150" b="0">
                          <a:solidFill>
                            <a:srgbClr val="5D6D7E"/>
                          </a:solidFill>
                          <a:latin typeface="Arial"/>
                        </a:rPr>
                        <a:t>8.4</a:t>
                      </a:r>
                    </a:p>
                  </a:txBody>
                  <a:tcPr>
                    <a:solidFill>
                      <a:srgbClr val="FFFFFF"/>
                    </a:solidFill>
                  </a:tcPr>
                </a:tc>
                <a:tc>
                  <a:txBody>
                    <a:bodyPr/>
                    <a:lstStyle/>
                    <a:p>
                      <a:pPr algn="r"/>
                      <a:r>
                        <a:rPr sz="1150" b="0">
                          <a:solidFill>
                            <a:srgbClr val="5D6D7E"/>
                          </a:solidFill>
                          <a:latin typeface="Arial"/>
                        </a:rPr>
                        <a:t>10.1</a:t>
                      </a:r>
                    </a:p>
                  </a:txBody>
                  <a:tcPr>
                    <a:solidFill>
                      <a:srgbClr val="FFFFFF"/>
                    </a:solidFill>
                  </a:tcPr>
                </a:tc>
                <a:tc>
                  <a:txBody>
                    <a:bodyPr/>
                    <a:lstStyle/>
                    <a:p>
                      <a:pPr algn="r"/>
                      <a:r>
                        <a:rPr sz="1150" b="0">
                          <a:solidFill>
                            <a:srgbClr val="5D6D7E"/>
                          </a:solidFill>
                          <a:latin typeface="Arial"/>
                        </a:rPr>
                        <a:t>18.5</a:t>
                      </a:r>
                    </a:p>
                  </a:txBody>
                  <a:tcPr>
                    <a:solidFill>
                      <a:srgbClr val="FFFFFF"/>
                    </a:solidFill>
                  </a:tcPr>
                </a:tc>
              </a:tr>
              <a:tr h="310896">
                <a:tc>
                  <a:txBody>
                    <a:bodyPr/>
                    <a:lstStyle/>
                    <a:p>
                      <a:pPr algn="l"/>
                      <a:r>
                        <a:rPr sz="1150" b="0">
                          <a:solidFill>
                            <a:srgbClr val="5D6D7E"/>
                          </a:solidFill>
                          <a:latin typeface="Arial"/>
                        </a:rPr>
                        <a:t>Share of exp. H6 exposure</a:t>
                      </a:r>
                    </a:p>
                  </a:txBody>
                  <a:tcPr>
                    <a:solidFill>
                      <a:srgbClr val="FFFFFF"/>
                    </a:solidFill>
                  </a:tcPr>
                </a:tc>
                <a:tc>
                  <a:txBody>
                    <a:bodyPr/>
                    <a:lstStyle/>
                    <a:p>
                      <a:pPr algn="r"/>
                      <a:r>
                        <a:rPr sz="1150" b="0">
                          <a:solidFill>
                            <a:srgbClr val="5D6D7E"/>
                          </a:solidFill>
                          <a:latin typeface="Arial"/>
                        </a:rPr>
                        <a:t>45%</a:t>
                      </a:r>
                    </a:p>
                  </a:txBody>
                  <a:tcPr>
                    <a:solidFill>
                      <a:srgbClr val="FFFFFF"/>
                    </a:solidFill>
                  </a:tcPr>
                </a:tc>
                <a:tc>
                  <a:txBody>
                    <a:bodyPr/>
                    <a:lstStyle/>
                    <a:p>
                      <a:pPr algn="r"/>
                      <a:r>
                        <a:rPr sz="1150" b="0">
                          <a:solidFill>
                            <a:srgbClr val="5D6D7E"/>
                          </a:solidFill>
                          <a:latin typeface="Arial"/>
                        </a:rPr>
                        <a:t>55%</a:t>
                      </a:r>
                    </a:p>
                  </a:txBody>
                  <a:tcPr>
                    <a:solidFill>
                      <a:srgbClr val="FFFFFF"/>
                    </a:solidFill>
                  </a:tcPr>
                </a:tc>
                <a:tc>
                  <a:txBody>
                    <a:bodyPr/>
                    <a:lstStyle/>
                    <a:p>
                      <a:pPr algn="r"/>
                      <a:r>
                        <a:rPr sz="1150" b="0">
                          <a:solidFill>
                            <a:srgbClr val="5D6D7E"/>
                          </a:solidFill>
                          <a:latin typeface="Arial"/>
                        </a:rPr>
                        <a:t>100%</a:t>
                      </a:r>
                    </a:p>
                  </a:txBody>
                  <a:tcPr>
                    <a:solidFill>
                      <a:srgbClr val="FFFFFF"/>
                    </a:solidFill>
                  </a:tcPr>
                </a:tc>
              </a:tr>
              <a:tr h="310896">
                <a:tc>
                  <a:txBody>
                    <a:bodyPr/>
                    <a:lstStyle/>
                    <a:p>
                      <a:pPr algn="l"/>
                      <a:r>
                        <a:rPr sz="1150" b="0">
                          <a:solidFill>
                            <a:srgbClr val="5D6D7E"/>
                          </a:solidFill>
                          <a:latin typeface="Arial"/>
                        </a:rPr>
                        <a:t>Risk (b2)</a:t>
                      </a:r>
                    </a:p>
                  </a:txBody>
                  <a:tcPr>
                    <a:solidFill>
                      <a:srgbClr val="FFFFFF"/>
                    </a:solidFill>
                  </a:tcPr>
                </a:tc>
                <a:tc>
                  <a:txBody>
                    <a:bodyPr/>
                    <a:lstStyle/>
                    <a:p>
                      <a:pPr algn="r"/>
                      <a:r>
                        <a:rPr sz="1150" b="0">
                          <a:solidFill>
                            <a:srgbClr val="5D6D7E"/>
                          </a:solidFill>
                          <a:latin typeface="Arial"/>
                        </a:rPr>
                        <a:t>4.26%</a:t>
                      </a:r>
                    </a:p>
                  </a:txBody>
                  <a:tcPr>
                    <a:solidFill>
                      <a:srgbClr val="FFFFFF"/>
                    </a:solidFill>
                  </a:tcPr>
                </a:tc>
                <a:tc>
                  <a:txBody>
                    <a:bodyPr/>
                    <a:lstStyle/>
                    <a:p>
                      <a:pPr algn="r"/>
                      <a:r>
                        <a:rPr sz="1150" b="0">
                          <a:solidFill>
                            <a:srgbClr val="5D6D7E"/>
                          </a:solidFill>
                          <a:latin typeface="Arial"/>
                        </a:rPr>
                        <a:t>3.52%</a:t>
                      </a:r>
                    </a:p>
                  </a:txBody>
                  <a:tcPr>
                    <a:solidFill>
                      <a:srgbClr val="FFFFFF"/>
                    </a:solidFill>
                  </a:tcPr>
                </a:tc>
                <a:tc>
                  <a:txBody>
                    <a:bodyPr/>
                    <a:lstStyle/>
                    <a:p>
                      <a:pPr algn="r"/>
                      <a:r>
                        <a:rPr sz="1150" b="0">
                          <a:solidFill>
                            <a:srgbClr val="5D6D7E"/>
                          </a:solidFill>
                          <a:latin typeface="Arial"/>
                        </a:rPr>
                        <a:t>3.85%</a:t>
                      </a:r>
                    </a:p>
                  </a:txBody>
                  <a:tcPr>
                    <a:solidFill>
                      <a:srgbClr val="FFFFFF"/>
                    </a:solidFill>
                  </a:tcPr>
                </a:tc>
              </a:tr>
            </a:tbl>
          </a:graphicData>
        </a:graphic>
      </p:graphicFrame>
      <p:sp>
        <p:nvSpPr>
          <p:cNvPr id="8" name="TextBox 7"/>
          <p:cNvSpPr txBox="1"/>
          <p:nvPr/>
        </p:nvSpPr>
        <p:spPr>
          <a:xfrm>
            <a:off x="7699248" y="3611880"/>
            <a:ext cx="3886200" cy="2194560"/>
          </a:xfrm>
          <a:prstGeom prst="rect">
            <a:avLst/>
          </a:prstGeom>
          <a:noFill/>
        </p:spPr>
        <p:txBody>
          <a:bodyPr wrap="square">
            <a:spAutoFit/>
          </a:bodyPr>
          <a:lstStyle/>
          <a:p>
            <a:pPr algn="l">
              <a:lnSpc>
                <a:spcPct val="120000"/>
              </a:lnSpc>
            </a:pPr>
            <a:r>
              <a:rPr sz="1050" b="0">
                <a:solidFill>
                  <a:srgbClr val="5D6D7E"/>
                </a:solidFill>
                <a:latin typeface="Arial"/>
              </a:rPr>
              <a:t>Window totals become a run-rate by dividing by effective months: €14.6M over Aug–Sep 2026 ÷ 1.45 = €10.1M/mo — not ÷ 2, because Aug and Sep are weak store months (index 0.76 / 0.69). Risk blends by expected H6 exposure, the base of b2: stores are 31% of demand but 55% of exposure, because stores book 80% of what the engine approves and Online 40%. Online's 4.26% carries the reject-inference uplift on its own book (realized 4.18%).</a:t>
            </a:r>
          </a:p>
        </p:txBody>
      </p:sp>
      <p:sp>
        <p:nvSpPr>
          <p:cNvPr id="9" name="TextBox 8"/>
          <p:cNvSpPr txBox="1"/>
          <p:nvPr/>
        </p:nvSpPr>
        <p:spPr>
          <a:xfrm>
            <a:off x="566928" y="4352544"/>
            <a:ext cx="6858000" cy="2139696"/>
          </a:xfrm>
          <a:prstGeom prst="rect">
            <a:avLst/>
          </a:prstGeom>
          <a:noFill/>
        </p:spPr>
        <p:txBody>
          <a:bodyPr wrap="square">
            <a:spAutoFit/>
          </a:bodyPr>
          <a:lstStyle/>
          <a:p>
            <a:pPr>
              <a:spcAft>
                <a:spcPts val="900"/>
              </a:spcAft>
            </a:pPr>
            <a:r>
              <a:rPr sz="1000" b="1">
                <a:solidFill>
                  <a:srgbClr val="2C3E50"/>
                </a:solidFill>
                <a:latin typeface="Arial"/>
              </a:rPr>
              <a:t>1 · Score and bin.  </a:t>
            </a:r>
            <a:r>
              <a:rPr sz="1000">
                <a:solidFill>
                  <a:srgbClr val="5D6D7E"/>
                </a:solidFill>
                <a:latin typeface="Arial"/>
              </a:rPr>
              <a:t>Every application gets its EFX score and one of the 20 bins of the Online curve.</a:t>
            </a:r>
          </a:p>
          <a:p>
            <a:pPr>
              <a:spcAft>
                <a:spcPts val="900"/>
              </a:spcAft>
            </a:pPr>
            <a:r>
              <a:rPr sz="1000" b="1">
                <a:solidFill>
                  <a:srgbClr val="2C3E50"/>
                </a:solidFill>
                <a:latin typeface="Arial"/>
              </a:rPr>
              <a:t>2 · Apply the Online grid.  </a:t>
            </a:r>
            <a:r>
              <a:rPr sz="1000">
                <a:solidFill>
                  <a:srgbClr val="5D6D7E"/>
                </a:solidFill>
                <a:latin typeface="Arial"/>
              </a:rPr>
              <a:t>Accepted if above its group's reject threshold and not rejected by another rule — only the score rule is swapped; the engine's other rules stay.</a:t>
            </a:r>
          </a:p>
          <a:p>
            <a:pPr>
              <a:spcAft>
                <a:spcPts val="900"/>
              </a:spcAft>
            </a:pPr>
            <a:r>
              <a:rPr sz="1000" b="1">
                <a:solidFill>
                  <a:srgbClr val="2C3E50"/>
                </a:solidFill>
                <a:latin typeface="Arial"/>
              </a:rPr>
              <a:t>3 · Expected production.  </a:t>
            </a:r>
            <a:r>
              <a:rPr sz="1000">
                <a:solidFill>
                  <a:srgbClr val="5D6D7E"/>
                </a:solidFill>
                <a:latin typeface="Arial"/>
              </a:rPr>
              <a:t>€ applied for × the actual take-up of its engine decision (stores: approved 82%, referred 18%); cancellations are assumed to behave as today.</a:t>
            </a:r>
          </a:p>
          <a:p>
            <a:pPr>
              <a:spcAft>
                <a:spcPts val="900"/>
              </a:spcAft>
            </a:pPr>
            <a:r>
              <a:rPr sz="1000" b="1">
                <a:solidFill>
                  <a:srgbClr val="2C3E50"/>
                </a:solidFill>
                <a:latin typeface="Arial"/>
              </a:rPr>
              <a:t>4 · Impute risk.  </a:t>
            </a:r>
            <a:r>
              <a:rPr sz="1000">
                <a:solidFill>
                  <a:srgbClr val="5D6D7E"/>
                </a:solidFill>
                <a:latin typeface="Arial"/>
              </a:rPr>
              <a:t>Each accepted € takes its bin's Online risk (reject-inference blended), weighted by expected H6 exposure; the level is rescaled by 0.953 so that today's store book reproduces its realized 3.74%.</a:t>
            </a:r>
          </a:p>
          <a:p>
            <a:pPr>
              <a:spcAft>
                <a:spcPts val="900"/>
              </a:spcAft>
            </a:pPr>
            <a:r>
              <a:rPr sz="1000" b="1">
                <a:solidFill>
                  <a:srgbClr val="2C3E50"/>
                </a:solidFill>
                <a:latin typeface="Arial"/>
              </a:rPr>
              <a:t>5 · What the grid leaves out.  </a:t>
            </a:r>
            <a:r>
              <a:rPr sz="1000">
                <a:solidFill>
                  <a:srgbClr val="5D6D7E"/>
                </a:solidFill>
                <a:latin typeface="Arial"/>
              </a:rPr>
              <a:t>The swap-out is 1.8% of demand with 47% imputed risk (median EFX 19): the octroi's weakest approvals. The swap-in brings 17.5% of demand at 4.1%. Light-assessment rejections (9.0% of demand) never reach the grid: no Equifax call, no score.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SEASONALITY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months are annualised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The problem: stores only have the score for Aug–Sep 2026</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The EFX score went live in stores in Aug 2026. Comparing 2 months on their own against a twelve-month average requires knowing what each month is worth.</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August and September: no average month, and each channel has its own</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Index for Aug and Sep: 0.49 / 2.03 in Online and 0.76 / 0.69 in stores. Online concentrates demand around the iPhone launch (Sep 2.03) and stores around Christmas (Dec 1.70). The correlation between the two profiles is 0.39: not the same pattern.</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Effective months instead of calendar months</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The run-rate is divided not by the number of months but by the sum of the seasonal index over the months covered. A full calendar year sums to 12.00 and changes nothing; the stores window (Aug–Sep 2026) sums to 1.45 and corrects for falling in weak store months.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 on stores' weight in Apple Total</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Uncorrected, stores appeared to be 25% of demand. With their own seasonality they are 31%. Had Online's profile been applied —the only option before stores' history was available— we would have said 21%, and every scenario would show less production than there really is.</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The index averages complete calendar years, so year-on-year volume growth is not mistaken for seasonality. What remains open is whether the Aug–Sep 2026 mix in stores is representative of the year.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THE ENGINE OF THE STUDY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EFX score ranks risk in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rve.png"/>
          <p:cNvPicPr>
            <a:picLocks noChangeAspect="1"/>
          </p:cNvPicPr>
          <p:nvPr/>
        </p:nvPicPr>
        <p:blipFill>
          <a:blip r:embed="rId2"/>
          <a:stretch>
            <a:fillRect/>
          </a:stretch>
        </p:blipFill>
        <p:spPr>
          <a:xfrm>
            <a:off x="1827620" y="1563624"/>
            <a:ext cx="8536454"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The risk curve by bin is the only measured piece of the study. Everything else —store risk, the scenarios— derives from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BREAKDOWN BY SEGMENT</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Where the stores improvement comes from</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segments.png"/>
          <p:cNvPicPr>
            <a:picLocks noChangeAspect="1"/>
          </p:cNvPicPr>
          <p:nvPr/>
        </p:nvPicPr>
        <p:blipFill>
          <a:blip r:embed="rId2"/>
          <a:stretch>
            <a:fillRect/>
          </a:stretch>
        </p:blipFill>
        <p:spPr>
          <a:xfrm>
            <a:off x="648653" y="1563624"/>
            <a:ext cx="10894388"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'New' is 78% of store demand and where risk falls. '&gt;=G' is absent: it is always rejected, so it has neither approval nor risk.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ANNUALISATION</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two channels do not share a seasonality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asonality.png"/>
          <p:cNvPicPr>
            <a:picLocks noChangeAspect="1"/>
          </p:cNvPicPr>
          <p:nvPr/>
        </p:nvPicPr>
        <p:blipFill>
          <a:blip r:embed="rId2"/>
          <a:stretch>
            <a:fillRect/>
          </a:stretch>
        </p:blipFill>
        <p:spPr>
          <a:xfrm>
            <a:off x="1296112" y="1563624"/>
            <a:ext cx="959947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Stores only have the score for Aug–Sep 2026, so their weight in Apple depends on how it is annualised. Stores peak in December and September is their weakest month, the opposite of Online: using Online's curve would have cut their weight to 21% when with their own seasonality it is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LIMITATIONS AND NEXT STEPS</a:t>
            </a:r>
          </a:p>
        </p:txBody>
      </p:sp>
      <p:sp>
        <p:nvSpPr>
          <p:cNvPr id="3" name="TextBox 2"/>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is missing and what needs deciding</a:t>
            </a:r>
          </a:p>
        </p:txBody>
      </p:sp>
      <p:sp>
        <p:nvSpPr>
          <p:cNvPr id="4" name="Rectangle 3"/>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63624"/>
            <a:ext cx="5394960" cy="365760"/>
          </a:xfrm>
          <a:prstGeom prst="rect">
            <a:avLst/>
          </a:prstGeom>
          <a:noFill/>
        </p:spPr>
        <p:txBody>
          <a:bodyPr wrap="square">
            <a:spAutoFit/>
          </a:bodyPr>
          <a:lstStyle/>
          <a:p>
            <a:pPr algn="l">
              <a:lnSpc>
                <a:spcPct val="100000"/>
              </a:lnSpc>
            </a:pPr>
            <a:r>
              <a:rPr sz="1500" b="1">
                <a:solidFill>
                  <a:srgbClr val="E74C3C"/>
                </a:solidFill>
                <a:latin typeface="Arial"/>
              </a:rPr>
              <a:t>Study limitations</a:t>
            </a:r>
          </a:p>
        </p:txBody>
      </p:sp>
      <p:sp>
        <p:nvSpPr>
          <p:cNvPr id="6" name="TextBox 5"/>
          <p:cNvSpPr txBox="1"/>
          <p:nvPr/>
        </p:nvSpPr>
        <p:spPr>
          <a:xfrm>
            <a:off x="566928" y="2020824"/>
            <a:ext cx="5394960" cy="4471416"/>
          </a:xfrm>
          <a:prstGeom prst="rect">
            <a:avLst/>
          </a:prstGeom>
          <a:noFill/>
        </p:spPr>
        <p:txBody>
          <a:bodyPr wrap="square">
            <a:spAutoFit/>
          </a:bodyPr>
          <a:lstStyle/>
          <a:p>
            <a:pPr>
              <a:spcAft>
                <a:spcPts val="900"/>
              </a:spcAft>
            </a:pPr>
            <a:r>
              <a:rPr sz="1200" b="1">
                <a:solidFill>
                  <a:srgbClr val="2C3E50"/>
                </a:solidFill>
                <a:latin typeface="Arial"/>
              </a:rPr>
              <a:t>Store risk is estimated.  </a:t>
            </a:r>
            <a:r>
              <a:rPr sz="1200">
                <a:solidFill>
                  <a:srgbClr val="5D6D7E"/>
                </a:solidFill>
                <a:latin typeface="Arial"/>
              </a:rPr>
              <a:t>Store contracts with EFX are 0–2 months old and have no observable performance yet. H3 around Dec 2026, H6 around Mar 2027.</a:t>
            </a:r>
          </a:p>
          <a:p>
            <a:pPr>
              <a:spcAft>
                <a:spcPts val="900"/>
              </a:spcAft>
            </a:pPr>
            <a:r>
              <a:rPr sz="1200" b="1">
                <a:solidFill>
                  <a:srgbClr val="2C3E50"/>
                </a:solidFill>
                <a:latin typeface="Arial"/>
              </a:rPr>
              <a:t>Conditional comparison.  </a:t>
            </a:r>
            <a:r>
              <a:rPr sz="1200">
                <a:solidFill>
                  <a:srgbClr val="5D6D7E"/>
                </a:solidFill>
                <a:latin typeface="Arial"/>
              </a:rPr>
              <a:t>The internal score and EFX are compared with EFX's yardstick. It does not prove EFX is better in stores: it assumes it. What is checked is the risk level, not the ranking power.</a:t>
            </a:r>
          </a:p>
          <a:p>
            <a:pPr>
              <a:spcAft>
                <a:spcPts val="900"/>
              </a:spcAft>
            </a:pPr>
            <a:r>
              <a:rPr sz="1200" b="1">
                <a:solidFill>
                  <a:srgbClr val="2C3E50"/>
                </a:solidFill>
                <a:latin typeface="Arial"/>
              </a:rPr>
              <a:t>Weak low bins.  </a:t>
            </a:r>
            <a:r>
              <a:rPr sz="1200">
                <a:solidFill>
                  <a:srgbClr val="5D6D7E"/>
                </a:solidFill>
                <a:latin typeface="Arial"/>
              </a:rPr>
              <a:t>Bins 1-5 carry under 0.5% of production each, and that is where the selection uplift weighs most (2.5x). They are the ones that open the loosest scenario.</a:t>
            </a:r>
          </a:p>
          <a:p>
            <a:pPr>
              <a:spcAft>
                <a:spcPts val="900"/>
              </a:spcAft>
            </a:pPr>
            <a:r>
              <a:rPr sz="1200" b="1">
                <a:solidFill>
                  <a:srgbClr val="2C3E50"/>
                </a:solidFill>
                <a:latin typeface="Arial"/>
              </a:rPr>
              <a:t>Only Aug–Sep 2026 in stores.  </a:t>
            </a:r>
            <a:r>
              <a:rPr sz="1200">
                <a:solidFill>
                  <a:srgbClr val="5D6D7E"/>
                </a:solidFill>
                <a:latin typeface="Arial"/>
              </a:rPr>
              <a:t>Their own seasonality is already measured, but a 2-month mix may not be representative, and store demand runs 40% above the average of the 'today' window: part of the improvement versus what was measured is volume, not grid.</a:t>
            </a:r>
          </a:p>
        </p:txBody>
      </p:sp>
      <p:sp>
        <p:nvSpPr>
          <p:cNvPr id="7" name="TextBox 6"/>
          <p:cNvSpPr txBox="1"/>
          <p:nvPr/>
        </p:nvSpPr>
        <p:spPr>
          <a:xfrm>
            <a:off x="6327648" y="1563624"/>
            <a:ext cx="5394960" cy="365760"/>
          </a:xfrm>
          <a:prstGeom prst="rect">
            <a:avLst/>
          </a:prstGeom>
          <a:noFill/>
        </p:spPr>
        <p:txBody>
          <a:bodyPr wrap="square">
            <a:spAutoFit/>
          </a:bodyPr>
          <a:lstStyle/>
          <a:p>
            <a:pPr algn="l">
              <a:lnSpc>
                <a:spcPct val="100000"/>
              </a:lnSpc>
            </a:pPr>
            <a:r>
              <a:rPr sz="1500" b="1">
                <a:solidFill>
                  <a:srgbClr val="3498DB"/>
                </a:solidFill>
                <a:latin typeface="Arial"/>
              </a:rPr>
              <a:t>Next steps</a:t>
            </a:r>
          </a:p>
        </p:txBody>
      </p:sp>
      <p:sp>
        <p:nvSpPr>
          <p:cNvPr id="8" name="TextBox 7"/>
          <p:cNvSpPr txBox="1"/>
          <p:nvPr/>
        </p:nvSpPr>
        <p:spPr>
          <a:xfrm>
            <a:off x="6327648" y="2020824"/>
            <a:ext cx="5394960" cy="4471416"/>
          </a:xfrm>
          <a:prstGeom prst="rect">
            <a:avLst/>
          </a:prstGeom>
          <a:noFill/>
        </p:spPr>
        <p:txBody>
          <a:bodyPr wrap="square">
            <a:spAutoFit/>
          </a:bodyPr>
          <a:lstStyle/>
          <a:p>
            <a:pPr>
              <a:spcAft>
                <a:spcPts val="900"/>
              </a:spcAft>
            </a:pPr>
            <a:r>
              <a:rPr sz="1200" b="1">
                <a:solidFill>
                  <a:srgbClr val="2C3E50"/>
                </a:solidFill>
                <a:latin typeface="Arial"/>
              </a:rPr>
              <a:t>Extraction.  </a:t>
            </a:r>
            <a:r>
              <a:rPr sz="1200">
                <a:solidFill>
                  <a:srgbClr val="5D6D7E"/>
                </a:solidFill>
                <a:latin typeface="Arial"/>
              </a:rPr>
              <a:t>Refresh Online through Sep 2026, EFX score in stores and their performance history to anchor the risk level.</a:t>
            </a:r>
          </a:p>
          <a:p>
            <a:pPr>
              <a:spcAft>
                <a:spcPts val="900"/>
              </a:spcAft>
            </a:pPr>
            <a:r>
              <a:rPr sz="1200" b="1">
                <a:solidFill>
                  <a:srgbClr val="2C3E50"/>
                </a:solidFill>
                <a:latin typeface="Arial"/>
              </a:rPr>
              <a:t>Business decision.  </a:t>
            </a:r>
            <a:r>
              <a:rPr sz="1200">
                <a:solidFill>
                  <a:srgbClr val="5D6D7E"/>
                </a:solidFill>
                <a:latin typeface="Arial"/>
              </a:rPr>
              <a:t>Global risk target, and whether the cutoff is single or by segment.</a:t>
            </a:r>
          </a:p>
          <a:p>
            <a:pPr>
              <a:spcAft>
                <a:spcPts val="900"/>
              </a:spcAft>
            </a:pPr>
            <a:r>
              <a:rPr sz="1200" b="1">
                <a:solidFill>
                  <a:srgbClr val="2C3E50"/>
                </a:solidFill>
                <a:latin typeface="Arial"/>
              </a:rPr>
              <a:t>Validation.  </a:t>
            </a:r>
            <a:r>
              <a:rPr sz="1200">
                <a:solidFill>
                  <a:srgbClr val="5D6D7E"/>
                </a:solidFill>
                <a:latin typeface="Arial"/>
              </a:rPr>
              <a:t>Rerun with the full pipeline: reject inference, confidence intervals and swap-in / swap-out audit.</a:t>
            </a:r>
          </a:p>
          <a:p>
            <a:pPr>
              <a:spcAft>
                <a:spcPts val="900"/>
              </a:spcAft>
            </a:pPr>
            <a:r>
              <a:rPr sz="1200" b="1">
                <a:solidFill>
                  <a:srgbClr val="2C3E50"/>
                </a:solidFill>
                <a:latin typeface="Arial"/>
              </a:rPr>
              <a:t>Measurement.  </a:t>
            </a:r>
            <a:r>
              <a:rPr sz="1200">
                <a:solidFill>
                  <a:srgbClr val="5D6D7E"/>
                </a:solidFill>
                <a:latin typeface="Arial"/>
              </a:rPr>
              <a:t>Review in Dec 2026 with H3 and in Mar 2027 with actual store H6.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