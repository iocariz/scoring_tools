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737360"/>
            <a:ext cx="11057839" cy="365760"/>
          </a:xfrm>
          <a:prstGeom prst="rect">
            <a:avLst/>
          </a:prstGeom>
          <a:noFill/>
        </p:spPr>
        <p:txBody>
          <a:bodyPr wrap="square">
            <a:spAutoFit/>
          </a:bodyPr>
          <a:lstStyle/>
          <a:p>
            <a:pPr algn="l">
              <a:lnSpc>
                <a:spcPct val="100000"/>
              </a:lnSpc>
            </a:pPr>
            <a:r>
              <a:rPr sz="1300" b="1">
                <a:solidFill>
                  <a:srgbClr val="3498DB"/>
                </a:solidFill>
                <a:latin typeface="Arial"/>
              </a:rPr>
              <a:t>RISK STUDY · APPLE</a:t>
            </a:r>
          </a:p>
        </p:txBody>
      </p:sp>
      <p:sp>
        <p:nvSpPr>
          <p:cNvPr id="4" name="TextBox 3"/>
          <p:cNvSpPr txBox="1"/>
          <p:nvPr/>
        </p:nvSpPr>
        <p:spPr>
          <a:xfrm>
            <a:off x="566928" y="2148840"/>
            <a:ext cx="11057839" cy="1371600"/>
          </a:xfrm>
          <a:prstGeom prst="rect">
            <a:avLst/>
          </a:prstGeom>
          <a:noFill/>
        </p:spPr>
        <p:txBody>
          <a:bodyPr wrap="square">
            <a:spAutoFit/>
          </a:bodyPr>
          <a:lstStyle/>
          <a:p>
            <a:pPr algn="l">
              <a:lnSpc>
                <a:spcPct val="105000"/>
              </a:lnSpc>
            </a:pPr>
            <a:r>
              <a:rPr sz="4000" b="1">
                <a:solidFill>
                  <a:srgbClr val="2C3E50"/>
                </a:solidFill>
                <a:latin typeface="Arial"/>
              </a:rPr>
              <a:t>Extending the Equifax score</a:t>
            </a:r>
          </a:p>
          <a:p>
            <a:pPr algn="l">
              <a:lnSpc>
                <a:spcPct val="105000"/>
              </a:lnSpc>
            </a:pPr>
            <a:r>
              <a:rPr sz="4000" b="1">
                <a:solidFill>
                  <a:srgbClr val="2C3E50"/>
                </a:solidFill>
                <a:latin typeface="Arial"/>
              </a:rPr>
              <a:t>from e-commerce to stores</a:t>
            </a:r>
          </a:p>
        </p:txBody>
      </p:sp>
      <p:sp>
        <p:nvSpPr>
          <p:cNvPr id="5" name="TextBox 4"/>
          <p:cNvSpPr txBox="1"/>
          <p:nvPr/>
        </p:nvSpPr>
        <p:spPr>
          <a:xfrm>
            <a:off x="566928" y="3886200"/>
            <a:ext cx="7863840" cy="1097280"/>
          </a:xfrm>
          <a:prstGeom prst="rect">
            <a:avLst/>
          </a:prstGeom>
          <a:noFill/>
        </p:spPr>
        <p:txBody>
          <a:bodyPr wrap="square">
            <a:spAutoFit/>
          </a:bodyPr>
          <a:lstStyle/>
          <a:p>
            <a:pPr algn="l">
              <a:lnSpc>
                <a:spcPct val="125000"/>
              </a:lnSpc>
            </a:pPr>
            <a:r>
              <a:rPr sz="1500" b="0">
                <a:solidFill>
                  <a:srgbClr val="5D6D7E"/>
                </a:solidFill>
                <a:latin typeface="Arial"/>
              </a:rPr>
              <a:t>Applying the Apple Online grid to Apple Stores gains acceptance and lowers risk at the same time. Store risk is still an estimate, but its level is now anchored to the delinquency stores have actually had: the only assumption left is that the score ranks the same way, not how much risk there is.</a:t>
            </a:r>
          </a:p>
        </p:txBody>
      </p:sp>
      <p:sp>
        <p:nvSpPr>
          <p:cNvPr id="6" name="TextBox 5"/>
          <p:cNvSpPr txBox="1"/>
          <p:nvPr/>
        </p:nvSpPr>
        <p:spPr>
          <a:xfrm>
            <a:off x="566928" y="5852160"/>
            <a:ext cx="11057839" cy="365760"/>
          </a:xfrm>
          <a:prstGeom prst="rect">
            <a:avLst/>
          </a:prstGeom>
          <a:noFill/>
        </p:spPr>
        <p:txBody>
          <a:bodyPr wrap="square">
            <a:spAutoFit/>
          </a:bodyPr>
          <a:lstStyle/>
          <a:p>
            <a:pPr algn="l">
              <a:lnSpc>
                <a:spcPct val="100000"/>
              </a:lnSpc>
            </a:pPr>
            <a:r>
              <a:rPr sz="1100" b="0">
                <a:solidFill>
                  <a:srgbClr val="5D6D7E"/>
                </a:solidFill>
                <a:latin typeface="Arial"/>
              </a:rPr>
              <a:t>Risk  ·  14 Oct 2026  ·  scope: Apple Propio (own channel, no APRS)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EXECUTIVE SUMMARY</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 2025 – Feb 2026  ·  stores Aug–Sep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What the study says</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Apple Online realized risk</a:t>
            </a:r>
          </a:p>
        </p:txBody>
      </p:sp>
      <p:sp>
        <p:nvSpPr>
          <p:cNvPr id="8" name="TextBox 7"/>
          <p:cNvSpPr txBox="1"/>
          <p:nvPr/>
        </p:nvSpPr>
        <p:spPr>
          <a:xfrm>
            <a:off x="731520" y="1984248"/>
            <a:ext cx="2432304" cy="566928"/>
          </a:xfrm>
          <a:prstGeom prst="rect">
            <a:avLst/>
          </a:prstGeom>
          <a:noFill/>
        </p:spPr>
        <p:txBody>
          <a:bodyPr wrap="square">
            <a:spAutoFit/>
          </a:bodyPr>
          <a:lstStyle/>
          <a:p>
            <a:pPr algn="l">
              <a:lnSpc>
                <a:spcPct val="100000"/>
              </a:lnSpc>
            </a:pPr>
            <a:r>
              <a:rPr sz="3000" b="1">
                <a:solidFill>
                  <a:srgbClr val="E74C3C"/>
                </a:solidFill>
                <a:latin typeface="Arial"/>
              </a:rPr>
              <a:t>4.18%</a:t>
            </a:r>
          </a:p>
        </p:txBody>
      </p:sp>
      <p:sp>
        <p:nvSpPr>
          <p:cNvPr id="9" name="TextBox 8"/>
          <p:cNvSpPr txBox="1"/>
          <p:nvPr/>
        </p:nvSpPr>
        <p:spPr>
          <a:xfrm>
            <a:off x="73152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measured on the mature book</a:t>
            </a:r>
          </a:p>
        </p:txBody>
      </p:sp>
      <p:sp>
        <p:nvSpPr>
          <p:cNvPr id="10" name="Rectangle 9"/>
          <p:cNvSpPr/>
          <p:nvPr/>
        </p:nvSpPr>
        <p:spPr>
          <a:xfrm>
            <a:off x="349300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Online acceptance rate</a:t>
            </a:r>
          </a:p>
        </p:txBody>
      </p:sp>
      <p:sp>
        <p:nvSpPr>
          <p:cNvPr id="12" name="TextBox 11"/>
          <p:cNvSpPr txBox="1"/>
          <p:nvPr/>
        </p:nvSpPr>
        <p:spPr>
          <a:xfrm>
            <a:off x="3657600" y="1984248"/>
            <a:ext cx="2432304" cy="566928"/>
          </a:xfrm>
          <a:prstGeom prst="rect">
            <a:avLst/>
          </a:prstGeom>
          <a:noFill/>
        </p:spPr>
        <p:txBody>
          <a:bodyPr wrap="square">
            <a:spAutoFit/>
          </a:bodyPr>
          <a:lstStyle/>
          <a:p>
            <a:pPr algn="l">
              <a:lnSpc>
                <a:spcPct val="100000"/>
              </a:lnSpc>
            </a:pPr>
            <a:r>
              <a:rPr sz="3000" b="1">
                <a:solidFill>
                  <a:srgbClr val="2C3E50"/>
                </a:solidFill>
                <a:latin typeface="Arial"/>
              </a:rPr>
              <a:t>20.9%</a:t>
            </a:r>
          </a:p>
        </p:txBody>
      </p:sp>
      <p:sp>
        <p:nvSpPr>
          <p:cNvPr id="13" name="TextBox 12"/>
          <p:cNvSpPr txBox="1"/>
          <p:nvPr/>
        </p:nvSpPr>
        <p:spPr>
          <a:xfrm>
            <a:off x="365760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on € demand</a:t>
            </a:r>
          </a:p>
        </p:txBody>
      </p:sp>
      <p:sp>
        <p:nvSpPr>
          <p:cNvPr id="14" name="Rectangle 13"/>
          <p:cNvSpPr/>
          <p:nvPr/>
        </p:nvSpPr>
        <p:spPr>
          <a:xfrm>
            <a:off x="641908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Stores with the EFX grid</a:t>
            </a:r>
          </a:p>
        </p:txBody>
      </p:sp>
      <p:sp>
        <p:nvSpPr>
          <p:cNvPr id="16" name="TextBox 15"/>
          <p:cNvSpPr txBox="1"/>
          <p:nvPr/>
        </p:nvSpPr>
        <p:spPr>
          <a:xfrm>
            <a:off x="6583680" y="1984248"/>
            <a:ext cx="2432304" cy="566928"/>
          </a:xfrm>
          <a:prstGeom prst="rect">
            <a:avLst/>
          </a:prstGeom>
          <a:noFill/>
        </p:spPr>
        <p:txBody>
          <a:bodyPr wrap="square">
            <a:spAutoFit/>
          </a:bodyPr>
          <a:lstStyle/>
          <a:p>
            <a:pPr algn="l">
              <a:lnSpc>
                <a:spcPct val="100000"/>
              </a:lnSpc>
            </a:pPr>
            <a:r>
              <a:rPr sz="3000" b="1">
                <a:solidFill>
                  <a:srgbClr val="3498DB"/>
                </a:solidFill>
                <a:latin typeface="Arial"/>
              </a:rPr>
              <a:t>61.2%</a:t>
            </a:r>
          </a:p>
        </p:txBody>
      </p:sp>
      <p:sp>
        <p:nvSpPr>
          <p:cNvPr id="17" name="TextBox 16"/>
          <p:cNvSpPr txBox="1"/>
          <p:nvPr/>
        </p:nvSpPr>
        <p:spPr>
          <a:xfrm>
            <a:off x="658368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acceptance, from 47.2% today</a:t>
            </a:r>
          </a:p>
        </p:txBody>
      </p:sp>
      <p:sp>
        <p:nvSpPr>
          <p:cNvPr id="18" name="Rectangle 17"/>
          <p:cNvSpPr/>
          <p:nvPr/>
        </p:nvSpPr>
        <p:spPr>
          <a:xfrm>
            <a:off x="934516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Stores imputed risk</a:t>
            </a:r>
          </a:p>
        </p:txBody>
      </p:sp>
      <p:sp>
        <p:nvSpPr>
          <p:cNvPr id="20" name="TextBox 19"/>
          <p:cNvSpPr txBox="1"/>
          <p:nvPr/>
        </p:nvSpPr>
        <p:spPr>
          <a:xfrm>
            <a:off x="9509760" y="1984248"/>
            <a:ext cx="2432304" cy="566928"/>
          </a:xfrm>
          <a:prstGeom prst="rect">
            <a:avLst/>
          </a:prstGeom>
          <a:noFill/>
        </p:spPr>
        <p:txBody>
          <a:bodyPr wrap="square">
            <a:spAutoFit/>
          </a:bodyPr>
          <a:lstStyle/>
          <a:p>
            <a:pPr algn="l">
              <a:lnSpc>
                <a:spcPct val="100000"/>
              </a:lnSpc>
            </a:pPr>
            <a:r>
              <a:rPr sz="3000" b="1">
                <a:solidFill>
                  <a:srgbClr val="3498DB"/>
                </a:solidFill>
                <a:latin typeface="Arial"/>
              </a:rPr>
              <a:t>3.51%</a:t>
            </a:r>
          </a:p>
        </p:txBody>
      </p:sp>
      <p:sp>
        <p:nvSpPr>
          <p:cNvPr id="21" name="TextBox 20"/>
          <p:cNvSpPr txBox="1"/>
          <p:nvPr/>
        </p:nvSpPr>
        <p:spPr>
          <a:xfrm>
            <a:off x="950976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from 3.74% today</a:t>
            </a:r>
          </a:p>
        </p:txBody>
      </p:sp>
      <p:sp>
        <p:nvSpPr>
          <p:cNvPr id="22" name="TextBox 21"/>
          <p:cNvSpPr txBox="1"/>
          <p:nvPr/>
        </p:nvSpPr>
        <p:spPr>
          <a:xfrm>
            <a:off x="566928" y="3346704"/>
            <a:ext cx="5623560" cy="365760"/>
          </a:xfrm>
          <a:prstGeom prst="rect">
            <a:avLst/>
          </a:prstGeom>
          <a:noFill/>
        </p:spPr>
        <p:txBody>
          <a:bodyPr wrap="square">
            <a:spAutoFit/>
          </a:bodyPr>
          <a:lstStyle/>
          <a:p>
            <a:pPr algn="l">
              <a:lnSpc>
                <a:spcPct val="100000"/>
              </a:lnSpc>
            </a:pPr>
            <a:r>
              <a:rPr sz="1500" b="1">
                <a:solidFill>
                  <a:srgbClr val="2C3E50"/>
                </a:solidFill>
                <a:latin typeface="Arial"/>
              </a:rPr>
              <a:t>Global Apple risk scenarios</a:t>
            </a:r>
          </a:p>
        </p:txBody>
      </p:sp>
      <p:graphicFrame>
        <p:nvGraphicFramePr>
          <p:cNvPr id="23" name="Table 22"/>
          <p:cNvGraphicFramePr>
            <a:graphicFrameLocks noGrp="1"/>
          </p:cNvGraphicFramePr>
          <p:nvPr/>
        </p:nvGraphicFramePr>
        <p:xfrm>
          <a:off x="566928" y="3758184"/>
          <a:ext cx="5623558" cy="1920240"/>
        </p:xfrm>
        <a:graphic>
          <a:graphicData uri="http://schemas.openxmlformats.org/drawingml/2006/table">
            <a:tbl>
              <a:tblPr firstRow="1" bandRow="1">
                <a:tableStyleId>{5C22544A-7EE6-4342-B048-85BDC9FD1C3A}</a:tableStyleId>
              </a:tblPr>
              <a:tblGrid>
                <a:gridCol w="2361895"/>
                <a:gridCol w="1012240"/>
                <a:gridCol w="1012240"/>
                <a:gridCol w="1237183"/>
              </a:tblGrid>
              <a:tr h="274320">
                <a:tc>
                  <a:txBody>
                    <a:bodyPr/>
                    <a:lstStyle/>
                    <a:p>
                      <a:pPr algn="l"/>
                      <a:r>
                        <a:rPr sz="1150" b="1">
                          <a:solidFill>
                            <a:srgbClr val="2C3E50"/>
                          </a:solidFill>
                          <a:latin typeface="Arial"/>
                        </a:rPr>
                        <a:t>Scenario</a:t>
                      </a:r>
                    </a:p>
                  </a:txBody>
                  <a:tcPr>
                    <a:solidFill>
                      <a:srgbClr val="F6F7F9"/>
                    </a:solidFill>
                  </a:tcPr>
                </a:tc>
                <a:tc>
                  <a:txBody>
                    <a:bodyPr/>
                    <a:lstStyle/>
                    <a:p>
                      <a:pPr algn="r"/>
                      <a:r>
                        <a:rPr sz="1150" b="1">
                          <a:solidFill>
                            <a:srgbClr val="2C3E50"/>
                          </a:solidFill>
                          <a:latin typeface="Arial"/>
                        </a:rPr>
                        <a:t>Cutoff</a:t>
                      </a:r>
                    </a:p>
                  </a:txBody>
                  <a:tcPr>
                    <a:solidFill>
                      <a:srgbClr val="F6F7F9"/>
                    </a:solidFill>
                  </a:tcPr>
                </a:tc>
                <a:tc>
                  <a:txBody>
                    <a:bodyPr/>
                    <a:lstStyle/>
                    <a:p>
                      <a:pPr algn="r"/>
                      <a:r>
                        <a:rPr sz="1150" b="1">
                          <a:solidFill>
                            <a:srgbClr val="2C3E50"/>
                          </a:solidFill>
                          <a:latin typeface="Arial"/>
                        </a:rPr>
                        <a:t>Eff. acc.</a:t>
                      </a:r>
                    </a:p>
                  </a:txBody>
                  <a:tcPr>
                    <a:solidFill>
                      <a:srgbClr val="F6F7F9"/>
                    </a:solidFill>
                  </a:tcPr>
                </a:tc>
                <a:tc>
                  <a:txBody>
                    <a:bodyPr/>
                    <a:lstStyle/>
                    <a:p>
                      <a:pPr algn="r"/>
                      <a:r>
                        <a:rPr sz="1150" b="1">
                          <a:solidFill>
                            <a:srgbClr val="2C3E50"/>
                          </a:solidFill>
                          <a:latin typeface="Arial"/>
                        </a:rPr>
                        <a:t>Production</a:t>
                      </a:r>
                    </a:p>
                  </a:txBody>
                  <a:tcPr>
                    <a:solidFill>
                      <a:srgbClr val="F6F7F9"/>
                    </a:solidFill>
                  </a:tcPr>
                </a:tc>
              </a:tr>
              <a:tr h="274320">
                <a:tc>
                  <a:txBody>
                    <a:bodyPr/>
                    <a:lstStyle/>
                    <a:p>
                      <a:pPr algn="l"/>
                      <a:r>
                        <a:rPr sz="1150" b="0">
                          <a:solidFill>
                            <a:srgbClr val="5D6D7E"/>
                          </a:solidFill>
                          <a:latin typeface="Arial"/>
                        </a:rPr>
                        <a:t>Today (measured)</a:t>
                      </a:r>
                    </a:p>
                  </a:txBody>
                  <a:tcPr>
                    <a:solidFill>
                      <a:srgbClr val="FFFFFF"/>
                    </a:solidFill>
                  </a:tcPr>
                </a:tc>
                <a:tc>
                  <a:txBody>
                    <a:bodyPr/>
                    <a:lstStyle/>
                    <a:p>
                      <a:pPr algn="r"/>
                      <a:r>
                        <a:rPr sz="1150" b="0">
                          <a:solidFill>
                            <a:srgbClr val="5D6D7E"/>
                          </a:solidFill>
                          <a:latin typeface="Arial"/>
                        </a:rPr>
                        <a:t>current policy</a:t>
                      </a:r>
                    </a:p>
                  </a:txBody>
                  <a:tcPr>
                    <a:solidFill>
                      <a:srgbClr val="FFFFFF"/>
                    </a:solidFill>
                  </a:tcPr>
                </a:tc>
                <a:tc>
                  <a:txBody>
                    <a:bodyPr/>
                    <a:lstStyle/>
                    <a:p>
                      <a:pPr algn="r"/>
                      <a:r>
                        <a:rPr sz="1150" b="0">
                          <a:solidFill>
                            <a:srgbClr val="5D6D7E"/>
                          </a:solidFill>
                          <a:latin typeface="Arial"/>
                        </a:rPr>
                        <a:t>29.5%</a:t>
                      </a:r>
                    </a:p>
                  </a:txBody>
                  <a:tcPr>
                    <a:solidFill>
                      <a:srgbClr val="FFFFFF"/>
                    </a:solidFill>
                  </a:tcPr>
                </a:tc>
                <a:tc>
                  <a:txBody>
                    <a:bodyPr/>
                    <a:lstStyle/>
                    <a:p>
                      <a:pPr algn="r"/>
                      <a:r>
                        <a:rPr sz="1150" b="0">
                          <a:solidFill>
                            <a:srgbClr val="5D6D7E"/>
                          </a:solidFill>
                          <a:latin typeface="Arial"/>
                        </a:rPr>
                        <a:t>€15.3M/mo</a:t>
                      </a:r>
                    </a:p>
                  </a:txBody>
                  <a:tcPr>
                    <a:solidFill>
                      <a:srgbClr val="FFFFFF"/>
                    </a:solidFill>
                  </a:tcPr>
                </a:tc>
              </a:tr>
              <a:tr h="274320">
                <a:tc>
                  <a:txBody>
                    <a:bodyPr/>
                    <a:lstStyle/>
                    <a:p>
                      <a:pPr algn="l"/>
                      <a:r>
                        <a:rPr sz="1150" b="0">
                          <a:solidFill>
                            <a:srgbClr val="5D6D7E"/>
                          </a:solidFill>
                          <a:latin typeface="Arial"/>
                        </a:rPr>
                        <a:t>Online grid in both channels</a:t>
                      </a:r>
                    </a:p>
                  </a:txBody>
                  <a:tcPr>
                    <a:solidFill>
                      <a:srgbClr val="FFFFFF"/>
                    </a:solidFill>
                  </a:tcPr>
                </a:tc>
                <a:tc>
                  <a:txBody>
                    <a:bodyPr/>
                    <a:lstStyle/>
                    <a:p>
                      <a:pPr algn="r"/>
                      <a:r>
                        <a:rPr sz="1150" b="0">
                          <a:solidFill>
                            <a:srgbClr val="5D6D7E"/>
                          </a:solidFill>
                          <a:latin typeface="Arial"/>
                        </a:rPr>
                        <a:t>current</a:t>
                      </a:r>
                    </a:p>
                  </a:txBody>
                  <a:tcPr>
                    <a:solidFill>
                      <a:srgbClr val="FFFFFF"/>
                    </a:solidFill>
                  </a:tcPr>
                </a:tc>
                <a:tc>
                  <a:txBody>
                    <a:bodyPr/>
                    <a:lstStyle/>
                    <a:p>
                      <a:pPr algn="r"/>
                      <a:r>
                        <a:rPr sz="1150" b="0">
                          <a:solidFill>
                            <a:srgbClr val="5D6D7E"/>
                          </a:solidFill>
                          <a:latin typeface="Arial"/>
                        </a:rPr>
                        <a:t>32.7%</a:t>
                      </a:r>
                    </a:p>
                  </a:txBody>
                  <a:tcPr>
                    <a:solidFill>
                      <a:srgbClr val="FFFFFF"/>
                    </a:solidFill>
                  </a:tcPr>
                </a:tc>
                <a:tc>
                  <a:txBody>
                    <a:bodyPr/>
                    <a:lstStyle/>
                    <a:p>
                      <a:pPr algn="r"/>
                      <a:r>
                        <a:rPr sz="1150" b="0">
                          <a:solidFill>
                            <a:srgbClr val="5D6D7E"/>
                          </a:solidFill>
                          <a:latin typeface="Arial"/>
                        </a:rPr>
                        <a:t>€18.5M/mo</a:t>
                      </a:r>
                    </a:p>
                  </a:txBody>
                  <a:tcPr>
                    <a:solidFill>
                      <a:srgbClr val="FFFFFF"/>
                    </a:solidFill>
                  </a:tcPr>
                </a:tc>
              </a:tr>
              <a:tr h="274320">
                <a:tc>
                  <a:txBody>
                    <a:bodyPr/>
                    <a:lstStyle/>
                    <a:p>
                      <a:pPr algn="l"/>
                      <a:r>
                        <a:rPr sz="1150" b="0">
                          <a:solidFill>
                            <a:srgbClr val="5D6D7E"/>
                          </a:solidFill>
                          <a:latin typeface="Arial"/>
                        </a:rPr>
                        <a:t>2.5%</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21.6%</a:t>
                      </a:r>
                    </a:p>
                  </a:txBody>
                  <a:tcPr>
                    <a:solidFill>
                      <a:srgbClr val="FFFFFF"/>
                    </a:solidFill>
                  </a:tcPr>
                </a:tc>
                <a:tc>
                  <a:txBody>
                    <a:bodyPr/>
                    <a:lstStyle/>
                    <a:p>
                      <a:pPr algn="r"/>
                      <a:r>
                        <a:rPr sz="1150" b="0">
                          <a:solidFill>
                            <a:srgbClr val="5D6D7E"/>
                          </a:solidFill>
                          <a:latin typeface="Arial"/>
                        </a:rPr>
                        <a:t>€12.2M/mo</a:t>
                      </a:r>
                    </a:p>
                  </a:txBody>
                  <a:tcPr>
                    <a:solidFill>
                      <a:srgbClr val="FFFFFF"/>
                    </a:solidFill>
                  </a:tcPr>
                </a:tc>
              </a:tr>
              <a:tr h="274320">
                <a:tc>
                  <a:txBody>
                    <a:bodyPr/>
                    <a:lstStyle/>
                    <a:p>
                      <a:pPr algn="l"/>
                      <a:r>
                        <a:rPr sz="1150" b="0">
                          <a:solidFill>
                            <a:srgbClr val="5D6D7E"/>
                          </a:solidFill>
                          <a:latin typeface="Arial"/>
                        </a:rPr>
                        <a:t>3%</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26.5%</a:t>
                      </a:r>
                    </a:p>
                  </a:txBody>
                  <a:tcPr>
                    <a:solidFill>
                      <a:srgbClr val="FFFFFF"/>
                    </a:solidFill>
                  </a:tcPr>
                </a:tc>
                <a:tc>
                  <a:txBody>
                    <a:bodyPr/>
                    <a:lstStyle/>
                    <a:p>
                      <a:pPr algn="r"/>
                      <a:r>
                        <a:rPr sz="1150" b="0">
                          <a:solidFill>
                            <a:srgbClr val="5D6D7E"/>
                          </a:solidFill>
                          <a:latin typeface="Arial"/>
                        </a:rPr>
                        <a:t>€15.0M/mo</a:t>
                      </a:r>
                    </a:p>
                  </a:txBody>
                  <a:tcPr>
                    <a:solidFill>
                      <a:srgbClr val="FFFFFF"/>
                    </a:solidFill>
                  </a:tcPr>
                </a:tc>
              </a:tr>
              <a:tr h="274320">
                <a:tc>
                  <a:txBody>
                    <a:bodyPr/>
                    <a:lstStyle/>
                    <a:p>
                      <a:pPr algn="l"/>
                      <a:r>
                        <a:rPr sz="1150" b="0">
                          <a:solidFill>
                            <a:srgbClr val="5D6D7E"/>
                          </a:solidFill>
                          <a:latin typeface="Arial"/>
                        </a:rPr>
                        <a:t>3.5%</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30.8%</a:t>
                      </a:r>
                    </a:p>
                  </a:txBody>
                  <a:tcPr>
                    <a:solidFill>
                      <a:srgbClr val="FFFFFF"/>
                    </a:solidFill>
                  </a:tcPr>
                </a:tc>
                <a:tc>
                  <a:txBody>
                    <a:bodyPr/>
                    <a:lstStyle/>
                    <a:p>
                      <a:pPr algn="r"/>
                      <a:r>
                        <a:rPr sz="1150" b="0">
                          <a:solidFill>
                            <a:srgbClr val="5D6D7E"/>
                          </a:solidFill>
                          <a:latin typeface="Arial"/>
                        </a:rPr>
                        <a:t>€17.4M/mo</a:t>
                      </a:r>
                    </a:p>
                  </a:txBody>
                  <a:tcPr>
                    <a:solidFill>
                      <a:srgbClr val="FFFFFF"/>
                    </a:solidFill>
                  </a:tcPr>
                </a:tc>
              </a:tr>
              <a:tr h="274320">
                <a:tc>
                  <a:txBody>
                    <a:bodyPr/>
                    <a:lstStyle/>
                    <a:p>
                      <a:pPr algn="l"/>
                      <a:r>
                        <a:rPr sz="1150" b="0">
                          <a:solidFill>
                            <a:srgbClr val="5D6D7E"/>
                          </a:solidFill>
                          <a:latin typeface="Arial"/>
                        </a:rPr>
                        <a:t>4%</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32.5%</a:t>
                      </a:r>
                    </a:p>
                  </a:txBody>
                  <a:tcPr>
                    <a:solidFill>
                      <a:srgbClr val="FFFFFF"/>
                    </a:solidFill>
                  </a:tcPr>
                </a:tc>
                <a:tc>
                  <a:txBody>
                    <a:bodyPr/>
                    <a:lstStyle/>
                    <a:p>
                      <a:pPr algn="r"/>
                      <a:r>
                        <a:rPr sz="1150" b="0">
                          <a:solidFill>
                            <a:srgbClr val="5D6D7E"/>
                          </a:solidFill>
                          <a:latin typeface="Arial"/>
                        </a:rPr>
                        <a:t>€18.4M/mo</a:t>
                      </a:r>
                    </a:p>
                  </a:txBody>
                  <a:tcPr>
                    <a:solidFill>
                      <a:srgbClr val="FFFFFF"/>
                    </a:solidFill>
                  </a:tcPr>
                </a:tc>
              </a:tr>
            </a:tbl>
          </a:graphicData>
        </a:graphic>
      </p:graphicFrame>
      <p:sp>
        <p:nvSpPr>
          <p:cNvPr id="24" name="TextBox 23"/>
          <p:cNvSpPr txBox="1"/>
          <p:nvPr/>
        </p:nvSpPr>
        <p:spPr>
          <a:xfrm>
            <a:off x="566928" y="5678424"/>
            <a:ext cx="5623560" cy="1097280"/>
          </a:xfrm>
          <a:prstGeom prst="rect">
            <a:avLst/>
          </a:prstGeom>
          <a:noFill/>
        </p:spPr>
        <p:txBody>
          <a:bodyPr wrap="square">
            <a:spAutoFit/>
          </a:bodyPr>
          <a:lstStyle/>
          <a:p>
            <a:pPr>
              <a:spcAft>
                <a:spcPts val="900"/>
              </a:spcAft>
            </a:pPr>
            <a:r>
              <a:rPr sz="1150" b="1">
                <a:solidFill>
                  <a:srgbClr val="2C3E50"/>
                </a:solidFill>
                <a:latin typeface="Arial"/>
              </a:rPr>
              <a:t>Store risk:  </a:t>
            </a:r>
            <a:r>
              <a:rPr sz="1150">
                <a:solidFill>
                  <a:srgbClr val="5D6D7E"/>
                </a:solidFill>
                <a:latin typeface="Arial"/>
              </a:rPr>
              <a:t>curve shape taken from e-commerce; level anchored to stores' realized 3.74%. Not a measurement.</a:t>
            </a:r>
          </a:p>
          <a:p>
            <a:pPr>
              <a:spcAft>
                <a:spcPts val="900"/>
              </a:spcAft>
            </a:pPr>
            <a:r>
              <a:rPr sz="1150" b="1">
                <a:solidFill>
                  <a:srgbClr val="2C3E50"/>
                </a:solidFill>
                <a:latin typeface="Arial"/>
              </a:rPr>
              <a:t>Window:  </a:t>
            </a:r>
            <a:r>
              <a:rPr sz="1150">
                <a:solidFill>
                  <a:srgbClr val="5D6D7E"/>
                </a:solidFill>
                <a:latin typeface="Arial"/>
              </a:rPr>
              <a:t>12 months of mature originations (4.18% vs 3.92% over 26 months).</a:t>
            </a:r>
          </a:p>
          <a:p>
            <a:pPr>
              <a:spcAft>
                <a:spcPts val="900"/>
              </a:spcAft>
            </a:pPr>
            <a:r>
              <a:rPr sz="1150" b="1">
                <a:solidFill>
                  <a:srgbClr val="2C3E50"/>
                </a:solidFill>
                <a:latin typeface="Arial"/>
              </a:rPr>
              <a:t>With reject inference:  </a:t>
            </a:r>
            <a:r>
              <a:rPr sz="1150">
                <a:solidFill>
                  <a:srgbClr val="5D6D7E"/>
                </a:solidFill>
                <a:latin typeface="Arial"/>
              </a:rPr>
              <a:t>thinly accepted bins carry an uplift (up to 2.4x). It barely moves the cutoffs: where the decision sits, Online already accepts 84-97%.</a:t>
            </a:r>
          </a:p>
        </p:txBody>
      </p:sp>
      <p:sp>
        <p:nvSpPr>
          <p:cNvPr id="25" name="TextBox 24"/>
          <p:cNvSpPr txBox="1"/>
          <p:nvPr/>
        </p:nvSpPr>
        <p:spPr>
          <a:xfrm>
            <a:off x="6464808" y="3346704"/>
            <a:ext cx="5166360" cy="365760"/>
          </a:xfrm>
          <a:prstGeom prst="rect">
            <a:avLst/>
          </a:prstGeom>
          <a:noFill/>
        </p:spPr>
        <p:txBody>
          <a:bodyPr wrap="square">
            <a:spAutoFit/>
          </a:bodyPr>
          <a:lstStyle/>
          <a:p>
            <a:pPr algn="l">
              <a:lnSpc>
                <a:spcPct val="100000"/>
              </a:lnSpc>
            </a:pPr>
            <a:r>
              <a:rPr sz="1500" b="1">
                <a:solidFill>
                  <a:srgbClr val="2C3E50"/>
                </a:solidFill>
                <a:latin typeface="Arial"/>
              </a:rPr>
              <a:t>Stores: the e-commerce grid improves both</a:t>
            </a:r>
          </a:p>
        </p:txBody>
      </p:sp>
      <p:pic>
        <p:nvPicPr>
          <p:cNvPr id="26" name="Picture 25" descr="stores_compact.png"/>
          <p:cNvPicPr>
            <a:picLocks noChangeAspect="1"/>
          </p:cNvPicPr>
          <p:nvPr/>
        </p:nvPicPr>
        <p:blipFill>
          <a:blip r:embed="rId2"/>
          <a:stretch>
            <a:fillRect/>
          </a:stretch>
        </p:blipFill>
        <p:spPr>
          <a:xfrm>
            <a:off x="6464808" y="3758184"/>
            <a:ext cx="5166360" cy="237258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DEFINITIONS</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 2025 – Feb 2026  ·  stores Aug–Sep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How acceptance is measured</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563624"/>
          <a:ext cx="6858000" cy="2798064"/>
        </p:xfrm>
        <a:graphic>
          <a:graphicData uri="http://schemas.openxmlformats.org/drawingml/2006/table">
            <a:tbl>
              <a:tblPr firstRow="1" bandRow="1">
                <a:tableStyleId>{5C22544A-7EE6-4342-B048-85BDC9FD1C3A}</a:tableStyleId>
              </a:tblPr>
              <a:tblGrid>
                <a:gridCol w="3154680"/>
                <a:gridCol w="1234440"/>
                <a:gridCol w="1234440"/>
                <a:gridCol w="1234440"/>
              </a:tblGrid>
              <a:tr h="310896">
                <a:tc>
                  <a:txBody>
                    <a:bodyPr/>
                    <a:lstStyle/>
                    <a:p>
                      <a:pPr algn="l"/>
                      <a:r>
                        <a:rPr sz="1150" b="1">
                          <a:solidFill>
                            <a:srgbClr val="2C3E50"/>
                          </a:solidFill>
                          <a:latin typeface="Arial"/>
                        </a:rPr>
                        <a:t>Where each € of demand ends up</a:t>
                      </a:r>
                    </a:p>
                  </a:txBody>
                  <a:tcPr>
                    <a:solidFill>
                      <a:srgbClr val="F6F7F9"/>
                    </a:solidFill>
                  </a:tcPr>
                </a:tc>
                <a:tc>
                  <a:txBody>
                    <a:bodyPr/>
                    <a:lstStyle/>
                    <a:p>
                      <a:pPr algn="r"/>
                      <a:r>
                        <a:rPr sz="1150" b="1">
                          <a:solidFill>
                            <a:srgbClr val="2C3E50"/>
                          </a:solidFill>
                          <a:latin typeface="Arial"/>
                        </a:rPr>
                        <a:t>Online</a:t>
                      </a:r>
                    </a:p>
                    <a:p>
                      <a:pPr algn="r"/>
                      <a:r>
                        <a:rPr sz="1150" b="1">
                          <a:solidFill>
                            <a:srgbClr val="2C3E50"/>
                          </a:solidFill>
                          <a:latin typeface="Arial"/>
                        </a:rPr>
                        <a:t>Mar 25 – Feb 26</a:t>
                      </a:r>
                    </a:p>
                  </a:txBody>
                  <a:tcPr>
                    <a:solidFill>
                      <a:srgbClr val="F6F7F9"/>
                    </a:solidFill>
                  </a:tcPr>
                </a:tc>
                <a:tc>
                  <a:txBody>
                    <a:bodyPr/>
                    <a:lstStyle/>
                    <a:p>
                      <a:pPr algn="r"/>
                      <a:r>
                        <a:rPr sz="1150" b="1">
                          <a:solidFill>
                            <a:srgbClr val="2C3E50"/>
                          </a:solidFill>
                          <a:latin typeface="Arial"/>
                        </a:rPr>
                        <a:t>Stores</a:t>
                      </a:r>
                    </a:p>
                    <a:p>
                      <a:pPr algn="r"/>
                      <a:r>
                        <a:rPr sz="1150" b="1">
                          <a:solidFill>
                            <a:srgbClr val="2C3E50"/>
                          </a:solidFill>
                          <a:latin typeface="Arial"/>
                        </a:rPr>
                        <a:t>Mar 25 – Feb 26</a:t>
                      </a:r>
                    </a:p>
                  </a:txBody>
                  <a:tcPr>
                    <a:solidFill>
                      <a:srgbClr val="F6F7F9"/>
                    </a:solidFill>
                  </a:tcPr>
                </a:tc>
                <a:tc>
                  <a:txBody>
                    <a:bodyPr/>
                    <a:lstStyle/>
                    <a:p>
                      <a:pPr algn="r"/>
                      <a:r>
                        <a:rPr sz="1150" b="1">
                          <a:solidFill>
                            <a:srgbClr val="2C3E50"/>
                          </a:solidFill>
                          <a:latin typeface="Arial"/>
                        </a:rPr>
                        <a:t>Stores</a:t>
                      </a:r>
                    </a:p>
                    <a:p>
                      <a:pPr algn="r"/>
                      <a:r>
                        <a:rPr sz="1150" b="1">
                          <a:solidFill>
                            <a:srgbClr val="2C3E50"/>
                          </a:solidFill>
                          <a:latin typeface="Arial"/>
                        </a:rPr>
                        <a:t>Aug–Sep 26</a:t>
                      </a:r>
                    </a:p>
                  </a:txBody>
                  <a:tcPr>
                    <a:solidFill>
                      <a:srgbClr val="F6F7F9"/>
                    </a:solidFill>
                  </a:tcPr>
                </a:tc>
              </a:tr>
              <a:tr h="310896">
                <a:tc>
                  <a:txBody>
                    <a:bodyPr/>
                    <a:lstStyle/>
                    <a:p>
                      <a:pPr algn="l"/>
                      <a:r>
                        <a:rPr sz="1150" b="0">
                          <a:solidFill>
                            <a:srgbClr val="5D6D7E"/>
                          </a:solidFill>
                          <a:latin typeface="Arial"/>
                        </a:rPr>
                        <a:t>booked  (= acceptance rate)</a:t>
                      </a:r>
                    </a:p>
                  </a:txBody>
                  <a:tcPr>
                    <a:solidFill>
                      <a:srgbClr val="FFFFFF"/>
                    </a:solidFill>
                  </a:tcPr>
                </a:tc>
                <a:tc>
                  <a:txBody>
                    <a:bodyPr/>
                    <a:lstStyle/>
                    <a:p>
                      <a:pPr algn="r"/>
                      <a:r>
                        <a:rPr sz="1150" b="0">
                          <a:solidFill>
                            <a:srgbClr val="5D6D7E"/>
                          </a:solidFill>
                          <a:latin typeface="Arial"/>
                        </a:rPr>
                        <a:t>20.9%</a:t>
                      </a:r>
                    </a:p>
                  </a:txBody>
                  <a:tcPr>
                    <a:solidFill>
                      <a:srgbClr val="FFFFFF"/>
                    </a:solidFill>
                  </a:tcPr>
                </a:tc>
                <a:tc>
                  <a:txBody>
                    <a:bodyPr/>
                    <a:lstStyle/>
                    <a:p>
                      <a:pPr algn="r"/>
                      <a:r>
                        <a:rPr sz="1150" b="0">
                          <a:solidFill>
                            <a:srgbClr val="5D6D7E"/>
                          </a:solidFill>
                          <a:latin typeface="Arial"/>
                        </a:rPr>
                        <a:t>58.7%</a:t>
                      </a:r>
                    </a:p>
                  </a:txBody>
                  <a:tcPr>
                    <a:solidFill>
                      <a:srgbClr val="FFFFFF"/>
                    </a:solidFill>
                  </a:tcPr>
                </a:tc>
                <a:tc>
                  <a:txBody>
                    <a:bodyPr/>
                    <a:lstStyle/>
                    <a:p>
                      <a:pPr algn="r"/>
                      <a:r>
                        <a:rPr sz="1150" b="0">
                          <a:solidFill>
                            <a:srgbClr val="5D6D7E"/>
                          </a:solidFill>
                          <a:latin typeface="Arial"/>
                        </a:rPr>
                        <a:t>47.2%</a:t>
                      </a:r>
                    </a:p>
                  </a:txBody>
                  <a:tcPr>
                    <a:solidFill>
                      <a:srgbClr val="FFFFFF"/>
                    </a:solidFill>
                  </a:tcPr>
                </a:tc>
              </a:tr>
              <a:tr h="310896">
                <a:tc>
                  <a:txBody>
                    <a:bodyPr/>
                    <a:lstStyle/>
                    <a:p>
                      <a:pPr algn="l"/>
                      <a:r>
                        <a:rPr sz="1150" b="0">
                          <a:solidFill>
                            <a:srgbClr val="5D6D7E"/>
                          </a:solidFill>
                          <a:latin typeface="Arial"/>
                        </a:rPr>
                        <a:t>approved, then cancelled (unfinished demand)</a:t>
                      </a:r>
                    </a:p>
                  </a:txBody>
                  <a:tcPr>
                    <a:solidFill>
                      <a:srgbClr val="FFFFFF"/>
                    </a:solidFill>
                  </a:tcPr>
                </a:tc>
                <a:tc>
                  <a:txBody>
                    <a:bodyPr/>
                    <a:lstStyle/>
                    <a:p>
                      <a:pPr algn="r"/>
                      <a:r>
                        <a:rPr sz="1150" b="0">
                          <a:solidFill>
                            <a:srgbClr val="5D6D7E"/>
                          </a:solidFill>
                          <a:latin typeface="Arial"/>
                        </a:rPr>
                        <a:t>27.9%</a:t>
                      </a:r>
                    </a:p>
                  </a:txBody>
                  <a:tcPr>
                    <a:solidFill>
                      <a:srgbClr val="FFFFFF"/>
                    </a:solidFill>
                  </a:tcPr>
                </a:tc>
                <a:tc>
                  <a:txBody>
                    <a:bodyPr/>
                    <a:lstStyle/>
                    <a:p>
                      <a:pPr algn="r"/>
                      <a:r>
                        <a:rPr sz="1150" b="0">
                          <a:solidFill>
                            <a:srgbClr val="5D6D7E"/>
                          </a:solidFill>
                          <a:latin typeface="Arial"/>
                        </a:rPr>
                        <a:t>7.0%</a:t>
                      </a:r>
                    </a:p>
                  </a:txBody>
                  <a:tcPr>
                    <a:solidFill>
                      <a:srgbClr val="FFFFFF"/>
                    </a:solidFill>
                  </a:tcPr>
                </a:tc>
                <a:tc>
                  <a:txBody>
                    <a:bodyPr/>
                    <a:lstStyle/>
                    <a:p>
                      <a:pPr algn="r"/>
                      <a:r>
                        <a:rPr sz="1150" b="0">
                          <a:solidFill>
                            <a:srgbClr val="5D6D7E"/>
                          </a:solidFill>
                          <a:latin typeface="Arial"/>
                        </a:rPr>
                        <a:t>9.6%</a:t>
                      </a:r>
                    </a:p>
                  </a:txBody>
                  <a:tcPr>
                    <a:solidFill>
                      <a:srgbClr val="FFFFFF"/>
                    </a:solidFill>
                  </a:tcPr>
                </a:tc>
              </a:tr>
              <a:tr h="310896">
                <a:tc>
                  <a:txBody>
                    <a:bodyPr/>
                    <a:lstStyle/>
                    <a:p>
                      <a:pPr algn="l"/>
                      <a:r>
                        <a:rPr sz="1150" b="0">
                          <a:solidFill>
                            <a:srgbClr val="5D6D7E"/>
                          </a:solidFill>
                          <a:latin typeface="Arial"/>
                        </a:rPr>
                        <a:t>approved, rejected downstream</a:t>
                      </a:r>
                    </a:p>
                  </a:txBody>
                  <a:tcPr>
                    <a:solidFill>
                      <a:srgbClr val="FFFFFF"/>
                    </a:solidFill>
                  </a:tcPr>
                </a:tc>
                <a:tc>
                  <a:txBody>
                    <a:bodyPr/>
                    <a:lstStyle/>
                    <a:p>
                      <a:pPr algn="r"/>
                      <a:r>
                        <a:rPr sz="1150" b="0">
                          <a:solidFill>
                            <a:srgbClr val="5D6D7E"/>
                          </a:solidFill>
                          <a:latin typeface="Arial"/>
                        </a:rPr>
                        <a:t>3.1%</a:t>
                      </a:r>
                    </a:p>
                  </a:txBody>
                  <a:tcPr>
                    <a:solidFill>
                      <a:srgbClr val="FFFFFF"/>
                    </a:solidFill>
                  </a:tcPr>
                </a:tc>
                <a:tc>
                  <a:txBody>
                    <a:bodyPr/>
                    <a:lstStyle/>
                    <a:p>
                      <a:pPr algn="r"/>
                      <a:r>
                        <a:rPr sz="1150" b="0">
                          <a:solidFill>
                            <a:srgbClr val="5D6D7E"/>
                          </a:solidFill>
                          <a:latin typeface="Arial"/>
                        </a:rPr>
                        <a:t>2.6%</a:t>
                      </a:r>
                    </a:p>
                  </a:txBody>
                  <a:tcPr>
                    <a:solidFill>
                      <a:srgbClr val="FFFFFF"/>
                    </a:solidFill>
                  </a:tcPr>
                </a:tc>
                <a:tc>
                  <a:txBody>
                    <a:bodyPr/>
                    <a:lstStyle/>
                    <a:p>
                      <a:pPr algn="r"/>
                      <a:r>
                        <a:rPr sz="1150" b="0">
                          <a:solidFill>
                            <a:srgbClr val="5D6D7E"/>
                          </a:solidFill>
                          <a:latin typeface="Arial"/>
                        </a:rPr>
                        <a:t>2.0%</a:t>
                      </a:r>
                    </a:p>
                  </a:txBody>
                  <a:tcPr>
                    <a:solidFill>
                      <a:srgbClr val="FFFFFF"/>
                    </a:solidFill>
                  </a:tcPr>
                </a:tc>
              </a:tr>
              <a:tr h="310896">
                <a:tc>
                  <a:txBody>
                    <a:bodyPr/>
                    <a:lstStyle/>
                    <a:p>
                      <a:pPr algn="l"/>
                      <a:r>
                        <a:rPr sz="1150" b="0">
                          <a:solidFill>
                            <a:srgbClr val="5D6D7E"/>
                          </a:solidFill>
                          <a:latin typeface="Arial"/>
                        </a:rPr>
                        <a:t>rejected by the engine: score</a:t>
                      </a:r>
                    </a:p>
                  </a:txBody>
                  <a:tcPr>
                    <a:solidFill>
                      <a:srgbClr val="FFFFFF"/>
                    </a:solidFill>
                  </a:tcPr>
                </a:tc>
                <a:tc>
                  <a:txBody>
                    <a:bodyPr/>
                    <a:lstStyle/>
                    <a:p>
                      <a:pPr algn="r"/>
                      <a:r>
                        <a:rPr sz="1150" b="0">
                          <a:solidFill>
                            <a:srgbClr val="5D6D7E"/>
                          </a:solidFill>
                          <a:latin typeface="Arial"/>
                        </a:rPr>
                        <a:t>6.9%</a:t>
                      </a:r>
                    </a:p>
                  </a:txBody>
                  <a:tcPr>
                    <a:solidFill>
                      <a:srgbClr val="FFFFFF"/>
                    </a:solidFill>
                  </a:tcPr>
                </a:tc>
                <a:tc>
                  <a:txBody>
                    <a:bodyPr/>
                    <a:lstStyle/>
                    <a:p>
                      <a:pPr algn="r"/>
                      <a:r>
                        <a:rPr sz="1150" b="0">
                          <a:solidFill>
                            <a:srgbClr val="5D6D7E"/>
                          </a:solidFill>
                          <a:latin typeface="Arial"/>
                        </a:rPr>
                        <a:t>11.3%</a:t>
                      </a:r>
                    </a:p>
                  </a:txBody>
                  <a:tcPr>
                    <a:solidFill>
                      <a:srgbClr val="FFFFFF"/>
                    </a:solidFill>
                  </a:tcPr>
                </a:tc>
                <a:tc>
                  <a:txBody>
                    <a:bodyPr/>
                    <a:lstStyle/>
                    <a:p>
                      <a:pPr algn="r"/>
                      <a:r>
                        <a:rPr sz="1150" b="0">
                          <a:solidFill>
                            <a:srgbClr val="5D6D7E"/>
                          </a:solidFill>
                          <a:latin typeface="Arial"/>
                        </a:rPr>
                        <a:t>21.1%</a:t>
                      </a:r>
                    </a:p>
                  </a:txBody>
                  <a:tcPr>
                    <a:solidFill>
                      <a:srgbClr val="FFFFFF"/>
                    </a:solidFill>
                  </a:tcPr>
                </a:tc>
              </a:tr>
              <a:tr h="310896">
                <a:tc>
                  <a:txBody>
                    <a:bodyPr/>
                    <a:lstStyle/>
                    <a:p>
                      <a:pPr algn="l"/>
                      <a:r>
                        <a:rPr sz="1150" b="0">
                          <a:solidFill>
                            <a:srgbClr val="5D6D7E"/>
                          </a:solidFill>
                          <a:latin typeface="Arial"/>
                        </a:rPr>
                        <a:t>rejected by the engine: other rules</a:t>
                      </a:r>
                    </a:p>
                  </a:txBody>
                  <a:tcPr>
                    <a:solidFill>
                      <a:srgbClr val="FFFFFF"/>
                    </a:solidFill>
                  </a:tcPr>
                </a:tc>
                <a:tc>
                  <a:txBody>
                    <a:bodyPr/>
                    <a:lstStyle/>
                    <a:p>
                      <a:pPr algn="r"/>
                      <a:r>
                        <a:rPr sz="1150" b="0">
                          <a:solidFill>
                            <a:srgbClr val="5D6D7E"/>
                          </a:solidFill>
                          <a:latin typeface="Arial"/>
                        </a:rPr>
                        <a:t>41.2%</a:t>
                      </a:r>
                    </a:p>
                  </a:txBody>
                  <a:tcPr>
                    <a:solidFill>
                      <a:srgbClr val="FFFFFF"/>
                    </a:solidFill>
                  </a:tcPr>
                </a:tc>
                <a:tc>
                  <a:txBody>
                    <a:bodyPr/>
                    <a:lstStyle/>
                    <a:p>
                      <a:pPr algn="r"/>
                      <a:r>
                        <a:rPr sz="1150" b="0">
                          <a:solidFill>
                            <a:srgbClr val="5D6D7E"/>
                          </a:solidFill>
                          <a:latin typeface="Arial"/>
                        </a:rPr>
                        <a:t>20.3%</a:t>
                      </a:r>
                    </a:p>
                  </a:txBody>
                  <a:tcPr>
                    <a:solidFill>
                      <a:srgbClr val="FFFFFF"/>
                    </a:solidFill>
                  </a:tcPr>
                </a:tc>
                <a:tc>
                  <a:txBody>
                    <a:bodyPr/>
                    <a:lstStyle/>
                    <a:p>
                      <a:pPr algn="r"/>
                      <a:r>
                        <a:rPr sz="1150" b="0">
                          <a:solidFill>
                            <a:srgbClr val="5D6D7E"/>
                          </a:solidFill>
                          <a:latin typeface="Arial"/>
                        </a:rPr>
                        <a:t>20.1%</a:t>
                      </a:r>
                    </a:p>
                  </a:txBody>
                  <a:tcPr>
                    <a:solidFill>
                      <a:srgbClr val="FFFFFF"/>
                    </a:solidFill>
                  </a:tcPr>
                </a:tc>
              </a:tr>
              <a:tr h="310896">
                <a:tc>
                  <a:txBody>
                    <a:bodyPr/>
                    <a:lstStyle/>
                    <a:p>
                      <a:pPr algn="l"/>
                      <a:r>
                        <a:rPr sz="1150" b="0">
                          <a:solidFill>
                            <a:srgbClr val="5D6D7E"/>
                          </a:solidFill>
                          <a:latin typeface="Arial"/>
                        </a:rPr>
                        <a:t>Total demand</a:t>
                      </a:r>
                    </a:p>
                  </a:txBody>
                  <a:tcPr>
                    <a:solidFill>
                      <a:srgbClr val="FFFFFF"/>
                    </a:solidFill>
                  </a:tcPr>
                </a:tc>
                <a:tc>
                  <a:txBody>
                    <a:bodyPr/>
                    <a:lstStyle/>
                    <a:p>
                      <a:pPr algn="r"/>
                      <a:r>
                        <a:rPr sz="1150" b="0">
                          <a:solidFill>
                            <a:srgbClr val="5D6D7E"/>
                          </a:solidFill>
                          <a:latin typeface="Arial"/>
                        </a:rPr>
                        <a:t>100.0%</a:t>
                      </a:r>
                    </a:p>
                  </a:txBody>
                  <a:tcPr>
                    <a:solidFill>
                      <a:srgbClr val="FFFFFF"/>
                    </a:solidFill>
                  </a:tcPr>
                </a:tc>
                <a:tc>
                  <a:txBody>
                    <a:bodyPr/>
                    <a:lstStyle/>
                    <a:p>
                      <a:pPr algn="r"/>
                      <a:r>
                        <a:rPr sz="1150" b="0">
                          <a:solidFill>
                            <a:srgbClr val="5D6D7E"/>
                          </a:solidFill>
                          <a:latin typeface="Arial"/>
                        </a:rPr>
                        <a:t>100.0%</a:t>
                      </a:r>
                    </a:p>
                  </a:txBody>
                  <a:tcPr>
                    <a:solidFill>
                      <a:srgbClr val="FFFFFF"/>
                    </a:solidFill>
                  </a:tcPr>
                </a:tc>
                <a:tc>
                  <a:txBody>
                    <a:bodyPr/>
                    <a:lstStyle/>
                    <a:p>
                      <a:pPr algn="r"/>
                      <a:r>
                        <a:rPr sz="1150" b="0">
                          <a:solidFill>
                            <a:srgbClr val="5D6D7E"/>
                          </a:solidFill>
                          <a:latin typeface="Arial"/>
                        </a:rPr>
                        <a:t>100.0%</a:t>
                      </a:r>
                    </a:p>
                  </a:txBody>
                  <a:tcPr>
                    <a:solidFill>
                      <a:srgbClr val="FFFFFF"/>
                    </a:solidFill>
                  </a:tcPr>
                </a:tc>
              </a:tr>
              <a:tr h="310896">
                <a:tc>
                  <a:txBody>
                    <a:bodyPr/>
                    <a:lstStyle/>
                    <a:p>
                      <a:pPr algn="l"/>
                      <a:r>
                        <a:rPr sz="1150" b="0">
                          <a:solidFill>
                            <a:srgbClr val="5D6D7E"/>
                          </a:solidFill>
                          <a:latin typeface="Arial"/>
                        </a:rPr>
                        <a:t>Engine approval (first three rows)</a:t>
                      </a:r>
                    </a:p>
                  </a:txBody>
                  <a:tcPr>
                    <a:solidFill>
                      <a:srgbClr val="FFFFFF"/>
                    </a:solidFill>
                  </a:tcPr>
                </a:tc>
                <a:tc>
                  <a:txBody>
                    <a:bodyPr/>
                    <a:lstStyle/>
                    <a:p>
                      <a:pPr algn="r"/>
                      <a:r>
                        <a:rPr sz="1150" b="0">
                          <a:solidFill>
                            <a:srgbClr val="5D6D7E"/>
                          </a:solidFill>
                          <a:latin typeface="Arial"/>
                        </a:rPr>
                        <a:t>51.9%</a:t>
                      </a:r>
                    </a:p>
                  </a:txBody>
                  <a:tcPr>
                    <a:solidFill>
                      <a:srgbClr val="FFFFFF"/>
                    </a:solidFill>
                  </a:tcPr>
                </a:tc>
                <a:tc>
                  <a:txBody>
                    <a:bodyPr/>
                    <a:lstStyle/>
                    <a:p>
                      <a:pPr algn="r"/>
                      <a:r>
                        <a:rPr sz="1150" b="0">
                          <a:solidFill>
                            <a:srgbClr val="5D6D7E"/>
                          </a:solidFill>
                          <a:latin typeface="Arial"/>
                        </a:rPr>
                        <a:t>68.3%</a:t>
                      </a:r>
                    </a:p>
                  </a:txBody>
                  <a:tcPr>
                    <a:solidFill>
                      <a:srgbClr val="FFFFFF"/>
                    </a:solidFill>
                  </a:tcPr>
                </a:tc>
                <a:tc>
                  <a:txBody>
                    <a:bodyPr/>
                    <a:lstStyle/>
                    <a:p>
                      <a:pPr algn="r"/>
                      <a:r>
                        <a:rPr sz="1150" b="0">
                          <a:solidFill>
                            <a:srgbClr val="5D6D7E"/>
                          </a:solidFill>
                          <a:latin typeface="Arial"/>
                        </a:rPr>
                        <a:t>58.8%</a:t>
                      </a:r>
                    </a:p>
                  </a:txBody>
                  <a:tcPr>
                    <a:solidFill>
                      <a:srgbClr val="FFFFFF"/>
                    </a:solidFill>
                  </a:tcPr>
                </a:tc>
              </a:tr>
              <a:tr h="310896">
                <a:tc>
                  <a:txBody>
                    <a:bodyPr/>
                    <a:lstStyle/>
                    <a:p>
                      <a:pPr algn="l"/>
                      <a:r>
                        <a:rPr sz="1150" b="0">
                          <a:solidFill>
                            <a:srgbClr val="5D6D7E"/>
                          </a:solidFill>
                          <a:latin typeface="Arial"/>
                        </a:rPr>
                        <a:t>Take-up: booked / approved</a:t>
                      </a:r>
                    </a:p>
                  </a:txBody>
                  <a:tcPr>
                    <a:solidFill>
                      <a:srgbClr val="FFFFFF"/>
                    </a:solidFill>
                  </a:tcPr>
                </a:tc>
                <a:tc>
                  <a:txBody>
                    <a:bodyPr/>
                    <a:lstStyle/>
                    <a:p>
                      <a:pPr algn="r"/>
                      <a:r>
                        <a:rPr sz="1150" b="0">
                          <a:solidFill>
                            <a:srgbClr val="5D6D7E"/>
                          </a:solidFill>
                          <a:latin typeface="Arial"/>
                        </a:rPr>
                        <a:t>40%</a:t>
                      </a:r>
                    </a:p>
                  </a:txBody>
                  <a:tcPr>
                    <a:solidFill>
                      <a:srgbClr val="FFFFFF"/>
                    </a:solidFill>
                  </a:tcPr>
                </a:tc>
                <a:tc>
                  <a:txBody>
                    <a:bodyPr/>
                    <a:lstStyle/>
                    <a:p>
                      <a:pPr algn="r"/>
                      <a:r>
                        <a:rPr sz="1150" b="0">
                          <a:solidFill>
                            <a:srgbClr val="5D6D7E"/>
                          </a:solidFill>
                          <a:latin typeface="Arial"/>
                        </a:rPr>
                        <a:t>86%</a:t>
                      </a:r>
                    </a:p>
                  </a:txBody>
                  <a:tcPr>
                    <a:solidFill>
                      <a:srgbClr val="FFFFFF"/>
                    </a:solidFill>
                  </a:tcPr>
                </a:tc>
                <a:tc>
                  <a:txBody>
                    <a:bodyPr/>
                    <a:lstStyle/>
                    <a:p>
                      <a:pPr algn="r"/>
                      <a:r>
                        <a:rPr sz="1150" b="0">
                          <a:solidFill>
                            <a:srgbClr val="5D6D7E"/>
                          </a:solidFill>
                          <a:latin typeface="Arial"/>
                        </a:rPr>
                        <a:t>80%</a:t>
                      </a:r>
                    </a:p>
                  </a:txBody>
                  <a:tcPr>
                    <a:solidFill>
                      <a:srgbClr val="FFFFFF"/>
                    </a:solidFill>
                  </a:tcPr>
                </a:tc>
              </a:tr>
            </a:tbl>
          </a:graphicData>
        </a:graphic>
      </p:graphicFrame>
      <p:sp>
        <p:nvSpPr>
          <p:cNvPr id="7" name="TextBox 6"/>
          <p:cNvSpPr txBox="1"/>
          <p:nvPr/>
        </p:nvSpPr>
        <p:spPr>
          <a:xfrm>
            <a:off x="7699248" y="1563624"/>
            <a:ext cx="3886200" cy="4928616"/>
          </a:xfrm>
          <a:prstGeom prst="rect">
            <a:avLst/>
          </a:prstGeom>
          <a:noFill/>
        </p:spPr>
        <p:txBody>
          <a:bodyPr wrap="square">
            <a:spAutoFit/>
          </a:bodyPr>
          <a:lstStyle/>
          <a:p>
            <a:pPr>
              <a:spcAft>
                <a:spcPts val="900"/>
              </a:spcAft>
            </a:pPr>
            <a:r>
              <a:rPr sz="1050" b="1">
                <a:solidFill>
                  <a:srgbClr val="2C3E50"/>
                </a:solidFill>
                <a:latin typeface="Arial"/>
              </a:rPr>
              <a:t>Acceptance rate (effective).  </a:t>
            </a:r>
            <a:r>
              <a:rPr sz="1050">
                <a:solidFill>
                  <a:srgbClr val="5D6D7E"/>
                </a:solidFill>
                <a:latin typeface="Arial"/>
              </a:rPr>
              <a:t>€ booked / € applied for, over every application that comes through the door — rejected, cancelled and booked alike. The first row of the table. Point 1 and every scenario use it.</a:t>
            </a:r>
          </a:p>
          <a:p>
            <a:pPr>
              <a:spcAft>
                <a:spcPts val="900"/>
              </a:spcAft>
            </a:pPr>
            <a:r>
              <a:rPr sz="1050" b="1">
                <a:solidFill>
                  <a:srgbClr val="2C3E50"/>
                </a:solidFill>
                <a:latin typeface="Arial"/>
              </a:rPr>
              <a:t>Score acceptance.  </a:t>
            </a:r>
            <a:r>
              <a:rPr sz="1050">
                <a:solidFill>
                  <a:srgbClr val="5D6D7E"/>
                </a:solidFill>
                <a:latin typeface="Arial"/>
              </a:rPr>
              <a:t>€ above the score cutoff and not rejected by another rule, over € demand. Comparable with the engine's approval rate, not with the effective one; shown only in the scenario table.</a:t>
            </a:r>
          </a:p>
          <a:p>
            <a:pPr>
              <a:spcAft>
                <a:spcPts val="900"/>
              </a:spcAft>
            </a:pPr>
            <a:r>
              <a:rPr sz="1050" b="1">
                <a:solidFill>
                  <a:srgbClr val="2C3E50"/>
                </a:solidFill>
                <a:latin typeface="Arial"/>
              </a:rPr>
              <a:t>Unfinished demand.  </a:t>
            </a:r>
            <a:r>
              <a:rPr sz="1050">
                <a:solidFill>
                  <a:srgbClr val="5D6D7E"/>
                </a:solidFill>
                <a:latin typeface="Arial"/>
              </a:rPr>
              <a:t>Approved by the engine, then cancelled by the customer. It counts in the denominator and not in the numerator, like a rejection. In the scenarios every accepted application converts at the actual take-up of its decision, so cancellations are assumed to behave as today: a looser grid does not recover them.</a:t>
            </a:r>
          </a:p>
          <a:p>
            <a:pPr>
              <a:spcAft>
                <a:spcPts val="900"/>
              </a:spcAft>
            </a:pPr>
            <a:r>
              <a:rPr sz="1050" b="1">
                <a:solidFill>
                  <a:srgbClr val="2C3E50"/>
                </a:solidFill>
                <a:latin typeface="Arial"/>
              </a:rPr>
              <a:t>Approved, rejected downstream.  </a:t>
            </a:r>
            <a:r>
              <a:rPr sz="1050">
                <a:solidFill>
                  <a:srgbClr val="5D6D7E"/>
                </a:solidFill>
                <a:latin typeface="Arial"/>
              </a:rPr>
              <a:t>Approved by the engine, rejected at a later step (no reason in the extract). Treated like unfinished demand.</a:t>
            </a:r>
          </a:p>
          <a:p>
            <a:pPr>
              <a:spcAft>
                <a:spcPts val="900"/>
              </a:spcAft>
            </a:pPr>
            <a:r>
              <a:rPr sz="1050" b="1">
                <a:solidFill>
                  <a:srgbClr val="2C3E50"/>
                </a:solidFill>
                <a:latin typeface="Arial"/>
              </a:rPr>
              <a:t>Reject inference.  </a:t>
            </a:r>
            <a:r>
              <a:rPr sz="1050">
                <a:solidFill>
                  <a:srgbClr val="5D6D7E"/>
                </a:solidFill>
                <a:latin typeface="Arial"/>
              </a:rPr>
              <a:t>Neither state enters the per-bin acceptance rate — booked / (booked + score-rejected) — so they do not inflate the uplift.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POINT 1 · MEASURED</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Originations Mar 2025 – Feb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Apple Online today</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nline.png"/>
          <p:cNvPicPr>
            <a:picLocks noChangeAspect="1"/>
          </p:cNvPicPr>
          <p:nvPr/>
        </p:nvPicPr>
        <p:blipFill>
          <a:blip r:embed="rId2"/>
          <a:stretch>
            <a:fillRect/>
          </a:stretch>
        </p:blipFill>
        <p:spPr>
          <a:xfrm>
            <a:off x="1746542" y="1563624"/>
            <a:ext cx="8698611"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Realized risk on originations with 6 months on book. No assumptions.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POINT 1 · MEASURED</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Originations Mar 2025 – Feb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Apple Stores today</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ores_today.png"/>
          <p:cNvPicPr>
            <a:picLocks noChangeAspect="1"/>
          </p:cNvPicPr>
          <p:nvPr/>
        </p:nvPicPr>
        <p:blipFill>
          <a:blip r:embed="rId2"/>
          <a:stretch>
            <a:fillRect/>
          </a:stretch>
        </p:blipFill>
        <p:spPr>
          <a:xfrm>
            <a:off x="1746542" y="1563624"/>
            <a:ext cx="8698611"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Measured on stores' own history, same window as Online: describing where they stand today needs no imputation. They accept almost three times as much as Online and carry less risk. Warning: their acceptance rate is falling (58.7% over Mar 2025 – Feb 2026, 47.2% in Aug–Sep 2026), so the baseline is moving.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POINT 2 · ESTIMATED RISK</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Stores Aug–Sep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Stores with the e-commerce grid</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ores.png"/>
          <p:cNvPicPr>
            <a:picLocks noChangeAspect="1"/>
          </p:cNvPicPr>
          <p:nvPr/>
        </p:nvPicPr>
        <p:blipFill>
          <a:blip r:embed="rId2"/>
          <a:stretch>
            <a:fillRect/>
          </a:stretch>
        </p:blipFill>
        <p:spPr>
          <a:xfrm>
            <a:off x="1006052" y="1563624"/>
            <a:ext cx="10179590"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Both columns measure the same population —Aug–Sep 2026, the only period with an EFX score in stores— which is why 'today' here is 47.2% and on the previous slide 58.7%. Only the score rule is swapped; stores' other rules stay. Risk is imputed from the Online curve, with the level anchored to stores' realized figure.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POINT 3 · SCENARIOS</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 2025 – Feb 2026  ·  stores Aug–Sep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What each risk target costs</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ontier.png"/>
          <p:cNvPicPr>
            <a:picLocks noChangeAspect="1"/>
          </p:cNvPicPr>
          <p:nvPr/>
        </p:nvPicPr>
        <p:blipFill>
          <a:blip r:embed="rId2"/>
          <a:stretch>
            <a:fillRect/>
          </a:stretch>
        </p:blipFill>
        <p:spPr>
          <a:xfrm>
            <a:off x="566928" y="1563624"/>
            <a:ext cx="6720840" cy="3316095"/>
          </a:xfrm>
          <a:prstGeom prst="rect">
            <a:avLst/>
          </a:prstGeom>
        </p:spPr>
      </p:pic>
      <p:graphicFrame>
        <p:nvGraphicFramePr>
          <p:cNvPr id="7" name="Table 6"/>
          <p:cNvGraphicFramePr>
            <a:graphicFrameLocks noGrp="1"/>
          </p:cNvGraphicFramePr>
          <p:nvPr/>
        </p:nvGraphicFramePr>
        <p:xfrm>
          <a:off x="7543800" y="1655064"/>
          <a:ext cx="4343399" cy="2852928"/>
        </p:xfrm>
        <a:graphic>
          <a:graphicData uri="http://schemas.openxmlformats.org/drawingml/2006/table">
            <a:tbl>
              <a:tblPr firstRow="1" bandRow="1">
                <a:tableStyleId>{5C22544A-7EE6-4342-B048-85BDC9FD1C3A}</a:tableStyleId>
              </a:tblPr>
              <a:tblGrid>
                <a:gridCol w="1868129"/>
                <a:gridCol w="840658"/>
                <a:gridCol w="793954"/>
                <a:gridCol w="840658"/>
              </a:tblGrid>
              <a:tr h="237744">
                <a:tc>
                  <a:txBody>
                    <a:bodyPr/>
                    <a:lstStyle/>
                    <a:p>
                      <a:pPr algn="l"/>
                      <a:r>
                        <a:rPr sz="1150" b="1">
                          <a:solidFill>
                            <a:srgbClr val="2C3E50"/>
                          </a:solidFill>
                          <a:latin typeface="Arial"/>
                        </a:rPr>
                        <a:t>Scenario</a:t>
                      </a:r>
                    </a:p>
                  </a:txBody>
                  <a:tcPr>
                    <a:solidFill>
                      <a:srgbClr val="F6F7F9"/>
                    </a:solidFill>
                  </a:tcPr>
                </a:tc>
                <a:tc>
                  <a:txBody>
                    <a:bodyPr/>
                    <a:lstStyle/>
                    <a:p>
                      <a:pPr algn="r"/>
                      <a:r>
                        <a:rPr sz="1150" b="1">
                          <a:solidFill>
                            <a:srgbClr val="2C3E50"/>
                          </a:solidFill>
                          <a:latin typeface="Arial"/>
                        </a:rPr>
                        <a:t>Cutoff</a:t>
                      </a:r>
                    </a:p>
                  </a:txBody>
                  <a:tcPr>
                    <a:solidFill>
                      <a:srgbClr val="F6F7F9"/>
                    </a:solidFill>
                  </a:tcPr>
                </a:tc>
                <a:tc>
                  <a:txBody>
                    <a:bodyPr/>
                    <a:lstStyle/>
                    <a:p>
                      <a:pPr algn="r"/>
                      <a:r>
                        <a:rPr sz="1150" b="1">
                          <a:solidFill>
                            <a:srgbClr val="2C3E50"/>
                          </a:solidFill>
                          <a:latin typeface="Arial"/>
                        </a:rPr>
                        <a:t>Score acc.</a:t>
                      </a:r>
                    </a:p>
                  </a:txBody>
                  <a:tcPr>
                    <a:solidFill>
                      <a:srgbClr val="F6F7F9"/>
                    </a:solidFill>
                  </a:tcPr>
                </a:tc>
                <a:tc>
                  <a:txBody>
                    <a:bodyPr/>
                    <a:lstStyle/>
                    <a:p>
                      <a:pPr algn="r"/>
                      <a:r>
                        <a:rPr sz="1150" b="1">
                          <a:solidFill>
                            <a:srgbClr val="2C3E50"/>
                          </a:solidFill>
                          <a:latin typeface="Arial"/>
                        </a:rPr>
                        <a:t>Eff. acc.</a:t>
                      </a:r>
                    </a:p>
                  </a:txBody>
                  <a:tcPr>
                    <a:solidFill>
                      <a:srgbClr val="F6F7F9"/>
                    </a:solidFill>
                  </a:tcPr>
                </a:tc>
              </a:tr>
              <a:tr h="237744">
                <a:tc>
                  <a:txBody>
                    <a:bodyPr/>
                    <a:lstStyle/>
                    <a:p>
                      <a:pPr algn="l"/>
                      <a:r>
                        <a:rPr sz="1150" b="0">
                          <a:solidFill>
                            <a:srgbClr val="5D6D7E"/>
                          </a:solidFill>
                          <a:latin typeface="Arial"/>
                        </a:rPr>
                        <a:t>Today (measured)</a:t>
                      </a:r>
                    </a:p>
                  </a:txBody>
                  <a:tcPr>
                    <a:solidFill>
                      <a:srgbClr val="FFFFFF"/>
                    </a:solidFill>
                  </a:tcPr>
                </a:tc>
                <a:tc>
                  <a:txBody>
                    <a:bodyPr/>
                    <a:lstStyle/>
                    <a:p>
                      <a:pPr algn="r"/>
                      <a:r>
                        <a:rPr sz="1150" b="0">
                          <a:solidFill>
                            <a:srgbClr val="5D6D7E"/>
                          </a:solidFill>
                          <a:latin typeface="Arial"/>
                        </a:rPr>
                        <a:t>current policy</a:t>
                      </a:r>
                    </a:p>
                  </a:txBody>
                  <a:tcPr>
                    <a:solidFill>
                      <a:srgbClr val="FFFFFF"/>
                    </a:solidFill>
                  </a:tcPr>
                </a:tc>
                <a:tc>
                  <a:txBody>
                    <a:bodyPr/>
                    <a:lstStyle/>
                    <a:p>
                      <a:pPr algn="r"/>
                      <a:r>
                        <a:rPr sz="1150" b="0">
                          <a:solidFill>
                            <a:srgbClr val="5D6D7E"/>
                          </a:solidFill>
                          <a:latin typeface="Arial"/>
                        </a:rPr>
                        <a:t>—</a:t>
                      </a:r>
                    </a:p>
                  </a:txBody>
                  <a:tcPr>
                    <a:solidFill>
                      <a:srgbClr val="FFFFFF"/>
                    </a:solidFill>
                  </a:tcPr>
                </a:tc>
                <a:tc>
                  <a:txBody>
                    <a:bodyPr/>
                    <a:lstStyle/>
                    <a:p>
                      <a:pPr algn="r"/>
                      <a:r>
                        <a:rPr sz="1150" b="0">
                          <a:solidFill>
                            <a:srgbClr val="5D6D7E"/>
                          </a:solidFill>
                          <a:latin typeface="Arial"/>
                        </a:rPr>
                        <a:t>29.5%</a:t>
                      </a:r>
                    </a:p>
                  </a:txBody>
                  <a:tcPr>
                    <a:solidFill>
                      <a:srgbClr val="FFFFFF"/>
                    </a:solidFill>
                  </a:tcPr>
                </a:tc>
              </a:tr>
              <a:tr h="237744">
                <a:tc>
                  <a:txBody>
                    <a:bodyPr/>
                    <a:lstStyle/>
                    <a:p>
                      <a:pPr algn="l"/>
                      <a:r>
                        <a:rPr sz="1150" b="0">
                          <a:solidFill>
                            <a:srgbClr val="5D6D7E"/>
                          </a:solidFill>
                          <a:latin typeface="Arial"/>
                        </a:rPr>
                        <a:t>Today, current demand</a:t>
                      </a:r>
                    </a:p>
                  </a:txBody>
                  <a:tcPr>
                    <a:solidFill>
                      <a:srgbClr val="FFFFFF"/>
                    </a:solidFill>
                  </a:tcPr>
                </a:tc>
                <a:tc>
                  <a:txBody>
                    <a:bodyPr/>
                    <a:lstStyle/>
                    <a:p>
                      <a:pPr algn="r"/>
                      <a:r>
                        <a:rPr sz="1150" b="0">
                          <a:solidFill>
                            <a:srgbClr val="5D6D7E"/>
                          </a:solidFill>
                          <a:latin typeface="Arial"/>
                        </a:rPr>
                        <a:t>current policy</a:t>
                      </a:r>
                    </a:p>
                  </a:txBody>
                  <a:tcPr>
                    <a:solidFill>
                      <a:srgbClr val="FFFFFF"/>
                    </a:solidFill>
                  </a:tcPr>
                </a:tc>
                <a:tc>
                  <a:txBody>
                    <a:bodyPr/>
                    <a:lstStyle/>
                    <a:p>
                      <a:pPr algn="r"/>
                      <a:r>
                        <a:rPr sz="1150" b="0">
                          <a:solidFill>
                            <a:srgbClr val="5D6D7E"/>
                          </a:solidFill>
                          <a:latin typeface="Arial"/>
                        </a:rPr>
                        <a:t>—</a:t>
                      </a:r>
                    </a:p>
                  </a:txBody>
                  <a:tcPr>
                    <a:solidFill>
                      <a:srgbClr val="FFFFFF"/>
                    </a:solidFill>
                  </a:tcPr>
                </a:tc>
                <a:tc>
                  <a:txBody>
                    <a:bodyPr/>
                    <a:lstStyle/>
                    <a:p>
                      <a:pPr algn="r"/>
                      <a:r>
                        <a:rPr sz="1150" b="0">
                          <a:solidFill>
                            <a:srgbClr val="5D6D7E"/>
                          </a:solidFill>
                          <a:latin typeface="Arial"/>
                        </a:rPr>
                        <a:t>28.5%</a:t>
                      </a:r>
                    </a:p>
                  </a:txBody>
                  <a:tcPr>
                    <a:solidFill>
                      <a:srgbClr val="FFFFFF"/>
                    </a:solidFill>
                  </a:tcPr>
                </a:tc>
              </a:tr>
              <a:tr h="237744">
                <a:tc>
                  <a:txBody>
                    <a:bodyPr/>
                    <a:lstStyle/>
                    <a:p>
                      <a:pPr algn="l"/>
                      <a:r>
                        <a:rPr sz="1150" b="0">
                          <a:solidFill>
                            <a:srgbClr val="5D6D7E"/>
                          </a:solidFill>
                          <a:latin typeface="Arial"/>
                        </a:rPr>
                        <a:t>Online grid (both)</a:t>
                      </a:r>
                    </a:p>
                  </a:txBody>
                  <a:tcPr>
                    <a:solidFill>
                      <a:srgbClr val="FFFFFF"/>
                    </a:solidFill>
                  </a:tcPr>
                </a:tc>
                <a:tc>
                  <a:txBody>
                    <a:bodyPr/>
                    <a:lstStyle/>
                    <a:p>
                      <a:pPr algn="r"/>
                      <a:r>
                        <a:rPr sz="1150" b="0">
                          <a:solidFill>
                            <a:srgbClr val="5D6D7E"/>
                          </a:solidFill>
                          <a:latin typeface="Arial"/>
                        </a:rPr>
                        <a:t>current</a:t>
                      </a:r>
                    </a:p>
                  </a:txBody>
                  <a:tcPr>
                    <a:solidFill>
                      <a:srgbClr val="FFFFFF"/>
                    </a:solidFill>
                  </a:tcPr>
                </a:tc>
                <a:tc>
                  <a:txBody>
                    <a:bodyPr/>
                    <a:lstStyle/>
                    <a:p>
                      <a:pPr algn="r"/>
                      <a:r>
                        <a:rPr sz="1150" b="0">
                          <a:solidFill>
                            <a:srgbClr val="5D6D7E"/>
                          </a:solidFill>
                          <a:latin typeface="Arial"/>
                        </a:rPr>
                        <a:t>58.9%</a:t>
                      </a:r>
                    </a:p>
                  </a:txBody>
                  <a:tcPr>
                    <a:solidFill>
                      <a:srgbClr val="FFFFFF"/>
                    </a:solidFill>
                  </a:tcPr>
                </a:tc>
                <a:tc>
                  <a:txBody>
                    <a:bodyPr/>
                    <a:lstStyle/>
                    <a:p>
                      <a:pPr algn="r"/>
                      <a:r>
                        <a:rPr sz="1150" b="0">
                          <a:solidFill>
                            <a:srgbClr val="5D6D7E"/>
                          </a:solidFill>
                          <a:latin typeface="Arial"/>
                        </a:rPr>
                        <a:t>32.7%</a:t>
                      </a:r>
                    </a:p>
                  </a:txBody>
                  <a:tcPr>
                    <a:solidFill>
                      <a:srgbClr val="FFFFFF"/>
                    </a:solidFill>
                  </a:tcPr>
                </a:tc>
              </a:tr>
              <a:tr h="237744">
                <a:tc>
                  <a:txBody>
                    <a:bodyPr/>
                    <a:lstStyle/>
                    <a:p>
                      <a:pPr algn="l"/>
                      <a:r>
                        <a:rPr sz="1150" b="0">
                          <a:solidFill>
                            <a:srgbClr val="5D6D7E"/>
                          </a:solidFill>
                          <a:latin typeface="Arial"/>
                        </a:rPr>
                        <a:t>2.5% · single</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38.1%</a:t>
                      </a:r>
                    </a:p>
                  </a:txBody>
                  <a:tcPr>
                    <a:solidFill>
                      <a:srgbClr val="FFFFFF"/>
                    </a:solidFill>
                  </a:tcPr>
                </a:tc>
                <a:tc>
                  <a:txBody>
                    <a:bodyPr/>
                    <a:lstStyle/>
                    <a:p>
                      <a:pPr algn="r"/>
                      <a:r>
                        <a:rPr sz="1150" b="0">
                          <a:solidFill>
                            <a:srgbClr val="5D6D7E"/>
                          </a:solidFill>
                          <a:latin typeface="Arial"/>
                        </a:rPr>
                        <a:t>21.6%</a:t>
                      </a:r>
                    </a:p>
                  </a:txBody>
                  <a:tcPr>
                    <a:solidFill>
                      <a:srgbClr val="FFFFFF"/>
                    </a:solidFill>
                  </a:tcPr>
                </a:tc>
              </a:tr>
              <a:tr h="237744">
                <a:tc>
                  <a:txBody>
                    <a:bodyPr/>
                    <a:lstStyle/>
                    <a:p>
                      <a:pPr algn="l"/>
                      <a:r>
                        <a:rPr sz="1150" b="0">
                          <a:solidFill>
                            <a:srgbClr val="5D6D7E"/>
                          </a:solidFill>
                          <a:latin typeface="Arial"/>
                        </a:rPr>
                        <a:t>2.5% · shifted</a:t>
                      </a:r>
                    </a:p>
                  </a:txBody>
                  <a:tcPr>
                    <a:solidFill>
                      <a:srgbClr val="FFFFFF"/>
                    </a:solidFill>
                  </a:tcPr>
                </a:tc>
                <a:tc>
                  <a:txBody>
                    <a:bodyPr/>
                    <a:lstStyle/>
                    <a:p>
                      <a:pPr algn="r"/>
                      <a:r>
                        <a:rPr sz="1150" b="0">
                          <a:solidFill>
                            <a:srgbClr val="5D6D7E"/>
                          </a:solidFill>
                          <a:latin typeface="Arial"/>
                        </a:rPr>
                        <a:t>+36p</a:t>
                      </a:r>
                    </a:p>
                  </a:txBody>
                  <a:tcPr>
                    <a:solidFill>
                      <a:srgbClr val="FFFFFF"/>
                    </a:solidFill>
                  </a:tcPr>
                </a:tc>
                <a:tc>
                  <a:txBody>
                    <a:bodyPr/>
                    <a:lstStyle/>
                    <a:p>
                      <a:pPr algn="r"/>
                      <a:r>
                        <a:rPr sz="1150" b="0">
                          <a:solidFill>
                            <a:srgbClr val="5D6D7E"/>
                          </a:solidFill>
                          <a:latin typeface="Arial"/>
                        </a:rPr>
                        <a:t>38.2%</a:t>
                      </a:r>
                    </a:p>
                  </a:txBody>
                  <a:tcPr>
                    <a:solidFill>
                      <a:srgbClr val="FFFFFF"/>
                    </a:solidFill>
                  </a:tcPr>
                </a:tc>
                <a:tc>
                  <a:txBody>
                    <a:bodyPr/>
                    <a:lstStyle/>
                    <a:p>
                      <a:pPr algn="r"/>
                      <a:r>
                        <a:rPr sz="1150" b="0">
                          <a:solidFill>
                            <a:srgbClr val="5D6D7E"/>
                          </a:solidFill>
                          <a:latin typeface="Arial"/>
                        </a:rPr>
                        <a:t>21.7%</a:t>
                      </a:r>
                    </a:p>
                  </a:txBody>
                  <a:tcPr>
                    <a:solidFill>
                      <a:srgbClr val="FFFFFF"/>
                    </a:solidFill>
                  </a:tcPr>
                </a:tc>
              </a:tr>
              <a:tr h="237744">
                <a:tc>
                  <a:txBody>
                    <a:bodyPr/>
                    <a:lstStyle/>
                    <a:p>
                      <a:pPr algn="l"/>
                      <a:r>
                        <a:rPr sz="1150" b="0">
                          <a:solidFill>
                            <a:srgbClr val="5D6D7E"/>
                          </a:solidFill>
                          <a:latin typeface="Arial"/>
                        </a:rPr>
                        <a:t>3% · single</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47.0%</a:t>
                      </a:r>
                    </a:p>
                  </a:txBody>
                  <a:tcPr>
                    <a:solidFill>
                      <a:srgbClr val="FFFFFF"/>
                    </a:solidFill>
                  </a:tcPr>
                </a:tc>
                <a:tc>
                  <a:txBody>
                    <a:bodyPr/>
                    <a:lstStyle/>
                    <a:p>
                      <a:pPr algn="r"/>
                      <a:r>
                        <a:rPr sz="1150" b="0">
                          <a:solidFill>
                            <a:srgbClr val="5D6D7E"/>
                          </a:solidFill>
                          <a:latin typeface="Arial"/>
                        </a:rPr>
                        <a:t>26.5%</a:t>
                      </a:r>
                    </a:p>
                  </a:txBody>
                  <a:tcPr>
                    <a:solidFill>
                      <a:srgbClr val="FFFFFF"/>
                    </a:solidFill>
                  </a:tcPr>
                </a:tc>
              </a:tr>
              <a:tr h="237744">
                <a:tc>
                  <a:txBody>
                    <a:bodyPr/>
                    <a:lstStyle/>
                    <a:p>
                      <a:pPr algn="l"/>
                      <a:r>
                        <a:rPr sz="1150" b="0">
                          <a:solidFill>
                            <a:srgbClr val="5D6D7E"/>
                          </a:solidFill>
                          <a:latin typeface="Arial"/>
                        </a:rPr>
                        <a:t>3% · shifted</a:t>
                      </a:r>
                    </a:p>
                  </a:txBody>
                  <a:tcPr>
                    <a:solidFill>
                      <a:srgbClr val="FFFFFF"/>
                    </a:solidFill>
                  </a:tcPr>
                </a:tc>
                <a:tc>
                  <a:txBody>
                    <a:bodyPr/>
                    <a:lstStyle/>
                    <a:p>
                      <a:pPr algn="r"/>
                      <a:r>
                        <a:rPr sz="1150" b="0">
                          <a:solidFill>
                            <a:srgbClr val="5D6D7E"/>
                          </a:solidFill>
                          <a:latin typeface="Arial"/>
                        </a:rPr>
                        <a:t>+23p</a:t>
                      </a:r>
                    </a:p>
                  </a:txBody>
                  <a:tcPr>
                    <a:solidFill>
                      <a:srgbClr val="FFFFFF"/>
                    </a:solidFill>
                  </a:tcPr>
                </a:tc>
                <a:tc>
                  <a:txBody>
                    <a:bodyPr/>
                    <a:lstStyle/>
                    <a:p>
                      <a:pPr algn="r"/>
                      <a:r>
                        <a:rPr sz="1150" b="0">
                          <a:solidFill>
                            <a:srgbClr val="5D6D7E"/>
                          </a:solidFill>
                          <a:latin typeface="Arial"/>
                        </a:rPr>
                        <a:t>48.8%</a:t>
                      </a:r>
                    </a:p>
                  </a:txBody>
                  <a:tcPr>
                    <a:solidFill>
                      <a:srgbClr val="FFFFFF"/>
                    </a:solidFill>
                  </a:tcPr>
                </a:tc>
                <a:tc>
                  <a:txBody>
                    <a:bodyPr/>
                    <a:lstStyle/>
                    <a:p>
                      <a:pPr algn="r"/>
                      <a:r>
                        <a:rPr sz="1150" b="0">
                          <a:solidFill>
                            <a:srgbClr val="5D6D7E"/>
                          </a:solidFill>
                          <a:latin typeface="Arial"/>
                        </a:rPr>
                        <a:t>27.5%</a:t>
                      </a:r>
                    </a:p>
                  </a:txBody>
                  <a:tcPr>
                    <a:solidFill>
                      <a:srgbClr val="FFFFFF"/>
                    </a:solidFill>
                  </a:tcPr>
                </a:tc>
              </a:tr>
              <a:tr h="237744">
                <a:tc>
                  <a:txBody>
                    <a:bodyPr/>
                    <a:lstStyle/>
                    <a:p>
                      <a:pPr algn="l"/>
                      <a:r>
                        <a:rPr sz="1150" b="0">
                          <a:solidFill>
                            <a:srgbClr val="5D6D7E"/>
                          </a:solidFill>
                          <a:latin typeface="Arial"/>
                        </a:rPr>
                        <a:t>3.5% · single</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55.2%</a:t>
                      </a:r>
                    </a:p>
                  </a:txBody>
                  <a:tcPr>
                    <a:solidFill>
                      <a:srgbClr val="FFFFFF"/>
                    </a:solidFill>
                  </a:tcPr>
                </a:tc>
                <a:tc>
                  <a:txBody>
                    <a:bodyPr/>
                    <a:lstStyle/>
                    <a:p>
                      <a:pPr algn="r"/>
                      <a:r>
                        <a:rPr sz="1150" b="0">
                          <a:solidFill>
                            <a:srgbClr val="5D6D7E"/>
                          </a:solidFill>
                          <a:latin typeface="Arial"/>
                        </a:rPr>
                        <a:t>30.8%</a:t>
                      </a:r>
                    </a:p>
                  </a:txBody>
                  <a:tcPr>
                    <a:solidFill>
                      <a:srgbClr val="FFFFFF"/>
                    </a:solidFill>
                  </a:tcPr>
                </a:tc>
              </a:tr>
              <a:tr h="237744">
                <a:tc>
                  <a:txBody>
                    <a:bodyPr/>
                    <a:lstStyle/>
                    <a:p>
                      <a:pPr algn="l"/>
                      <a:r>
                        <a:rPr sz="1150" b="0">
                          <a:solidFill>
                            <a:srgbClr val="5D6D7E"/>
                          </a:solidFill>
                          <a:latin typeface="Arial"/>
                        </a:rPr>
                        <a:t>3.5% · shifted</a:t>
                      </a:r>
                    </a:p>
                  </a:txBody>
                  <a:tcPr>
                    <a:solidFill>
                      <a:srgbClr val="FFFFFF"/>
                    </a:solidFill>
                  </a:tcPr>
                </a:tc>
                <a:tc>
                  <a:txBody>
                    <a:bodyPr/>
                    <a:lstStyle/>
                    <a:p>
                      <a:pPr algn="r"/>
                      <a:r>
                        <a:rPr sz="1150" b="0">
                          <a:solidFill>
                            <a:srgbClr val="5D6D7E"/>
                          </a:solidFill>
                          <a:latin typeface="Arial"/>
                        </a:rPr>
                        <a:t>+10p</a:t>
                      </a:r>
                    </a:p>
                  </a:txBody>
                  <a:tcPr>
                    <a:solidFill>
                      <a:srgbClr val="FFFFFF"/>
                    </a:solidFill>
                  </a:tcPr>
                </a:tc>
                <a:tc>
                  <a:txBody>
                    <a:bodyPr/>
                    <a:lstStyle/>
                    <a:p>
                      <a:pPr algn="r"/>
                      <a:r>
                        <a:rPr sz="1150" b="0">
                          <a:solidFill>
                            <a:srgbClr val="5D6D7E"/>
                          </a:solidFill>
                          <a:latin typeface="Arial"/>
                        </a:rPr>
                        <a:t>56.0%</a:t>
                      </a:r>
                    </a:p>
                  </a:txBody>
                  <a:tcPr>
                    <a:solidFill>
                      <a:srgbClr val="FFFFFF"/>
                    </a:solidFill>
                  </a:tcPr>
                </a:tc>
                <a:tc>
                  <a:txBody>
                    <a:bodyPr/>
                    <a:lstStyle/>
                    <a:p>
                      <a:pPr algn="r"/>
                      <a:r>
                        <a:rPr sz="1150" b="0">
                          <a:solidFill>
                            <a:srgbClr val="5D6D7E"/>
                          </a:solidFill>
                          <a:latin typeface="Arial"/>
                        </a:rPr>
                        <a:t>31.2%</a:t>
                      </a:r>
                    </a:p>
                  </a:txBody>
                  <a:tcPr>
                    <a:solidFill>
                      <a:srgbClr val="FFFFFF"/>
                    </a:solidFill>
                  </a:tcPr>
                </a:tc>
              </a:tr>
              <a:tr h="237744">
                <a:tc>
                  <a:txBody>
                    <a:bodyPr/>
                    <a:lstStyle/>
                    <a:p>
                      <a:pPr algn="l"/>
                      <a:r>
                        <a:rPr sz="1150" b="0">
                          <a:solidFill>
                            <a:srgbClr val="5D6D7E"/>
                          </a:solidFill>
                          <a:latin typeface="Arial"/>
                        </a:rPr>
                        <a:t>4% · single</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58.6%</a:t>
                      </a:r>
                    </a:p>
                  </a:txBody>
                  <a:tcPr>
                    <a:solidFill>
                      <a:srgbClr val="FFFFFF"/>
                    </a:solidFill>
                  </a:tcPr>
                </a:tc>
                <a:tc>
                  <a:txBody>
                    <a:bodyPr/>
                    <a:lstStyle/>
                    <a:p>
                      <a:pPr algn="r"/>
                      <a:r>
                        <a:rPr sz="1150" b="0">
                          <a:solidFill>
                            <a:srgbClr val="5D6D7E"/>
                          </a:solidFill>
                          <a:latin typeface="Arial"/>
                        </a:rPr>
                        <a:t>32.5%</a:t>
                      </a:r>
                    </a:p>
                  </a:txBody>
                  <a:tcPr>
                    <a:solidFill>
                      <a:srgbClr val="FFFFFF"/>
                    </a:solidFill>
                  </a:tcPr>
                </a:tc>
              </a:tr>
              <a:tr h="237744">
                <a:tc>
                  <a:txBody>
                    <a:bodyPr/>
                    <a:lstStyle/>
                    <a:p>
                      <a:pPr algn="l"/>
                      <a:r>
                        <a:rPr sz="1150" b="0">
                          <a:solidFill>
                            <a:srgbClr val="5D6D7E"/>
                          </a:solidFill>
                          <a:latin typeface="Arial"/>
                        </a:rPr>
                        <a:t>4% · shifted</a:t>
                      </a:r>
                    </a:p>
                  </a:txBody>
                  <a:tcPr>
                    <a:solidFill>
                      <a:srgbClr val="FFFFFF"/>
                    </a:solidFill>
                  </a:tcPr>
                </a:tc>
                <a:tc>
                  <a:txBody>
                    <a:bodyPr/>
                    <a:lstStyle/>
                    <a:p>
                      <a:pPr algn="r"/>
                      <a:r>
                        <a:rPr sz="1150" b="0">
                          <a:solidFill>
                            <a:srgbClr val="5D6D7E"/>
                          </a:solidFill>
                          <a:latin typeface="Arial"/>
                        </a:rPr>
                        <a:t>+0p</a:t>
                      </a:r>
                    </a:p>
                  </a:txBody>
                  <a:tcPr>
                    <a:solidFill>
                      <a:srgbClr val="FFFFFF"/>
                    </a:solidFill>
                  </a:tcPr>
                </a:tc>
                <a:tc>
                  <a:txBody>
                    <a:bodyPr/>
                    <a:lstStyle/>
                    <a:p>
                      <a:pPr algn="r"/>
                      <a:r>
                        <a:rPr sz="1150" b="0">
                          <a:solidFill>
                            <a:srgbClr val="5D6D7E"/>
                          </a:solidFill>
                          <a:latin typeface="Arial"/>
                        </a:rPr>
                        <a:t>58.9%</a:t>
                      </a:r>
                    </a:p>
                  </a:txBody>
                  <a:tcPr>
                    <a:solidFill>
                      <a:srgbClr val="FFFFFF"/>
                    </a:solidFill>
                  </a:tcPr>
                </a:tc>
                <a:tc>
                  <a:txBody>
                    <a:bodyPr/>
                    <a:lstStyle/>
                    <a:p>
                      <a:pPr algn="r"/>
                      <a:r>
                        <a:rPr sz="1150" b="0">
                          <a:solidFill>
                            <a:srgbClr val="5D6D7E"/>
                          </a:solidFill>
                          <a:latin typeface="Arial"/>
                        </a:rPr>
                        <a:t>32.7%</a:t>
                      </a:r>
                    </a:p>
                  </a:txBody>
                  <a:tcPr>
                    <a:solidFill>
                      <a:srgbClr val="FFFFFF"/>
                    </a:solidFill>
                  </a:tcPr>
                </a:tc>
              </a:tr>
            </a:tbl>
          </a:graphicData>
        </a:graphic>
      </p:graphicFrame>
      <p:sp>
        <p:nvSpPr>
          <p:cNvPr id="8" name="TextBox 7"/>
          <p:cNvSpPr txBox="1"/>
          <p:nvPr/>
        </p:nvSpPr>
        <p:spPr>
          <a:xfrm>
            <a:off x="566928" y="4989447"/>
            <a:ext cx="6720840" cy="292608"/>
          </a:xfrm>
          <a:prstGeom prst="rect">
            <a:avLst/>
          </a:prstGeom>
          <a:noFill/>
        </p:spPr>
        <p:txBody>
          <a:bodyPr wrap="square">
            <a:spAutoFit/>
          </a:bodyPr>
          <a:lstStyle/>
          <a:p>
            <a:pPr algn="l">
              <a:lnSpc>
                <a:spcPct val="100000"/>
              </a:lnSpc>
            </a:pPr>
            <a:r>
              <a:rPr sz="1250" b="1">
                <a:solidFill>
                  <a:srgbClr val="E74C3C"/>
                </a:solidFill>
                <a:latin typeface="Arial"/>
              </a:rPr>
              <a:t>Why the model produces more than what was measured</a:t>
            </a:r>
          </a:p>
        </p:txBody>
      </p:sp>
      <p:sp>
        <p:nvSpPr>
          <p:cNvPr id="9" name="TextBox 8"/>
          <p:cNvSpPr txBox="1"/>
          <p:nvPr/>
        </p:nvSpPr>
        <p:spPr>
          <a:xfrm>
            <a:off x="566928" y="5300343"/>
            <a:ext cx="6720840" cy="1280160"/>
          </a:xfrm>
          <a:prstGeom prst="rect">
            <a:avLst/>
          </a:prstGeom>
          <a:noFill/>
        </p:spPr>
        <p:txBody>
          <a:bodyPr wrap="square">
            <a:spAutoFit/>
          </a:bodyPr>
          <a:lstStyle/>
          <a:p>
            <a:pPr algn="l">
              <a:lnSpc>
                <a:spcPct val="120000"/>
              </a:lnSpc>
            </a:pPr>
            <a:r>
              <a:rPr sz="1100" b="0">
                <a:solidFill>
                  <a:srgbClr val="5D6D7E"/>
                </a:solidFill>
                <a:latin typeface="Arial"/>
              </a:rPr>
              <a:t>The current grid replicates Online's actual decisions (it accepts 51.8% of demand; the engine approved 51.9%: swap-in 0.6%, swap-out 0.6%) and every accepted application converts at the take-up rate of its actual decision. Modelled and measured Online coincide: the gap between €18.5M and €15.3M per month is stores. That gap has two parts: the grid (+€2.3M/mo on the same base, €16.2M → €18.5M) and volume (+€0.9M: store demand in Aug–Sep 2026 runs 40% above the average of the 'today' window).</a:t>
            </a:r>
          </a:p>
        </p:txBody>
      </p:sp>
      <p:sp>
        <p:nvSpPr>
          <p:cNvPr id="10" name="TextBox 9"/>
          <p:cNvSpPr txBox="1"/>
          <p:nvPr/>
        </p:nvSpPr>
        <p:spPr>
          <a:xfrm>
            <a:off x="7543800" y="4672584"/>
            <a:ext cx="4343400" cy="2103120"/>
          </a:xfrm>
          <a:prstGeom prst="rect">
            <a:avLst/>
          </a:prstGeom>
          <a:noFill/>
        </p:spPr>
        <p:txBody>
          <a:bodyPr wrap="square">
            <a:spAutoFit/>
          </a:bodyPr>
          <a:lstStyle/>
          <a:p>
            <a:pPr algn="l">
              <a:lnSpc>
                <a:spcPct val="125000"/>
              </a:lnSpc>
            </a:pPr>
            <a:r>
              <a:rPr sz="1050" b="0">
                <a:solidFill>
                  <a:srgbClr val="5D6D7E"/>
                </a:solidFill>
                <a:latin typeface="Arial"/>
              </a:rPr>
              <a:t>Score acc.: demand above the cutoff.</a:t>
            </a:r>
          </a:p>
          <a:p>
            <a:pPr algn="l">
              <a:lnSpc>
                <a:spcPct val="125000"/>
              </a:lnSpc>
            </a:pPr>
            <a:r>
              <a:rPr sz="1050" b="0">
                <a:solidFill>
                  <a:srgbClr val="5D6D7E"/>
                </a:solidFill>
                <a:latin typeface="Arial"/>
              </a:rPr>
              <a:t>Eff. acc.: production / demand, the same base as point 1. The two are not comparable.</a:t>
            </a:r>
          </a:p>
          <a:p>
            <a:pPr algn="l">
              <a:lnSpc>
                <a:spcPct val="125000"/>
              </a:lnSpc>
            </a:pPr>
            <a:r>
              <a:rPr sz="1050" b="0">
                <a:solidFill>
                  <a:srgbClr val="5D6D7E"/>
                </a:solidFill>
                <a:latin typeface="Arial"/>
              </a:rPr>
              <a:t/>
            </a:r>
          </a:p>
          <a:p>
            <a:pPr algn="l">
              <a:lnSpc>
                <a:spcPct val="125000"/>
              </a:lnSpc>
            </a:pPr>
            <a:r>
              <a:rPr sz="1050" b="0">
                <a:solidFill>
                  <a:srgbClr val="5D6D7E"/>
                </a:solidFill>
                <a:latin typeface="Arial"/>
              </a:rPr>
              <a:t>Shifting the current grid keeps its shape —looser where the group is good— and gives slightly more acceptance at the same risk.</a:t>
            </a:r>
          </a:p>
          <a:p>
            <a:pPr algn="l">
              <a:lnSpc>
                <a:spcPct val="125000"/>
              </a:lnSpc>
            </a:pPr>
            <a:r>
              <a:rPr sz="1050" b="0">
                <a:solidFill>
                  <a:srgbClr val="5D6D7E"/>
                </a:solidFill>
                <a:latin typeface="Arial"/>
              </a:rPr>
              <a:t/>
            </a:r>
          </a:p>
          <a:p>
            <a:pPr algn="l">
              <a:lnSpc>
                <a:spcPct val="125000"/>
              </a:lnSpc>
            </a:pPr>
            <a:r>
              <a:rPr sz="1050" b="0">
                <a:solidFill>
                  <a:srgbClr val="5D6D7E"/>
                </a:solidFill>
                <a:latin typeface="Arial"/>
              </a:rPr>
              <a:t>Scenario risks carry the reject-inference uplift, a conservative margin that also falls on Online's own book (+0.08 pp vs realized); the two 'today' rows are realized. Like for like, the current grid moves risk by -0.21 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POINT 4 · GRIDS</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Policy — no period</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What grid each scenario implies</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63624"/>
            <a:ext cx="11057839" cy="320040"/>
          </a:xfrm>
          <a:prstGeom prst="rect">
            <a:avLst/>
          </a:prstGeom>
          <a:noFill/>
        </p:spPr>
        <p:txBody>
          <a:bodyPr wrap="square">
            <a:spAutoFit/>
          </a:bodyPr>
          <a:lstStyle/>
          <a:p>
            <a:pPr algn="l">
              <a:lnSpc>
                <a:spcPct val="100000"/>
              </a:lnSpc>
            </a:pPr>
            <a:r>
              <a:rPr sz="1150" b="0">
                <a:solidFill>
                  <a:srgbClr val="5D6D7E"/>
                </a:solidFill>
                <a:latin typeface="Arial"/>
              </a:rPr>
              <a:t>REJECT threshold by group: applications above the value are accepted.</a:t>
            </a:r>
          </a:p>
        </p:txBody>
      </p:sp>
      <p:sp>
        <p:nvSpPr>
          <p:cNvPr id="7" name="TextBox 6"/>
          <p:cNvSpPr txBox="1"/>
          <p:nvPr/>
        </p:nvSpPr>
        <p:spPr>
          <a:xfrm>
            <a:off x="566928" y="1975104"/>
            <a:ext cx="11057839" cy="292608"/>
          </a:xfrm>
          <a:prstGeom prst="rect">
            <a:avLst/>
          </a:prstGeom>
          <a:noFill/>
        </p:spPr>
        <p:txBody>
          <a:bodyPr wrap="square">
            <a:spAutoFit/>
          </a:bodyPr>
          <a:lstStyle/>
          <a:p>
            <a:pPr algn="l">
              <a:lnSpc>
                <a:spcPct val="100000"/>
              </a:lnSpc>
            </a:pPr>
            <a:r>
              <a:rPr sz="1400" b="1">
                <a:solidFill>
                  <a:srgbClr val="2C3E50"/>
                </a:solidFill>
                <a:latin typeface="Arial"/>
              </a:rPr>
              <a:t>Single cutoff for all of Apple</a:t>
            </a:r>
          </a:p>
        </p:txBody>
      </p:sp>
      <p:graphicFrame>
        <p:nvGraphicFramePr>
          <p:cNvPr id="8" name="Table 7"/>
          <p:cNvGraphicFramePr>
            <a:graphicFrameLocks noGrp="1"/>
          </p:cNvGraphicFramePr>
          <p:nvPr/>
        </p:nvGraphicFramePr>
        <p:xfrm>
          <a:off x="566928" y="2286000"/>
          <a:ext cx="10058397" cy="1481328"/>
        </p:xfrm>
        <a:graphic>
          <a:graphicData uri="http://schemas.openxmlformats.org/drawingml/2006/table">
            <a:tbl>
              <a:tblPr firstRow="1" bandRow="1">
                <a:tableStyleId>{5C22544A-7EE6-4342-B048-85BDC9FD1C3A}</a:tableStyleId>
              </a:tblPr>
              <a:tblGrid>
                <a:gridCol w="2075542"/>
                <a:gridCol w="1596571"/>
                <a:gridCol w="1596571"/>
                <a:gridCol w="1596571"/>
                <a:gridCol w="1596571"/>
                <a:gridCol w="1596571"/>
              </a:tblGrid>
              <a:tr h="246888">
                <a:tc>
                  <a:txBody>
                    <a:bodyPr/>
                    <a:lstStyle/>
                    <a:p>
                      <a:pPr algn="l"/>
                      <a:r>
                        <a:rPr sz="1150" b="1">
                          <a:solidFill>
                            <a:srgbClr val="2C3E50"/>
                          </a:solidFill>
                          <a:latin typeface="Arial"/>
                        </a:rPr>
                        <a:t>Group</a:t>
                      </a:r>
                    </a:p>
                  </a:txBody>
                  <a:tcPr>
                    <a:solidFill>
                      <a:srgbClr val="F6F7F9"/>
                    </a:solidFill>
                  </a:tcPr>
                </a:tc>
                <a:tc>
                  <a:txBody>
                    <a:bodyPr/>
                    <a:lstStyle/>
                    <a:p>
                      <a:pPr algn="r"/>
                      <a:r>
                        <a:rPr sz="1150" b="1">
                          <a:solidFill>
                            <a:srgbClr val="2C3E50"/>
                          </a:solidFill>
                          <a:latin typeface="Arial"/>
                        </a:rPr>
                        <a:t>Today</a:t>
                      </a:r>
                    </a:p>
                  </a:txBody>
                  <a:tcPr>
                    <a:solidFill>
                      <a:srgbClr val="F6F7F9"/>
                    </a:solidFill>
                  </a:tcPr>
                </a:tc>
                <a:tc>
                  <a:txBody>
                    <a:bodyPr/>
                    <a:lstStyle/>
                    <a:p>
                      <a:pPr algn="r"/>
                      <a:r>
                        <a:rPr sz="1150" b="1">
                          <a:solidFill>
                            <a:srgbClr val="2C3E50"/>
                          </a:solidFill>
                          <a:latin typeface="Arial"/>
                        </a:rPr>
                        <a:t>2.5%</a:t>
                      </a:r>
                    </a:p>
                  </a:txBody>
                  <a:tcPr>
                    <a:solidFill>
                      <a:srgbClr val="F6F7F9"/>
                    </a:solidFill>
                  </a:tcPr>
                </a:tc>
                <a:tc>
                  <a:txBody>
                    <a:bodyPr/>
                    <a:lstStyle/>
                    <a:p>
                      <a:pPr algn="r"/>
                      <a:r>
                        <a:rPr sz="1150" b="1">
                          <a:solidFill>
                            <a:srgbClr val="2C3E50"/>
                          </a:solidFill>
                          <a:latin typeface="Arial"/>
                        </a:rPr>
                        <a:t>3%</a:t>
                      </a:r>
                    </a:p>
                  </a:txBody>
                  <a:tcPr>
                    <a:solidFill>
                      <a:srgbClr val="F6F7F9"/>
                    </a:solidFill>
                  </a:tcPr>
                </a:tc>
                <a:tc>
                  <a:txBody>
                    <a:bodyPr/>
                    <a:lstStyle/>
                    <a:p>
                      <a:pPr algn="r"/>
                      <a:r>
                        <a:rPr sz="1150" b="1">
                          <a:solidFill>
                            <a:srgbClr val="2C3E50"/>
                          </a:solidFill>
                          <a:latin typeface="Arial"/>
                        </a:rPr>
                        <a:t>3.5%</a:t>
                      </a:r>
                    </a:p>
                  </a:txBody>
                  <a:tcPr>
                    <a:solidFill>
                      <a:srgbClr val="F6F7F9"/>
                    </a:solidFill>
                  </a:tcPr>
                </a:tc>
                <a:tc>
                  <a:txBody>
                    <a:bodyPr/>
                    <a:lstStyle/>
                    <a:p>
                      <a:pPr algn="r"/>
                      <a:r>
                        <a:rPr sz="1150" b="1">
                          <a:solidFill>
                            <a:srgbClr val="2C3E50"/>
                          </a:solidFill>
                          <a:latin typeface="Arial"/>
                        </a:rPr>
                        <a:t>4%</a:t>
                      </a:r>
                    </a:p>
                  </a:txBody>
                  <a:tcPr>
                    <a:solidFill>
                      <a:srgbClr val="F6F7F9"/>
                    </a:solidFill>
                  </a:tcPr>
                </a:tc>
              </a:tr>
              <a:tr h="246888">
                <a:tc>
                  <a:txBody>
                    <a:bodyPr/>
                    <a:lstStyle/>
                    <a:p>
                      <a:pPr algn="l"/>
                      <a:r>
                        <a:rPr sz="1150" b="0">
                          <a:solidFill>
                            <a:srgbClr val="5D6D7E"/>
                          </a:solidFill>
                          <a:latin typeface="Arial"/>
                        </a:rPr>
                        <a:t>New</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Inactive</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A-C</a:t>
                      </a:r>
                    </a:p>
                  </a:txBody>
                  <a:tcPr>
                    <a:solidFill>
                      <a:srgbClr val="FFFFFF"/>
                    </a:solidFill>
                  </a:tcPr>
                </a:tc>
                <a:tc>
                  <a:txBody>
                    <a:bodyPr/>
                    <a:lstStyle/>
                    <a:p>
                      <a:pPr algn="r"/>
                      <a:r>
                        <a:rPr sz="1150" b="0">
                          <a:solidFill>
                            <a:srgbClr val="5D6D7E"/>
                          </a:solidFill>
                          <a:latin typeface="Arial"/>
                        </a:rPr>
                        <a:t>&gt; 16</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D-F</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&gt;=G</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r>
            </a:tbl>
          </a:graphicData>
        </a:graphic>
      </p:graphicFrame>
      <p:sp>
        <p:nvSpPr>
          <p:cNvPr id="9" name="TextBox 8"/>
          <p:cNvSpPr txBox="1"/>
          <p:nvPr/>
        </p:nvSpPr>
        <p:spPr>
          <a:xfrm>
            <a:off x="566928" y="4059936"/>
            <a:ext cx="11057839" cy="292608"/>
          </a:xfrm>
          <a:prstGeom prst="rect">
            <a:avLst/>
          </a:prstGeom>
          <a:noFill/>
        </p:spPr>
        <p:txBody>
          <a:bodyPr wrap="square">
            <a:spAutoFit/>
          </a:bodyPr>
          <a:lstStyle/>
          <a:p>
            <a:pPr algn="l">
              <a:lnSpc>
                <a:spcPct val="100000"/>
              </a:lnSpc>
            </a:pPr>
            <a:r>
              <a:rPr sz="1400" b="1">
                <a:solidFill>
                  <a:srgbClr val="2C3E50"/>
                </a:solidFill>
                <a:latin typeface="Arial"/>
              </a:rPr>
              <a:t>Current grid, shifted</a:t>
            </a:r>
          </a:p>
        </p:txBody>
      </p:sp>
      <p:graphicFrame>
        <p:nvGraphicFramePr>
          <p:cNvPr id="10" name="Table 9"/>
          <p:cNvGraphicFramePr>
            <a:graphicFrameLocks noGrp="1"/>
          </p:cNvGraphicFramePr>
          <p:nvPr/>
        </p:nvGraphicFramePr>
        <p:xfrm>
          <a:off x="566928" y="4370832"/>
          <a:ext cx="10058397" cy="1481328"/>
        </p:xfrm>
        <a:graphic>
          <a:graphicData uri="http://schemas.openxmlformats.org/drawingml/2006/table">
            <a:tbl>
              <a:tblPr firstRow="1" bandRow="1">
                <a:tableStyleId>{5C22544A-7EE6-4342-B048-85BDC9FD1C3A}</a:tableStyleId>
              </a:tblPr>
              <a:tblGrid>
                <a:gridCol w="2075542"/>
                <a:gridCol w="1596571"/>
                <a:gridCol w="1596571"/>
                <a:gridCol w="1596571"/>
                <a:gridCol w="1596571"/>
                <a:gridCol w="1596571"/>
              </a:tblGrid>
              <a:tr h="246888">
                <a:tc>
                  <a:txBody>
                    <a:bodyPr/>
                    <a:lstStyle/>
                    <a:p>
                      <a:pPr algn="l"/>
                      <a:r>
                        <a:rPr sz="1150" b="1">
                          <a:solidFill>
                            <a:srgbClr val="2C3E50"/>
                          </a:solidFill>
                          <a:latin typeface="Arial"/>
                        </a:rPr>
                        <a:t>Group</a:t>
                      </a:r>
                    </a:p>
                  </a:txBody>
                  <a:tcPr>
                    <a:solidFill>
                      <a:srgbClr val="F6F7F9"/>
                    </a:solidFill>
                  </a:tcPr>
                </a:tc>
                <a:tc>
                  <a:txBody>
                    <a:bodyPr/>
                    <a:lstStyle/>
                    <a:p>
                      <a:pPr algn="r"/>
                      <a:r>
                        <a:rPr sz="1150" b="1">
                          <a:solidFill>
                            <a:srgbClr val="2C3E50"/>
                          </a:solidFill>
                          <a:latin typeface="Arial"/>
                        </a:rPr>
                        <a:t>Today</a:t>
                      </a:r>
                    </a:p>
                  </a:txBody>
                  <a:tcPr>
                    <a:solidFill>
                      <a:srgbClr val="F6F7F9"/>
                    </a:solidFill>
                  </a:tcPr>
                </a:tc>
                <a:tc>
                  <a:txBody>
                    <a:bodyPr/>
                    <a:lstStyle/>
                    <a:p>
                      <a:pPr algn="r"/>
                      <a:r>
                        <a:rPr sz="1150" b="1">
                          <a:solidFill>
                            <a:srgbClr val="2C3E50"/>
                          </a:solidFill>
                          <a:latin typeface="Arial"/>
                        </a:rPr>
                        <a:t>2.5%</a:t>
                      </a:r>
                    </a:p>
                  </a:txBody>
                  <a:tcPr>
                    <a:solidFill>
                      <a:srgbClr val="F6F7F9"/>
                    </a:solidFill>
                  </a:tcPr>
                </a:tc>
                <a:tc>
                  <a:txBody>
                    <a:bodyPr/>
                    <a:lstStyle/>
                    <a:p>
                      <a:pPr algn="r"/>
                      <a:r>
                        <a:rPr sz="1150" b="1">
                          <a:solidFill>
                            <a:srgbClr val="2C3E50"/>
                          </a:solidFill>
                          <a:latin typeface="Arial"/>
                        </a:rPr>
                        <a:t>3%</a:t>
                      </a:r>
                    </a:p>
                  </a:txBody>
                  <a:tcPr>
                    <a:solidFill>
                      <a:srgbClr val="F6F7F9"/>
                    </a:solidFill>
                  </a:tcPr>
                </a:tc>
                <a:tc>
                  <a:txBody>
                    <a:bodyPr/>
                    <a:lstStyle/>
                    <a:p>
                      <a:pPr algn="r"/>
                      <a:r>
                        <a:rPr sz="1150" b="1">
                          <a:solidFill>
                            <a:srgbClr val="2C3E50"/>
                          </a:solidFill>
                          <a:latin typeface="Arial"/>
                        </a:rPr>
                        <a:t>3.5%</a:t>
                      </a:r>
                    </a:p>
                  </a:txBody>
                  <a:tcPr>
                    <a:solidFill>
                      <a:srgbClr val="F6F7F9"/>
                    </a:solidFill>
                  </a:tcPr>
                </a:tc>
                <a:tc>
                  <a:txBody>
                    <a:bodyPr/>
                    <a:lstStyle/>
                    <a:p>
                      <a:pPr algn="r"/>
                      <a:r>
                        <a:rPr sz="1150" b="1">
                          <a:solidFill>
                            <a:srgbClr val="2C3E50"/>
                          </a:solidFill>
                          <a:latin typeface="Arial"/>
                        </a:rPr>
                        <a:t>4%</a:t>
                      </a:r>
                    </a:p>
                  </a:txBody>
                  <a:tcPr>
                    <a:solidFill>
                      <a:srgbClr val="F6F7F9"/>
                    </a:solidFill>
                  </a:tcPr>
                </a:tc>
              </a:tr>
              <a:tr h="246888">
                <a:tc>
                  <a:txBody>
                    <a:bodyPr/>
                    <a:lstStyle/>
                    <a:p>
                      <a:pPr algn="l"/>
                      <a:r>
                        <a:rPr sz="1150" b="0">
                          <a:solidFill>
                            <a:srgbClr val="5D6D7E"/>
                          </a:solidFill>
                          <a:latin typeface="Arial"/>
                        </a:rPr>
                        <a:t>New</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&gt; 63</a:t>
                      </a:r>
                    </a:p>
                  </a:txBody>
                  <a:tcPr>
                    <a:solidFill>
                      <a:srgbClr val="FFFFFF"/>
                    </a:solidFill>
                  </a:tcPr>
                </a:tc>
                <a:tc>
                  <a:txBody>
                    <a:bodyPr/>
                    <a:lstStyle/>
                    <a:p>
                      <a:pPr algn="r"/>
                      <a:r>
                        <a:rPr sz="1150" b="0">
                          <a:solidFill>
                            <a:srgbClr val="5D6D7E"/>
                          </a:solidFill>
                          <a:latin typeface="Arial"/>
                        </a:rPr>
                        <a:t>&gt; 50</a:t>
                      </a:r>
                    </a:p>
                  </a:txBody>
                  <a:tcPr>
                    <a:solidFill>
                      <a:srgbClr val="FFFFFF"/>
                    </a:solidFill>
                  </a:tcPr>
                </a:tc>
                <a:tc>
                  <a:txBody>
                    <a:bodyPr/>
                    <a:lstStyle/>
                    <a:p>
                      <a:pPr algn="r"/>
                      <a:r>
                        <a:rPr sz="1150" b="0">
                          <a:solidFill>
                            <a:srgbClr val="5D6D7E"/>
                          </a:solidFill>
                          <a:latin typeface="Arial"/>
                        </a:rPr>
                        <a:t>&gt; 37</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Inactive</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58</a:t>
                      </a:r>
                    </a:p>
                  </a:txBody>
                  <a:tcPr>
                    <a:solidFill>
                      <a:srgbClr val="FFFFFF"/>
                    </a:solidFill>
                  </a:tcPr>
                </a:tc>
                <a:tc>
                  <a:txBody>
                    <a:bodyPr/>
                    <a:lstStyle/>
                    <a:p>
                      <a:pPr algn="r"/>
                      <a:r>
                        <a:rPr sz="1150" b="0">
                          <a:solidFill>
                            <a:srgbClr val="5D6D7E"/>
                          </a:solidFill>
                          <a:latin typeface="Arial"/>
                        </a:rPr>
                        <a:t>&gt; 45</a:t>
                      </a:r>
                    </a:p>
                  </a:txBody>
                  <a:tcPr>
                    <a:solidFill>
                      <a:srgbClr val="FFFFFF"/>
                    </a:solidFill>
                  </a:tcPr>
                </a:tc>
                <a:tc>
                  <a:txBody>
                    <a:bodyPr/>
                    <a:lstStyle/>
                    <a:p>
                      <a:pPr algn="r"/>
                      <a:r>
                        <a:rPr sz="1150" b="0">
                          <a:solidFill>
                            <a:srgbClr val="5D6D7E"/>
                          </a:solidFill>
                          <a:latin typeface="Arial"/>
                        </a:rPr>
                        <a:t>&gt; 32</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r>
              <a:tr h="246888">
                <a:tc>
                  <a:txBody>
                    <a:bodyPr/>
                    <a:lstStyle/>
                    <a:p>
                      <a:pPr algn="l"/>
                      <a:r>
                        <a:rPr sz="1150" b="0">
                          <a:solidFill>
                            <a:srgbClr val="5D6D7E"/>
                          </a:solidFill>
                          <a:latin typeface="Arial"/>
                        </a:rPr>
                        <a:t>A-C</a:t>
                      </a:r>
                    </a:p>
                  </a:txBody>
                  <a:tcPr>
                    <a:solidFill>
                      <a:srgbClr val="FFFFFF"/>
                    </a:solidFill>
                  </a:tcPr>
                </a:tc>
                <a:tc>
                  <a:txBody>
                    <a:bodyPr/>
                    <a:lstStyle/>
                    <a:p>
                      <a:pPr algn="r"/>
                      <a:r>
                        <a:rPr sz="1150" b="0">
                          <a:solidFill>
                            <a:srgbClr val="5D6D7E"/>
                          </a:solidFill>
                          <a:latin typeface="Arial"/>
                        </a:rPr>
                        <a:t>&gt; 16</a:t>
                      </a:r>
                    </a:p>
                  </a:txBody>
                  <a:tcPr>
                    <a:solidFill>
                      <a:srgbClr val="FFFFFF"/>
                    </a:solidFill>
                  </a:tcPr>
                </a:tc>
                <a:tc>
                  <a:txBody>
                    <a:bodyPr/>
                    <a:lstStyle/>
                    <a:p>
                      <a:pPr algn="r"/>
                      <a:r>
                        <a:rPr sz="1150" b="0">
                          <a:solidFill>
                            <a:srgbClr val="5D6D7E"/>
                          </a:solidFill>
                          <a:latin typeface="Arial"/>
                        </a:rPr>
                        <a:t>&gt; 52</a:t>
                      </a:r>
                    </a:p>
                  </a:txBody>
                  <a:tcPr>
                    <a:solidFill>
                      <a:srgbClr val="FFFFFF"/>
                    </a:solidFill>
                  </a:tcPr>
                </a:tc>
                <a:tc>
                  <a:txBody>
                    <a:bodyPr/>
                    <a:lstStyle/>
                    <a:p>
                      <a:pPr algn="r"/>
                      <a:r>
                        <a:rPr sz="1150" b="0">
                          <a:solidFill>
                            <a:srgbClr val="5D6D7E"/>
                          </a:solidFill>
                          <a:latin typeface="Arial"/>
                        </a:rPr>
                        <a:t>&gt; 39</a:t>
                      </a:r>
                    </a:p>
                  </a:txBody>
                  <a:tcPr>
                    <a:solidFill>
                      <a:srgbClr val="FFFFFF"/>
                    </a:solidFill>
                  </a:tcPr>
                </a:tc>
                <a:tc>
                  <a:txBody>
                    <a:bodyPr/>
                    <a:lstStyle/>
                    <a:p>
                      <a:pPr algn="r"/>
                      <a:r>
                        <a:rPr sz="1150" b="0">
                          <a:solidFill>
                            <a:srgbClr val="5D6D7E"/>
                          </a:solidFill>
                          <a:latin typeface="Arial"/>
                        </a:rPr>
                        <a:t>&gt; 26</a:t>
                      </a:r>
                    </a:p>
                  </a:txBody>
                  <a:tcPr>
                    <a:solidFill>
                      <a:srgbClr val="FFFFFF"/>
                    </a:solidFill>
                  </a:tcPr>
                </a:tc>
                <a:tc>
                  <a:txBody>
                    <a:bodyPr/>
                    <a:lstStyle/>
                    <a:p>
                      <a:pPr algn="r"/>
                      <a:r>
                        <a:rPr sz="1150" b="0">
                          <a:solidFill>
                            <a:srgbClr val="5D6D7E"/>
                          </a:solidFill>
                          <a:latin typeface="Arial"/>
                        </a:rPr>
                        <a:t>&gt; 16</a:t>
                      </a:r>
                    </a:p>
                  </a:txBody>
                  <a:tcPr>
                    <a:solidFill>
                      <a:srgbClr val="FFFFFF"/>
                    </a:solidFill>
                  </a:tcPr>
                </a:tc>
              </a:tr>
              <a:tr h="246888">
                <a:tc>
                  <a:txBody>
                    <a:bodyPr/>
                    <a:lstStyle/>
                    <a:p>
                      <a:pPr algn="l"/>
                      <a:r>
                        <a:rPr sz="1150" b="0">
                          <a:solidFill>
                            <a:srgbClr val="5D6D7E"/>
                          </a:solidFill>
                          <a:latin typeface="Arial"/>
                        </a:rPr>
                        <a:t>D-F</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58</a:t>
                      </a:r>
                    </a:p>
                  </a:txBody>
                  <a:tcPr>
                    <a:solidFill>
                      <a:srgbClr val="FFFFFF"/>
                    </a:solidFill>
                  </a:tcPr>
                </a:tc>
                <a:tc>
                  <a:txBody>
                    <a:bodyPr/>
                    <a:lstStyle/>
                    <a:p>
                      <a:pPr algn="r"/>
                      <a:r>
                        <a:rPr sz="1150" b="0">
                          <a:solidFill>
                            <a:srgbClr val="5D6D7E"/>
                          </a:solidFill>
                          <a:latin typeface="Arial"/>
                        </a:rPr>
                        <a:t>&gt; 45</a:t>
                      </a:r>
                    </a:p>
                  </a:txBody>
                  <a:tcPr>
                    <a:solidFill>
                      <a:srgbClr val="FFFFFF"/>
                    </a:solidFill>
                  </a:tcPr>
                </a:tc>
                <a:tc>
                  <a:txBody>
                    <a:bodyPr/>
                    <a:lstStyle/>
                    <a:p>
                      <a:pPr algn="r"/>
                      <a:r>
                        <a:rPr sz="1150" b="0">
                          <a:solidFill>
                            <a:srgbClr val="5D6D7E"/>
                          </a:solidFill>
                          <a:latin typeface="Arial"/>
                        </a:rPr>
                        <a:t>&gt; 32</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r>
              <a:tr h="246888">
                <a:tc>
                  <a:txBody>
                    <a:bodyPr/>
                    <a:lstStyle/>
                    <a:p>
                      <a:pPr algn="l"/>
                      <a:r>
                        <a:rPr sz="1150" b="0">
                          <a:solidFill>
                            <a:srgbClr val="5D6D7E"/>
                          </a:solidFill>
                          <a:latin typeface="Arial"/>
                        </a:rPr>
                        <a:t>&gt;=G</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c>
                  <a:txBody>
                    <a:bodyPr/>
                    <a:lstStyle/>
                    <a:p>
                      <a:pPr algn="r"/>
                      <a:r>
                        <a:rPr sz="1150" b="0">
                          <a:solidFill>
                            <a:srgbClr val="5D6D7E"/>
                          </a:solidFill>
                          <a:latin typeface="Arial"/>
                        </a:rPr>
                        <a:t>reject</a:t>
                      </a:r>
                    </a:p>
                  </a:txBody>
                  <a:tcPr>
                    <a:solidFill>
                      <a:srgbClr val="FFFFFF"/>
                    </a:solidFill>
                  </a:tcPr>
                </a:tc>
              </a:tr>
            </a:tbl>
          </a:graphicData>
        </a:graphic>
      </p:graphicFrame>
      <p:sp>
        <p:nvSpPr>
          <p:cNvPr id="11" name="TextBox 10"/>
          <p:cNvSpPr txBox="1"/>
          <p:nvPr/>
        </p:nvSpPr>
        <p:spPr>
          <a:xfrm>
            <a:off x="566928" y="6144768"/>
            <a:ext cx="11057839" cy="640080"/>
          </a:xfrm>
          <a:prstGeom prst="rect">
            <a:avLst/>
          </a:prstGeom>
          <a:noFill/>
        </p:spPr>
        <p:txBody>
          <a:bodyPr wrap="square">
            <a:spAutoFit/>
          </a:bodyPr>
          <a:lstStyle/>
          <a:p>
            <a:pPr algn="l">
              <a:lnSpc>
                <a:spcPct val="120000"/>
              </a:lnSpc>
            </a:pPr>
            <a:r>
              <a:rPr sz="1100" b="0">
                <a:solidFill>
                  <a:srgbClr val="5D6D7E"/>
                </a:solidFill>
                <a:latin typeface="Arial"/>
              </a:rPr>
              <a:t>A single cutoff is simpler to operate; shifting the grid keeps its shape —looser where the group is good— and gives slightly more acceptance at the same risk. '&gt;=G' is always rejected in both.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METHODOLOGY · RISK</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 2025 – Feb 2026  ·  stores Aug–Sep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How store risk is estimated</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3624"/>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18488"/>
            <a:ext cx="420624" cy="310896"/>
          </a:xfrm>
          <a:prstGeom prst="rect">
            <a:avLst/>
          </a:prstGeom>
          <a:noFill/>
        </p:spPr>
        <p:txBody>
          <a:bodyPr wrap="square">
            <a:spAutoFit/>
          </a:bodyPr>
          <a:lstStyle/>
          <a:p>
            <a:pPr algn="ctr">
              <a:lnSpc>
                <a:spcPct val="100000"/>
              </a:lnSpc>
            </a:pPr>
            <a:r>
              <a:rPr sz="1400" b="1">
                <a:solidFill>
                  <a:srgbClr val="FFFFFF"/>
                </a:solidFill>
                <a:latin typeface="Arial"/>
              </a:rPr>
              <a:t>1</a:t>
            </a:r>
          </a:p>
        </p:txBody>
      </p:sp>
      <p:sp>
        <p:nvSpPr>
          <p:cNvPr id="8" name="TextBox 7"/>
          <p:cNvSpPr txBox="1"/>
          <p:nvPr/>
        </p:nvSpPr>
        <p:spPr>
          <a:xfrm>
            <a:off x="1188720" y="1563624"/>
            <a:ext cx="8863279" cy="274320"/>
          </a:xfrm>
          <a:prstGeom prst="rect">
            <a:avLst/>
          </a:prstGeom>
          <a:noFill/>
        </p:spPr>
        <p:txBody>
          <a:bodyPr wrap="square">
            <a:spAutoFit/>
          </a:bodyPr>
          <a:lstStyle/>
          <a:p>
            <a:pPr algn="l">
              <a:lnSpc>
                <a:spcPct val="100000"/>
              </a:lnSpc>
            </a:pPr>
            <a:r>
              <a:rPr sz="1300" b="1">
                <a:solidFill>
                  <a:srgbClr val="2C3E50"/>
                </a:solidFill>
                <a:latin typeface="Arial"/>
              </a:rPr>
              <a:t>Realized risk by score bin, in Apple Online</a:t>
            </a:r>
          </a:p>
        </p:txBody>
      </p:sp>
      <p:sp>
        <p:nvSpPr>
          <p:cNvPr id="9" name="TextBox 8"/>
          <p:cNvSpPr txBox="1"/>
          <p:nvPr/>
        </p:nvSpPr>
        <p:spPr>
          <a:xfrm>
            <a:off x="1188720" y="1837944"/>
            <a:ext cx="8863279" cy="603504"/>
          </a:xfrm>
          <a:prstGeom prst="rect">
            <a:avLst/>
          </a:prstGeom>
          <a:noFill/>
        </p:spPr>
        <p:txBody>
          <a:bodyPr wrap="square">
            <a:spAutoFit/>
          </a:bodyPr>
          <a:lstStyle/>
          <a:p>
            <a:pPr algn="l">
              <a:lnSpc>
                <a:spcPct val="118000"/>
              </a:lnSpc>
            </a:pPr>
            <a:r>
              <a:rPr sz="1100" b="0">
                <a:solidFill>
                  <a:srgbClr val="5D6D7E"/>
                </a:solidFill>
                <a:latin typeface="Arial"/>
              </a:rPr>
              <a:t>For each of the 20 EFX bins, the observed delinquency of contracts with 6 months on book. The only part of the study that comes straight from the data.</a:t>
            </a:r>
          </a:p>
        </p:txBody>
      </p:sp>
      <p:sp>
        <p:nvSpPr>
          <p:cNvPr id="10" name="TextBox 9"/>
          <p:cNvSpPr txBox="1"/>
          <p:nvPr/>
        </p:nvSpPr>
        <p:spPr>
          <a:xfrm>
            <a:off x="10161727" y="1581912"/>
            <a:ext cx="1463040" cy="274320"/>
          </a:xfrm>
          <a:prstGeom prst="rect">
            <a:avLst/>
          </a:prstGeom>
          <a:noFill/>
        </p:spPr>
        <p:txBody>
          <a:bodyPr wrap="square">
            <a:spAutoFit/>
          </a:bodyPr>
          <a:lstStyle/>
          <a:p>
            <a:pPr algn="r">
              <a:lnSpc>
                <a:spcPct val="100000"/>
              </a:lnSpc>
            </a:pPr>
            <a:r>
              <a:rPr sz="1000" b="1">
                <a:solidFill>
                  <a:srgbClr val="3498DB"/>
                </a:solidFill>
                <a:latin typeface="Arial"/>
              </a:rPr>
              <a:t>MEASURED</a:t>
            </a:r>
          </a:p>
        </p:txBody>
      </p:sp>
      <p:sp>
        <p:nvSpPr>
          <p:cNvPr id="11" name="Rectangle 10"/>
          <p:cNvSpPr/>
          <p:nvPr/>
        </p:nvSpPr>
        <p:spPr>
          <a:xfrm>
            <a:off x="566928" y="2496312"/>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51176"/>
            <a:ext cx="420624" cy="310896"/>
          </a:xfrm>
          <a:prstGeom prst="rect">
            <a:avLst/>
          </a:prstGeom>
          <a:noFill/>
        </p:spPr>
        <p:txBody>
          <a:bodyPr wrap="square">
            <a:spAutoFit/>
          </a:bodyPr>
          <a:lstStyle/>
          <a:p>
            <a:pPr algn="ctr">
              <a:lnSpc>
                <a:spcPct val="100000"/>
              </a:lnSpc>
            </a:pPr>
            <a:r>
              <a:rPr sz="1400" b="1">
                <a:solidFill>
                  <a:srgbClr val="FFFFFF"/>
                </a:solidFill>
                <a:latin typeface="Arial"/>
              </a:rPr>
              <a:t>2</a:t>
            </a:r>
          </a:p>
        </p:txBody>
      </p:sp>
      <p:sp>
        <p:nvSpPr>
          <p:cNvPr id="13" name="TextBox 12"/>
          <p:cNvSpPr txBox="1"/>
          <p:nvPr/>
        </p:nvSpPr>
        <p:spPr>
          <a:xfrm>
            <a:off x="1188720" y="2496312"/>
            <a:ext cx="8863279" cy="274320"/>
          </a:xfrm>
          <a:prstGeom prst="rect">
            <a:avLst/>
          </a:prstGeom>
          <a:noFill/>
        </p:spPr>
        <p:txBody>
          <a:bodyPr wrap="square">
            <a:spAutoFit/>
          </a:bodyPr>
          <a:lstStyle/>
          <a:p>
            <a:pPr algn="l">
              <a:lnSpc>
                <a:spcPct val="100000"/>
              </a:lnSpc>
            </a:pPr>
            <a:r>
              <a:rPr sz="1300" b="1">
                <a:solidFill>
                  <a:srgbClr val="2C3E50"/>
                </a:solidFill>
                <a:latin typeface="Arial"/>
              </a:rPr>
              <a:t>Selection correction (reject inference)</a:t>
            </a:r>
          </a:p>
        </p:txBody>
      </p:sp>
      <p:sp>
        <p:nvSpPr>
          <p:cNvPr id="14" name="TextBox 13"/>
          <p:cNvSpPr txBox="1"/>
          <p:nvPr/>
        </p:nvSpPr>
        <p:spPr>
          <a:xfrm>
            <a:off x="1188720" y="2770632"/>
            <a:ext cx="8863279" cy="603504"/>
          </a:xfrm>
          <a:prstGeom prst="rect">
            <a:avLst/>
          </a:prstGeom>
          <a:noFill/>
        </p:spPr>
        <p:txBody>
          <a:bodyPr wrap="square">
            <a:spAutoFit/>
          </a:bodyPr>
          <a:lstStyle/>
          <a:p>
            <a:pPr algn="l">
              <a:lnSpc>
                <a:spcPct val="118000"/>
              </a:lnSpc>
            </a:pPr>
            <a:r>
              <a:rPr sz="1100" b="0">
                <a:solidFill>
                  <a:srgbClr val="5D6D7E"/>
                </a:solidFill>
                <a:latin typeface="Arial"/>
              </a:rPr>
              <a:t>Booked contracts in a bin also passed every other rule: they are a selected sample and their delinquency understates that of applicants rejected today. The pipeline's parceling is applied, with an uplift driven by the acceptance rate: 2.4x where only 3% get in, 1.0x where 100% do.</a:t>
            </a:r>
          </a:p>
        </p:txBody>
      </p:sp>
      <p:sp>
        <p:nvSpPr>
          <p:cNvPr id="15" name="TextBox 14"/>
          <p:cNvSpPr txBox="1"/>
          <p:nvPr/>
        </p:nvSpPr>
        <p:spPr>
          <a:xfrm>
            <a:off x="10161727" y="2514600"/>
            <a:ext cx="1463040" cy="274320"/>
          </a:xfrm>
          <a:prstGeom prst="rect">
            <a:avLst/>
          </a:prstGeom>
          <a:noFill/>
        </p:spPr>
        <p:txBody>
          <a:bodyPr wrap="square">
            <a:spAutoFit/>
          </a:bodyPr>
          <a:lstStyle/>
          <a:p>
            <a:pPr algn="r">
              <a:lnSpc>
                <a:spcPct val="100000"/>
              </a:lnSpc>
            </a:pPr>
            <a:r>
              <a:rPr sz="1000" b="1">
                <a:solidFill>
                  <a:srgbClr val="5D6D7E"/>
                </a:solidFill>
                <a:latin typeface="Arial"/>
              </a:rPr>
              <a:t>CORRECTED</a:t>
            </a:r>
          </a:p>
        </p:txBody>
      </p:sp>
      <p:sp>
        <p:nvSpPr>
          <p:cNvPr id="16" name="Rectangle 15"/>
          <p:cNvSpPr/>
          <p:nvPr/>
        </p:nvSpPr>
        <p:spPr>
          <a:xfrm>
            <a:off x="566928" y="3429000"/>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483864"/>
            <a:ext cx="420624" cy="310896"/>
          </a:xfrm>
          <a:prstGeom prst="rect">
            <a:avLst/>
          </a:prstGeom>
          <a:noFill/>
        </p:spPr>
        <p:txBody>
          <a:bodyPr wrap="square">
            <a:spAutoFit/>
          </a:bodyPr>
          <a:lstStyle/>
          <a:p>
            <a:pPr algn="ctr">
              <a:lnSpc>
                <a:spcPct val="100000"/>
              </a:lnSpc>
            </a:pPr>
            <a:r>
              <a:rPr sz="1400" b="1">
                <a:solidFill>
                  <a:srgbClr val="FFFFFF"/>
                </a:solidFill>
                <a:latin typeface="Arial"/>
              </a:rPr>
              <a:t>3</a:t>
            </a:r>
          </a:p>
        </p:txBody>
      </p:sp>
      <p:sp>
        <p:nvSpPr>
          <p:cNvPr id="18" name="TextBox 17"/>
          <p:cNvSpPr txBox="1"/>
          <p:nvPr/>
        </p:nvSpPr>
        <p:spPr>
          <a:xfrm>
            <a:off x="1188720" y="3429000"/>
            <a:ext cx="8863279" cy="274320"/>
          </a:xfrm>
          <a:prstGeom prst="rect">
            <a:avLst/>
          </a:prstGeom>
          <a:noFill/>
        </p:spPr>
        <p:txBody>
          <a:bodyPr wrap="square">
            <a:spAutoFit/>
          </a:bodyPr>
          <a:lstStyle/>
          <a:p>
            <a:pPr algn="l">
              <a:lnSpc>
                <a:spcPct val="100000"/>
              </a:lnSpc>
            </a:pPr>
            <a:r>
              <a:rPr sz="1300" b="1">
                <a:solidFill>
                  <a:srgbClr val="2C3E50"/>
                </a:solidFill>
                <a:latin typeface="Arial"/>
              </a:rPr>
              <a:t>That curve is carried over to the store population</a:t>
            </a:r>
          </a:p>
        </p:txBody>
      </p:sp>
      <p:sp>
        <p:nvSpPr>
          <p:cNvPr id="19" name="TextBox 18"/>
          <p:cNvSpPr txBox="1"/>
          <p:nvPr/>
        </p:nvSpPr>
        <p:spPr>
          <a:xfrm>
            <a:off x="1188720" y="3703320"/>
            <a:ext cx="8863279" cy="603504"/>
          </a:xfrm>
          <a:prstGeom prst="rect">
            <a:avLst/>
          </a:prstGeom>
          <a:noFill/>
        </p:spPr>
        <p:txBody>
          <a:bodyPr wrap="square">
            <a:spAutoFit/>
          </a:bodyPr>
          <a:lstStyle/>
          <a:p>
            <a:pPr algn="l">
              <a:lnSpc>
                <a:spcPct val="118000"/>
              </a:lnSpc>
            </a:pPr>
            <a:r>
              <a:rPr sz="1100" b="0">
                <a:solidFill>
                  <a:srgbClr val="5D6D7E"/>
                </a:solidFill>
                <a:latin typeface="Arial"/>
              </a:rPr>
              <a:t>Each store application is assigned the risk of the EFX bin it falls in. This is the underlying assumption: that the score ranks store applicants the same way it ranks e-commerce ones.</a:t>
            </a:r>
          </a:p>
        </p:txBody>
      </p:sp>
      <p:sp>
        <p:nvSpPr>
          <p:cNvPr id="20" name="TextBox 19"/>
          <p:cNvSpPr txBox="1"/>
          <p:nvPr/>
        </p:nvSpPr>
        <p:spPr>
          <a:xfrm>
            <a:off x="10161727" y="3447288"/>
            <a:ext cx="1463040" cy="274320"/>
          </a:xfrm>
          <a:prstGeom prst="rect">
            <a:avLst/>
          </a:prstGeom>
          <a:noFill/>
        </p:spPr>
        <p:txBody>
          <a:bodyPr wrap="square">
            <a:spAutoFit/>
          </a:bodyPr>
          <a:lstStyle/>
          <a:p>
            <a:pPr algn="r">
              <a:lnSpc>
                <a:spcPct val="100000"/>
              </a:lnSpc>
            </a:pPr>
            <a:r>
              <a:rPr sz="1000" b="1">
                <a:solidFill>
                  <a:srgbClr val="E74C3C"/>
                </a:solidFill>
                <a:latin typeface="Arial"/>
              </a:rPr>
              <a:t>ASSUMED</a:t>
            </a:r>
          </a:p>
        </p:txBody>
      </p:sp>
      <p:sp>
        <p:nvSpPr>
          <p:cNvPr id="21" name="Rectangle 20"/>
          <p:cNvSpPr/>
          <p:nvPr/>
        </p:nvSpPr>
        <p:spPr>
          <a:xfrm>
            <a:off x="566928" y="4361688"/>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416552"/>
            <a:ext cx="420624" cy="310896"/>
          </a:xfrm>
          <a:prstGeom prst="rect">
            <a:avLst/>
          </a:prstGeom>
          <a:noFill/>
        </p:spPr>
        <p:txBody>
          <a:bodyPr wrap="square">
            <a:spAutoFit/>
          </a:bodyPr>
          <a:lstStyle/>
          <a:p>
            <a:pPr algn="ctr">
              <a:lnSpc>
                <a:spcPct val="100000"/>
              </a:lnSpc>
            </a:pPr>
            <a:r>
              <a:rPr sz="1400" b="1">
                <a:solidFill>
                  <a:srgbClr val="FFFFFF"/>
                </a:solidFill>
                <a:latin typeface="Arial"/>
              </a:rPr>
              <a:t>4</a:t>
            </a:r>
          </a:p>
        </p:txBody>
      </p:sp>
      <p:sp>
        <p:nvSpPr>
          <p:cNvPr id="23" name="TextBox 22"/>
          <p:cNvSpPr txBox="1"/>
          <p:nvPr/>
        </p:nvSpPr>
        <p:spPr>
          <a:xfrm>
            <a:off x="1188720" y="4361688"/>
            <a:ext cx="8863279" cy="274320"/>
          </a:xfrm>
          <a:prstGeom prst="rect">
            <a:avLst/>
          </a:prstGeom>
          <a:noFill/>
        </p:spPr>
        <p:txBody>
          <a:bodyPr wrap="square">
            <a:spAutoFit/>
          </a:bodyPr>
          <a:lstStyle/>
          <a:p>
            <a:pPr algn="l">
              <a:lnSpc>
                <a:spcPct val="100000"/>
              </a:lnSpc>
            </a:pPr>
            <a:r>
              <a:rPr sz="1300" b="1">
                <a:solidFill>
                  <a:srgbClr val="2C3E50"/>
                </a:solidFill>
                <a:latin typeface="Arial"/>
              </a:rPr>
              <a:t>The level is anchored to stores' actual delinquency</a:t>
            </a:r>
          </a:p>
        </p:txBody>
      </p:sp>
      <p:sp>
        <p:nvSpPr>
          <p:cNvPr id="24" name="TextBox 23"/>
          <p:cNvSpPr txBox="1"/>
          <p:nvPr/>
        </p:nvSpPr>
        <p:spPr>
          <a:xfrm>
            <a:off x="1188720" y="4636008"/>
            <a:ext cx="8863279" cy="603504"/>
          </a:xfrm>
          <a:prstGeom prst="rect">
            <a:avLst/>
          </a:prstGeom>
          <a:noFill/>
        </p:spPr>
        <p:txBody>
          <a:bodyPr wrap="square">
            <a:spAutoFit/>
          </a:bodyPr>
          <a:lstStyle/>
          <a:p>
            <a:pPr algn="l">
              <a:lnSpc>
                <a:spcPct val="118000"/>
              </a:lnSpc>
            </a:pPr>
            <a:r>
              <a:rPr sz="1100" b="0">
                <a:solidFill>
                  <a:srgbClr val="5D6D7E"/>
                </a:solidFill>
                <a:latin typeface="Arial"/>
              </a:rPr>
              <a:t>The Online curve predicts 3.93% on the book stores actually wrote; the observed figure is 3.74%. The curve is rescaled by 0.952 to reproduce the data. The level is no longer an assumption: only the ranking power remains assumed.</a:t>
            </a:r>
          </a:p>
        </p:txBody>
      </p:sp>
      <p:sp>
        <p:nvSpPr>
          <p:cNvPr id="25" name="TextBox 24"/>
          <p:cNvSpPr txBox="1"/>
          <p:nvPr/>
        </p:nvSpPr>
        <p:spPr>
          <a:xfrm>
            <a:off x="10161727" y="4379976"/>
            <a:ext cx="1463040" cy="274320"/>
          </a:xfrm>
          <a:prstGeom prst="rect">
            <a:avLst/>
          </a:prstGeom>
          <a:noFill/>
        </p:spPr>
        <p:txBody>
          <a:bodyPr wrap="square">
            <a:spAutoFit/>
          </a:bodyPr>
          <a:lstStyle/>
          <a:p>
            <a:pPr algn="r">
              <a:lnSpc>
                <a:spcPct val="100000"/>
              </a:lnSpc>
            </a:pPr>
            <a:r>
              <a:rPr sz="1000" b="1">
                <a:solidFill>
                  <a:srgbClr val="3498DB"/>
                </a:solidFill>
                <a:latin typeface="Arial"/>
              </a:rPr>
              <a:t>MEASURED</a:t>
            </a:r>
          </a:p>
        </p:txBody>
      </p:sp>
      <p:sp>
        <p:nvSpPr>
          <p:cNvPr id="26" name="TextBox 25"/>
          <p:cNvSpPr txBox="1"/>
          <p:nvPr/>
        </p:nvSpPr>
        <p:spPr>
          <a:xfrm>
            <a:off x="566928" y="5806440"/>
            <a:ext cx="11057839" cy="822960"/>
          </a:xfrm>
          <a:prstGeom prst="rect">
            <a:avLst/>
          </a:prstGeom>
          <a:noFill/>
        </p:spPr>
        <p:txBody>
          <a:bodyPr wrap="square">
            <a:spAutoFit/>
          </a:bodyPr>
          <a:lstStyle/>
          <a:p>
            <a:pPr algn="l">
              <a:lnSpc>
                <a:spcPct val="120000"/>
              </a:lnSpc>
            </a:pPr>
            <a:r>
              <a:rPr sz="1150" b="0">
                <a:solidFill>
                  <a:srgbClr val="5D6D7E"/>
                </a:solidFill>
                <a:latin typeface="Arial"/>
              </a:rPr>
              <a:t>What this means in practice: if EFX ranks store applicants worse than it ranks Online ones, the scenario cutoffs fall short. What can no longer be wrong is the height of the curve, because it is calibrated against the delinquency stores have actually had.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METHODOLOGY · STORE DEMAND</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 2025 – Feb 2026  ·  stores Aug–Sep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Store demand Aug–Sep 2026: from applications to risk</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563624"/>
          <a:ext cx="6858000" cy="2487168"/>
        </p:xfrm>
        <a:graphic>
          <a:graphicData uri="http://schemas.openxmlformats.org/drawingml/2006/table">
            <a:tbl>
              <a:tblPr firstRow="1" bandRow="1">
                <a:tableStyleId>{5C22544A-7EE6-4342-B048-85BDC9FD1C3A}</a:tableStyleId>
              </a:tblPr>
              <a:tblGrid>
                <a:gridCol w="3108960"/>
                <a:gridCol w="1097280"/>
                <a:gridCol w="1371600"/>
                <a:gridCol w="1280160"/>
              </a:tblGrid>
              <a:tr h="310896">
                <a:tc>
                  <a:txBody>
                    <a:bodyPr/>
                    <a:lstStyle/>
                    <a:p>
                      <a:pPr algn="l"/>
                      <a:r>
                        <a:rPr sz="1150" b="1">
                          <a:solidFill>
                            <a:srgbClr val="2C3E50"/>
                          </a:solidFill>
                          <a:latin typeface="Arial"/>
                        </a:rPr>
                        <a:t>Each € of store demand</a:t>
                      </a:r>
                    </a:p>
                  </a:txBody>
                  <a:tcPr>
                    <a:solidFill>
                      <a:srgbClr val="F6F7F9"/>
                    </a:solidFill>
                  </a:tcPr>
                </a:tc>
                <a:tc>
                  <a:txBody>
                    <a:bodyPr/>
                    <a:lstStyle/>
                    <a:p>
                      <a:pPr algn="r"/>
                      <a:r>
                        <a:rPr sz="1150" b="1">
                          <a:solidFill>
                            <a:srgbClr val="2C3E50"/>
                          </a:solidFill>
                          <a:latin typeface="Arial"/>
                        </a:rPr>
                        <a:t>Share</a:t>
                      </a:r>
                    </a:p>
                  </a:txBody>
                  <a:tcPr>
                    <a:solidFill>
                      <a:srgbClr val="F6F7F9"/>
                    </a:solidFill>
                  </a:tcPr>
                </a:tc>
                <a:tc>
                  <a:txBody>
                    <a:bodyPr/>
                    <a:lstStyle/>
                    <a:p>
                      <a:pPr algn="r"/>
                      <a:r>
                        <a:rPr sz="1150" b="1">
                          <a:solidFill>
                            <a:srgbClr val="2C3E50"/>
                          </a:solidFill>
                          <a:latin typeface="Arial"/>
                        </a:rPr>
                        <a:t>Exp. production</a:t>
                      </a:r>
                    </a:p>
                  </a:txBody>
                  <a:tcPr>
                    <a:solidFill>
                      <a:srgbClr val="F6F7F9"/>
                    </a:solidFill>
                  </a:tcPr>
                </a:tc>
                <a:tc>
                  <a:txBody>
                    <a:bodyPr/>
                    <a:lstStyle/>
                    <a:p>
                      <a:pPr algn="r"/>
                      <a:r>
                        <a:rPr sz="1150" b="1">
                          <a:solidFill>
                            <a:srgbClr val="2C3E50"/>
                          </a:solidFill>
                          <a:latin typeface="Arial"/>
                        </a:rPr>
                        <a:t>Imputed risk</a:t>
                      </a:r>
                    </a:p>
                  </a:txBody>
                  <a:tcPr>
                    <a:solidFill>
                      <a:srgbClr val="F6F7F9"/>
                    </a:solidFill>
                  </a:tcPr>
                </a:tc>
              </a:tr>
              <a:tr h="310896">
                <a:tc>
                  <a:txBody>
                    <a:bodyPr/>
                    <a:lstStyle/>
                    <a:p>
                      <a:pPr algn="l"/>
                      <a:r>
                        <a:rPr sz="1150" b="0">
                          <a:solidFill>
                            <a:srgbClr val="5D6D7E"/>
                          </a:solidFill>
                          <a:latin typeface="Arial"/>
                        </a:rPr>
                        <a:t>kept: approved today, above the cutoff</a:t>
                      </a:r>
                    </a:p>
                  </a:txBody>
                  <a:tcPr>
                    <a:solidFill>
                      <a:srgbClr val="FFFFFF"/>
                    </a:solidFill>
                  </a:tcPr>
                </a:tc>
                <a:tc>
                  <a:txBody>
                    <a:bodyPr/>
                    <a:lstStyle/>
                    <a:p>
                      <a:pPr algn="r"/>
                      <a:r>
                        <a:rPr sz="1150" b="0">
                          <a:solidFill>
                            <a:srgbClr val="5D6D7E"/>
                          </a:solidFill>
                          <a:latin typeface="Arial"/>
                        </a:rPr>
                        <a:t>56.8%</a:t>
                      </a:r>
                    </a:p>
                  </a:txBody>
                  <a:tcPr>
                    <a:solidFill>
                      <a:srgbClr val="FFFFFF"/>
                    </a:solidFill>
                  </a:tcPr>
                </a:tc>
                <a:tc>
                  <a:txBody>
                    <a:bodyPr/>
                    <a:lstStyle/>
                    <a:p>
                      <a:pPr algn="r"/>
                      <a:r>
                        <a:rPr sz="1150" b="0">
                          <a:solidFill>
                            <a:srgbClr val="5D6D7E"/>
                          </a:solidFill>
                          <a:latin typeface="Arial"/>
                        </a:rPr>
                        <a:t>€10.9M</a:t>
                      </a:r>
                    </a:p>
                  </a:txBody>
                  <a:tcPr>
                    <a:solidFill>
                      <a:srgbClr val="FFFFFF"/>
                    </a:solidFill>
                  </a:tcPr>
                </a:tc>
                <a:tc>
                  <a:txBody>
                    <a:bodyPr/>
                    <a:lstStyle/>
                    <a:p>
                      <a:pPr algn="r"/>
                      <a:r>
                        <a:rPr sz="1150" b="0">
                          <a:solidFill>
                            <a:srgbClr val="5D6D7E"/>
                          </a:solidFill>
                          <a:latin typeface="Arial"/>
                        </a:rPr>
                        <a:t>3.3%</a:t>
                      </a:r>
                    </a:p>
                  </a:txBody>
                  <a:tcPr>
                    <a:solidFill>
                      <a:srgbClr val="FFFFFF"/>
                    </a:solidFill>
                  </a:tcPr>
                </a:tc>
              </a:tr>
              <a:tr h="310896">
                <a:tc>
                  <a:txBody>
                    <a:bodyPr/>
                    <a:lstStyle/>
                    <a:p>
                      <a:pPr algn="l"/>
                      <a:r>
                        <a:rPr sz="1150" b="0">
                          <a:solidFill>
                            <a:srgbClr val="5D6D7E"/>
                          </a:solidFill>
                          <a:latin typeface="Arial"/>
                        </a:rPr>
                        <a:t>swap-in: rejected by score, above cutoff</a:t>
                      </a:r>
                    </a:p>
                  </a:txBody>
                  <a:tcPr>
                    <a:solidFill>
                      <a:srgbClr val="FFFFFF"/>
                    </a:solidFill>
                  </a:tcPr>
                </a:tc>
                <a:tc>
                  <a:txBody>
                    <a:bodyPr/>
                    <a:lstStyle/>
                    <a:p>
                      <a:pPr algn="r"/>
                      <a:r>
                        <a:rPr sz="1150" b="0">
                          <a:solidFill>
                            <a:srgbClr val="5D6D7E"/>
                          </a:solidFill>
                          <a:latin typeface="Arial"/>
                        </a:rPr>
                        <a:t>19.3%</a:t>
                      </a:r>
                    </a:p>
                  </a:txBody>
                  <a:tcPr>
                    <a:solidFill>
                      <a:srgbClr val="FFFFFF"/>
                    </a:solidFill>
                  </a:tcPr>
                </a:tc>
                <a:tc>
                  <a:txBody>
                    <a:bodyPr/>
                    <a:lstStyle/>
                    <a:p>
                      <a:pPr algn="r"/>
                      <a:r>
                        <a:rPr sz="1150" b="0">
                          <a:solidFill>
                            <a:srgbClr val="5D6D7E"/>
                          </a:solidFill>
                          <a:latin typeface="Arial"/>
                        </a:rPr>
                        <a:t>€3.7M</a:t>
                      </a:r>
                    </a:p>
                  </a:txBody>
                  <a:tcPr>
                    <a:solidFill>
                      <a:srgbClr val="FFFFFF"/>
                    </a:solidFill>
                  </a:tcPr>
                </a:tc>
                <a:tc>
                  <a:txBody>
                    <a:bodyPr/>
                    <a:lstStyle/>
                    <a:p>
                      <a:pPr algn="r"/>
                      <a:r>
                        <a:rPr sz="1150" b="0">
                          <a:solidFill>
                            <a:srgbClr val="5D6D7E"/>
                          </a:solidFill>
                          <a:latin typeface="Arial"/>
                        </a:rPr>
                        <a:t>4.1%</a:t>
                      </a:r>
                    </a:p>
                  </a:txBody>
                  <a:tcPr>
                    <a:solidFill>
                      <a:srgbClr val="FFFFFF"/>
                    </a:solidFill>
                  </a:tcPr>
                </a:tc>
              </a:tr>
              <a:tr h="310896">
                <a:tc>
                  <a:txBody>
                    <a:bodyPr/>
                    <a:lstStyle/>
                    <a:p>
                      <a:pPr algn="l"/>
                      <a:r>
                        <a:rPr sz="1150" b="0">
                          <a:solidFill>
                            <a:srgbClr val="5D6D7E"/>
                          </a:solidFill>
                          <a:latin typeface="Arial"/>
                        </a:rPr>
                        <a:t>swap-out: approved today, below cutoff</a:t>
                      </a:r>
                    </a:p>
                  </a:txBody>
                  <a:tcPr>
                    <a:solidFill>
                      <a:srgbClr val="FFFFFF"/>
                    </a:solidFill>
                  </a:tcPr>
                </a:tc>
                <a:tc>
                  <a:txBody>
                    <a:bodyPr/>
                    <a:lstStyle/>
                    <a:p>
                      <a:pPr algn="r"/>
                      <a:r>
                        <a:rPr sz="1150" b="0">
                          <a:solidFill>
                            <a:srgbClr val="5D6D7E"/>
                          </a:solidFill>
                          <a:latin typeface="Arial"/>
                        </a:rPr>
                        <a:t>2.0%</a:t>
                      </a:r>
                    </a:p>
                  </a:txBody>
                  <a:tcPr>
                    <a:solidFill>
                      <a:srgbClr val="FFFFFF"/>
                    </a:solidFill>
                  </a:tcPr>
                </a:tc>
                <a:tc>
                  <a:txBody>
                    <a:bodyPr/>
                    <a:lstStyle/>
                    <a:p>
                      <a:pPr algn="r"/>
                      <a:r>
                        <a:rPr sz="1150" b="0">
                          <a:solidFill>
                            <a:srgbClr val="5D6D7E"/>
                          </a:solidFill>
                          <a:latin typeface="Arial"/>
                        </a:rPr>
                        <a:t>€0.4M</a:t>
                      </a:r>
                    </a:p>
                  </a:txBody>
                  <a:tcPr>
                    <a:solidFill>
                      <a:srgbClr val="FFFFFF"/>
                    </a:solidFill>
                  </a:tcPr>
                </a:tc>
                <a:tc>
                  <a:txBody>
                    <a:bodyPr/>
                    <a:lstStyle/>
                    <a:p>
                      <a:pPr algn="r"/>
                      <a:r>
                        <a:rPr sz="1150" b="0">
                          <a:solidFill>
                            <a:srgbClr val="5D6D7E"/>
                          </a:solidFill>
                          <a:latin typeface="Arial"/>
                        </a:rPr>
                        <a:t>47.6%</a:t>
                      </a:r>
                    </a:p>
                  </a:txBody>
                  <a:tcPr>
                    <a:solidFill>
                      <a:srgbClr val="FFFFFF"/>
                    </a:solidFill>
                  </a:tcPr>
                </a:tc>
              </a:tr>
              <a:tr h="310896">
                <a:tc>
                  <a:txBody>
                    <a:bodyPr/>
                    <a:lstStyle/>
                    <a:p>
                      <a:pPr algn="l"/>
                      <a:r>
                        <a:rPr sz="1150" b="0">
                          <a:solidFill>
                            <a:srgbClr val="5D6D7E"/>
                          </a:solidFill>
                          <a:latin typeface="Arial"/>
                        </a:rPr>
                        <a:t>rejected by both scores (today, and by EFX)</a:t>
                      </a:r>
                    </a:p>
                  </a:txBody>
                  <a:tcPr>
                    <a:solidFill>
                      <a:srgbClr val="FFFFFF"/>
                    </a:solidFill>
                  </a:tcPr>
                </a:tc>
                <a:tc>
                  <a:txBody>
                    <a:bodyPr/>
                    <a:lstStyle/>
                    <a:p>
                      <a:pPr algn="r"/>
                      <a:r>
                        <a:rPr sz="1150" b="0">
                          <a:solidFill>
                            <a:srgbClr val="5D6D7E"/>
                          </a:solidFill>
                          <a:latin typeface="Arial"/>
                        </a:rPr>
                        <a:t>1.8%</a:t>
                      </a:r>
                    </a:p>
                  </a:txBody>
                  <a:tcPr>
                    <a:solidFill>
                      <a:srgbClr val="FFFFFF"/>
                    </a:solidFill>
                  </a:tcPr>
                </a:tc>
                <a:tc>
                  <a:txBody>
                    <a:bodyPr/>
                    <a:lstStyle/>
                    <a:p>
                      <a:pPr algn="r"/>
                      <a:r>
                        <a:rPr sz="1150" b="0">
                          <a:solidFill>
                            <a:srgbClr val="5D6D7E"/>
                          </a:solidFill>
                          <a:latin typeface="Arial"/>
                        </a:rPr>
                        <a:t>€0.4M</a:t>
                      </a:r>
                    </a:p>
                  </a:txBody>
                  <a:tcPr>
                    <a:solidFill>
                      <a:srgbClr val="FFFFFF"/>
                    </a:solidFill>
                  </a:tcPr>
                </a:tc>
                <a:tc>
                  <a:txBody>
                    <a:bodyPr/>
                    <a:lstStyle/>
                    <a:p>
                      <a:pPr algn="r"/>
                      <a:r>
                        <a:rPr sz="1150" b="0">
                          <a:solidFill>
                            <a:srgbClr val="5D6D7E"/>
                          </a:solidFill>
                          <a:latin typeface="Arial"/>
                        </a:rPr>
                        <a:t>41.6%</a:t>
                      </a:r>
                    </a:p>
                  </a:txBody>
                  <a:tcPr>
                    <a:solidFill>
                      <a:srgbClr val="FFFFFF"/>
                    </a:solidFill>
                  </a:tcPr>
                </a:tc>
              </a:tr>
              <a:tr h="310896">
                <a:tc>
                  <a:txBody>
                    <a:bodyPr/>
                    <a:lstStyle/>
                    <a:p>
                      <a:pPr algn="l"/>
                      <a:r>
                        <a:rPr sz="1150" b="0">
                          <a:solidFill>
                            <a:srgbClr val="5D6D7E"/>
                          </a:solidFill>
                          <a:latin typeface="Arial"/>
                        </a:rPr>
                        <a:t>untouched: rejected by other rules</a:t>
                      </a:r>
                    </a:p>
                  </a:txBody>
                  <a:tcPr>
                    <a:solidFill>
                      <a:srgbClr val="FFFFFF"/>
                    </a:solidFill>
                  </a:tcPr>
                </a:tc>
                <a:tc>
                  <a:txBody>
                    <a:bodyPr/>
                    <a:lstStyle/>
                    <a:p>
                      <a:pPr algn="r"/>
                      <a:r>
                        <a:rPr sz="1150" b="0">
                          <a:solidFill>
                            <a:srgbClr val="5D6D7E"/>
                          </a:solidFill>
                          <a:latin typeface="Arial"/>
                        </a:rPr>
                        <a:t>20.1%</a:t>
                      </a:r>
                    </a:p>
                  </a:txBody>
                  <a:tcPr>
                    <a:solidFill>
                      <a:srgbClr val="FFFFFF"/>
                    </a:solidFill>
                  </a:tcPr>
                </a:tc>
                <a:tc>
                  <a:txBody>
                    <a:bodyPr/>
                    <a:lstStyle/>
                    <a:p>
                      <a:pPr algn="r"/>
                      <a:r>
                        <a:rPr sz="1150" b="0">
                          <a:solidFill>
                            <a:srgbClr val="5D6D7E"/>
                          </a:solidFill>
                          <a:latin typeface="Arial"/>
                        </a:rPr>
                        <a:t>€3.9M</a:t>
                      </a:r>
                    </a:p>
                  </a:txBody>
                  <a:tcPr>
                    <a:solidFill>
                      <a:srgbClr val="FFFFFF"/>
                    </a:solidFill>
                  </a:tcPr>
                </a:tc>
                <a:tc>
                  <a:txBody>
                    <a:bodyPr/>
                    <a:lstStyle/>
                    <a:p>
                      <a:pPr algn="r"/>
                      <a:r>
                        <a:rPr sz="1150" b="0">
                          <a:solidFill>
                            <a:srgbClr val="5D6D7E"/>
                          </a:solidFill>
                          <a:latin typeface="Arial"/>
                        </a:rPr>
                        <a:t>8.0%</a:t>
                      </a:r>
                    </a:p>
                  </a:txBody>
                  <a:tcPr>
                    <a:solidFill>
                      <a:srgbClr val="FFFFFF"/>
                    </a:solidFill>
                  </a:tcPr>
                </a:tc>
              </a:tr>
              <a:tr h="310896">
                <a:tc>
                  <a:txBody>
                    <a:bodyPr/>
                    <a:lstStyle/>
                    <a:p>
                      <a:pPr algn="l"/>
                      <a:r>
                        <a:rPr sz="1150" b="0">
                          <a:solidFill>
                            <a:srgbClr val="5D6D7E"/>
                          </a:solidFill>
                          <a:latin typeface="Arial"/>
                        </a:rPr>
                        <a:t>Accepted by the grid (kept + swap-in)</a:t>
                      </a:r>
                    </a:p>
                  </a:txBody>
                  <a:tcPr>
                    <a:solidFill>
                      <a:srgbClr val="FFFFFF"/>
                    </a:solidFill>
                  </a:tcPr>
                </a:tc>
                <a:tc>
                  <a:txBody>
                    <a:bodyPr/>
                    <a:lstStyle/>
                    <a:p>
                      <a:pPr algn="r"/>
                      <a:r>
                        <a:rPr sz="1150" b="0">
                          <a:solidFill>
                            <a:srgbClr val="5D6D7E"/>
                          </a:solidFill>
                          <a:latin typeface="Arial"/>
                        </a:rPr>
                        <a:t>76.0%</a:t>
                      </a:r>
                    </a:p>
                  </a:txBody>
                  <a:tcPr>
                    <a:solidFill>
                      <a:srgbClr val="FFFFFF"/>
                    </a:solidFill>
                  </a:tcPr>
                </a:tc>
                <a:tc>
                  <a:txBody>
                    <a:bodyPr/>
                    <a:lstStyle/>
                    <a:p>
                      <a:pPr algn="r"/>
                      <a:r>
                        <a:rPr sz="1150" b="0">
                          <a:solidFill>
                            <a:srgbClr val="5D6D7E"/>
                          </a:solidFill>
                          <a:latin typeface="Arial"/>
                        </a:rPr>
                        <a:t>€14.6M</a:t>
                      </a:r>
                    </a:p>
                  </a:txBody>
                  <a:tcPr>
                    <a:solidFill>
                      <a:srgbClr val="FFFFFF"/>
                    </a:solidFill>
                  </a:tcPr>
                </a:tc>
                <a:tc>
                  <a:txBody>
                    <a:bodyPr/>
                    <a:lstStyle/>
                    <a:p>
                      <a:pPr algn="r"/>
                      <a:r>
                        <a:rPr sz="1150" b="0">
                          <a:solidFill>
                            <a:srgbClr val="5D6D7E"/>
                          </a:solidFill>
                          <a:latin typeface="Arial"/>
                        </a:rPr>
                        <a:t>3.51%</a:t>
                      </a:r>
                    </a:p>
                  </a:txBody>
                  <a:tcPr>
                    <a:solidFill>
                      <a:srgbClr val="FFFFFF"/>
                    </a:solidFill>
                  </a:tcPr>
                </a:tc>
              </a:tr>
              <a:tr h="310896">
                <a:tc>
                  <a:txBody>
                    <a:bodyPr/>
                    <a:lstStyle/>
                    <a:p>
                      <a:pPr algn="l"/>
                      <a:r>
                        <a:rPr sz="1150" b="0">
                          <a:solidFill>
                            <a:srgbClr val="5D6D7E"/>
                          </a:solidFill>
                          <a:latin typeface="Arial"/>
                        </a:rPr>
                        <a:t>Today's book, valued the same way</a:t>
                      </a:r>
                    </a:p>
                  </a:txBody>
                  <a:tcPr>
                    <a:solidFill>
                      <a:srgbClr val="FFFFFF"/>
                    </a:solidFill>
                  </a:tcPr>
                </a:tc>
                <a:tc>
                  <a:txBody>
                    <a:bodyPr/>
                    <a:lstStyle/>
                    <a:p>
                      <a:pPr algn="r"/>
                      <a:r>
                        <a:rPr sz="1150" b="0">
                          <a:solidFill>
                            <a:srgbClr val="5D6D7E"/>
                          </a:solidFill>
                          <a:latin typeface="Arial"/>
                        </a:rPr>
                        <a:t>47.2%</a:t>
                      </a:r>
                    </a:p>
                  </a:txBody>
                  <a:tcPr>
                    <a:solidFill>
                      <a:srgbClr val="FFFFFF"/>
                    </a:solidFill>
                  </a:tcPr>
                </a:tc>
                <a:tc>
                  <a:txBody>
                    <a:bodyPr/>
                    <a:lstStyle/>
                    <a:p>
                      <a:pPr algn="r"/>
                      <a:r>
                        <a:rPr sz="1150" b="0">
                          <a:solidFill>
                            <a:srgbClr val="5D6D7E"/>
                          </a:solidFill>
                          <a:latin typeface="Arial"/>
                        </a:rPr>
                        <a:t>€11.3M</a:t>
                      </a:r>
                    </a:p>
                  </a:txBody>
                  <a:tcPr>
                    <a:solidFill>
                      <a:srgbClr val="FFFFFF"/>
                    </a:solidFill>
                  </a:tcPr>
                </a:tc>
                <a:tc>
                  <a:txBody>
                    <a:bodyPr/>
                    <a:lstStyle/>
                    <a:p>
                      <a:pPr algn="r"/>
                      <a:r>
                        <a:rPr sz="1150" b="0">
                          <a:solidFill>
                            <a:srgbClr val="5D6D7E"/>
                          </a:solidFill>
                          <a:latin typeface="Arial"/>
                        </a:rPr>
                        <a:t>3.74%</a:t>
                      </a:r>
                    </a:p>
                  </a:txBody>
                  <a:tcPr>
                    <a:solidFill>
                      <a:srgbClr val="FFFFFF"/>
                    </a:solidFill>
                  </a:tcPr>
                </a:tc>
              </a:tr>
            </a:tbl>
          </a:graphicData>
        </a:graphic>
      </p:graphicFrame>
      <p:graphicFrame>
        <p:nvGraphicFramePr>
          <p:cNvPr id="7" name="Table 6"/>
          <p:cNvGraphicFramePr>
            <a:graphicFrameLocks noGrp="1"/>
          </p:cNvGraphicFramePr>
          <p:nvPr/>
        </p:nvGraphicFramePr>
        <p:xfrm>
          <a:off x="7699248" y="1563624"/>
          <a:ext cx="3886198" cy="1865376"/>
        </p:xfrm>
        <a:graphic>
          <a:graphicData uri="http://schemas.openxmlformats.org/drawingml/2006/table">
            <a:tbl>
              <a:tblPr firstRow="1" bandRow="1">
                <a:tableStyleId>{5C22544A-7EE6-4342-B048-85BDC9FD1C3A}</a:tableStyleId>
              </a:tblPr>
              <a:tblGrid>
                <a:gridCol w="1876096"/>
                <a:gridCol w="670034"/>
                <a:gridCol w="670034"/>
                <a:gridCol w="670034"/>
              </a:tblGrid>
              <a:tr h="310896">
                <a:tc>
                  <a:txBody>
                    <a:bodyPr/>
                    <a:lstStyle/>
                    <a:p>
                      <a:pPr algn="l"/>
                      <a:r>
                        <a:rPr sz="1150" b="1">
                          <a:solidFill>
                            <a:srgbClr val="2C3E50"/>
                          </a:solidFill>
                          <a:latin typeface="Arial"/>
                        </a:rPr>
                        <a:t>Monthly run-rate</a:t>
                      </a:r>
                    </a:p>
                  </a:txBody>
                  <a:tcPr>
                    <a:solidFill>
                      <a:srgbClr val="F6F7F9"/>
                    </a:solidFill>
                  </a:tcPr>
                </a:tc>
                <a:tc>
                  <a:txBody>
                    <a:bodyPr/>
                    <a:lstStyle/>
                    <a:p>
                      <a:pPr algn="r"/>
                      <a:r>
                        <a:rPr sz="1150" b="1">
                          <a:solidFill>
                            <a:srgbClr val="2C3E50"/>
                          </a:solidFill>
                          <a:latin typeface="Arial"/>
                        </a:rPr>
                        <a:t>Online</a:t>
                      </a:r>
                    </a:p>
                  </a:txBody>
                  <a:tcPr>
                    <a:solidFill>
                      <a:srgbClr val="F6F7F9"/>
                    </a:solidFill>
                  </a:tcPr>
                </a:tc>
                <a:tc>
                  <a:txBody>
                    <a:bodyPr/>
                    <a:lstStyle/>
                    <a:p>
                      <a:pPr algn="r"/>
                      <a:r>
                        <a:rPr sz="1150" b="1">
                          <a:solidFill>
                            <a:srgbClr val="2C3E50"/>
                          </a:solidFill>
                          <a:latin typeface="Arial"/>
                        </a:rPr>
                        <a:t>Stores</a:t>
                      </a:r>
                    </a:p>
                  </a:txBody>
                  <a:tcPr>
                    <a:solidFill>
                      <a:srgbClr val="F6F7F9"/>
                    </a:solidFill>
                  </a:tcPr>
                </a:tc>
                <a:tc>
                  <a:txBody>
                    <a:bodyPr/>
                    <a:lstStyle/>
                    <a:p>
                      <a:pPr algn="r"/>
                      <a:r>
                        <a:rPr sz="1150" b="1">
                          <a:solidFill>
                            <a:srgbClr val="2C3E50"/>
                          </a:solidFill>
                          <a:latin typeface="Arial"/>
                        </a:rPr>
                        <a:t>Apple</a:t>
                      </a:r>
                    </a:p>
                  </a:txBody>
                  <a:tcPr>
                    <a:solidFill>
                      <a:srgbClr val="F6F7F9"/>
                    </a:solidFill>
                  </a:tcPr>
                </a:tc>
              </a:tr>
              <a:tr h="310896">
                <a:tc>
                  <a:txBody>
                    <a:bodyPr/>
                    <a:lstStyle/>
                    <a:p>
                      <a:pPr algn="l"/>
                      <a:r>
                        <a:rPr sz="1150" b="0">
                          <a:solidFill>
                            <a:srgbClr val="5D6D7E"/>
                          </a:solidFill>
                          <a:latin typeface="Arial"/>
                        </a:rPr>
                        <a:t>Effective months</a:t>
                      </a:r>
                    </a:p>
                  </a:txBody>
                  <a:tcPr>
                    <a:solidFill>
                      <a:srgbClr val="FFFFFF"/>
                    </a:solidFill>
                  </a:tcPr>
                </a:tc>
                <a:tc>
                  <a:txBody>
                    <a:bodyPr/>
                    <a:lstStyle/>
                    <a:p>
                      <a:pPr algn="r"/>
                      <a:r>
                        <a:rPr sz="1150" b="0">
                          <a:solidFill>
                            <a:srgbClr val="5D6D7E"/>
                          </a:solidFill>
                          <a:latin typeface="Arial"/>
                        </a:rPr>
                        <a:t>12.00</a:t>
                      </a:r>
                    </a:p>
                  </a:txBody>
                  <a:tcPr>
                    <a:solidFill>
                      <a:srgbClr val="FFFFFF"/>
                    </a:solidFill>
                  </a:tcPr>
                </a:tc>
                <a:tc>
                  <a:txBody>
                    <a:bodyPr/>
                    <a:lstStyle/>
                    <a:p>
                      <a:pPr algn="r"/>
                      <a:r>
                        <a:rPr sz="1150" b="0">
                          <a:solidFill>
                            <a:srgbClr val="5D6D7E"/>
                          </a:solidFill>
                          <a:latin typeface="Arial"/>
                        </a:rPr>
                        <a:t>1.45</a:t>
                      </a:r>
                    </a:p>
                  </a:txBody>
                  <a:tcPr>
                    <a:solidFill>
                      <a:srgbClr val="FFFFFF"/>
                    </a:solidFill>
                  </a:tcPr>
                </a:tc>
                <a:tc>
                  <a:txBody>
                    <a:bodyPr/>
                    <a:lstStyle/>
                    <a:p>
                      <a:pPr algn="r"/>
                      <a:r>
                        <a:rPr sz="1150" b="0">
                          <a:solidFill>
                            <a:srgbClr val="5D6D7E"/>
                          </a:solidFill>
                          <a:latin typeface="Arial"/>
                        </a:rPr>
                        <a:t>—</a:t>
                      </a:r>
                    </a:p>
                  </a:txBody>
                  <a:tcPr>
                    <a:solidFill>
                      <a:srgbClr val="FFFFFF"/>
                    </a:solidFill>
                  </a:tcPr>
                </a:tc>
              </a:tr>
              <a:tr h="310896">
                <a:tc>
                  <a:txBody>
                    <a:bodyPr/>
                    <a:lstStyle/>
                    <a:p>
                      <a:pPr algn="l"/>
                      <a:r>
                        <a:rPr sz="1150" b="0">
                          <a:solidFill>
                            <a:srgbClr val="5D6D7E"/>
                          </a:solidFill>
                          <a:latin typeface="Arial"/>
                        </a:rPr>
                        <a:t>Demand, €M/mo</a:t>
                      </a:r>
                    </a:p>
                  </a:txBody>
                  <a:tcPr>
                    <a:solidFill>
                      <a:srgbClr val="FFFFFF"/>
                    </a:solidFill>
                  </a:tcPr>
                </a:tc>
                <a:tc>
                  <a:txBody>
                    <a:bodyPr/>
                    <a:lstStyle/>
                    <a:p>
                      <a:pPr algn="r"/>
                      <a:r>
                        <a:rPr sz="1150" b="0">
                          <a:solidFill>
                            <a:srgbClr val="5D6D7E"/>
                          </a:solidFill>
                          <a:latin typeface="Arial"/>
                        </a:rPr>
                        <a:t>40.1</a:t>
                      </a:r>
                    </a:p>
                  </a:txBody>
                  <a:tcPr>
                    <a:solidFill>
                      <a:srgbClr val="FFFFFF"/>
                    </a:solidFill>
                  </a:tcPr>
                </a:tc>
                <a:tc>
                  <a:txBody>
                    <a:bodyPr/>
                    <a:lstStyle/>
                    <a:p>
                      <a:pPr algn="r"/>
                      <a:r>
                        <a:rPr sz="1150" b="0">
                          <a:solidFill>
                            <a:srgbClr val="5D6D7E"/>
                          </a:solidFill>
                          <a:latin typeface="Arial"/>
                        </a:rPr>
                        <a:t>16.5</a:t>
                      </a:r>
                    </a:p>
                  </a:txBody>
                  <a:tcPr>
                    <a:solidFill>
                      <a:srgbClr val="FFFFFF"/>
                    </a:solidFill>
                  </a:tcPr>
                </a:tc>
                <a:tc>
                  <a:txBody>
                    <a:bodyPr/>
                    <a:lstStyle/>
                    <a:p>
                      <a:pPr algn="r"/>
                      <a:r>
                        <a:rPr sz="1150" b="0">
                          <a:solidFill>
                            <a:srgbClr val="5D6D7E"/>
                          </a:solidFill>
                          <a:latin typeface="Arial"/>
                        </a:rPr>
                        <a:t>56.6</a:t>
                      </a:r>
                    </a:p>
                  </a:txBody>
                  <a:tcPr>
                    <a:solidFill>
                      <a:srgbClr val="FFFFFF"/>
                    </a:solidFill>
                  </a:tcPr>
                </a:tc>
              </a:tr>
              <a:tr h="310896">
                <a:tc>
                  <a:txBody>
                    <a:bodyPr/>
                    <a:lstStyle/>
                    <a:p>
                      <a:pPr algn="l"/>
                      <a:r>
                        <a:rPr sz="1150" b="0">
                          <a:solidFill>
                            <a:srgbClr val="5D6D7E"/>
                          </a:solidFill>
                          <a:latin typeface="Arial"/>
                        </a:rPr>
                        <a:t>Exp. production, €M/mo</a:t>
                      </a:r>
                    </a:p>
                  </a:txBody>
                  <a:tcPr>
                    <a:solidFill>
                      <a:srgbClr val="FFFFFF"/>
                    </a:solidFill>
                  </a:tcPr>
                </a:tc>
                <a:tc>
                  <a:txBody>
                    <a:bodyPr/>
                    <a:lstStyle/>
                    <a:p>
                      <a:pPr algn="r"/>
                      <a:r>
                        <a:rPr sz="1150" b="0">
                          <a:solidFill>
                            <a:srgbClr val="5D6D7E"/>
                          </a:solidFill>
                          <a:latin typeface="Arial"/>
                        </a:rPr>
                        <a:t>8.4</a:t>
                      </a:r>
                    </a:p>
                  </a:txBody>
                  <a:tcPr>
                    <a:solidFill>
                      <a:srgbClr val="FFFFFF"/>
                    </a:solidFill>
                  </a:tcPr>
                </a:tc>
                <a:tc>
                  <a:txBody>
                    <a:bodyPr/>
                    <a:lstStyle/>
                    <a:p>
                      <a:pPr algn="r"/>
                      <a:r>
                        <a:rPr sz="1150" b="0">
                          <a:solidFill>
                            <a:srgbClr val="5D6D7E"/>
                          </a:solidFill>
                          <a:latin typeface="Arial"/>
                        </a:rPr>
                        <a:t>10.1</a:t>
                      </a:r>
                    </a:p>
                  </a:txBody>
                  <a:tcPr>
                    <a:solidFill>
                      <a:srgbClr val="FFFFFF"/>
                    </a:solidFill>
                  </a:tcPr>
                </a:tc>
                <a:tc>
                  <a:txBody>
                    <a:bodyPr/>
                    <a:lstStyle/>
                    <a:p>
                      <a:pPr algn="r"/>
                      <a:r>
                        <a:rPr sz="1150" b="0">
                          <a:solidFill>
                            <a:srgbClr val="5D6D7E"/>
                          </a:solidFill>
                          <a:latin typeface="Arial"/>
                        </a:rPr>
                        <a:t>18.5</a:t>
                      </a:r>
                    </a:p>
                  </a:txBody>
                  <a:tcPr>
                    <a:solidFill>
                      <a:srgbClr val="FFFFFF"/>
                    </a:solidFill>
                  </a:tcPr>
                </a:tc>
              </a:tr>
              <a:tr h="310896">
                <a:tc>
                  <a:txBody>
                    <a:bodyPr/>
                    <a:lstStyle/>
                    <a:p>
                      <a:pPr algn="l"/>
                      <a:r>
                        <a:rPr sz="1150" b="0">
                          <a:solidFill>
                            <a:srgbClr val="5D6D7E"/>
                          </a:solidFill>
                          <a:latin typeface="Arial"/>
                        </a:rPr>
                        <a:t>Share of exp. H6 exposure</a:t>
                      </a:r>
                    </a:p>
                  </a:txBody>
                  <a:tcPr>
                    <a:solidFill>
                      <a:srgbClr val="FFFFFF"/>
                    </a:solidFill>
                  </a:tcPr>
                </a:tc>
                <a:tc>
                  <a:txBody>
                    <a:bodyPr/>
                    <a:lstStyle/>
                    <a:p>
                      <a:pPr algn="r"/>
                      <a:r>
                        <a:rPr sz="1150" b="0">
                          <a:solidFill>
                            <a:srgbClr val="5D6D7E"/>
                          </a:solidFill>
                          <a:latin typeface="Arial"/>
                        </a:rPr>
                        <a:t>45%</a:t>
                      </a:r>
                    </a:p>
                  </a:txBody>
                  <a:tcPr>
                    <a:solidFill>
                      <a:srgbClr val="FFFFFF"/>
                    </a:solidFill>
                  </a:tcPr>
                </a:tc>
                <a:tc>
                  <a:txBody>
                    <a:bodyPr/>
                    <a:lstStyle/>
                    <a:p>
                      <a:pPr algn="r"/>
                      <a:r>
                        <a:rPr sz="1150" b="0">
                          <a:solidFill>
                            <a:srgbClr val="5D6D7E"/>
                          </a:solidFill>
                          <a:latin typeface="Arial"/>
                        </a:rPr>
                        <a:t>55%</a:t>
                      </a:r>
                    </a:p>
                  </a:txBody>
                  <a:tcPr>
                    <a:solidFill>
                      <a:srgbClr val="FFFFFF"/>
                    </a:solidFill>
                  </a:tcPr>
                </a:tc>
                <a:tc>
                  <a:txBody>
                    <a:bodyPr/>
                    <a:lstStyle/>
                    <a:p>
                      <a:pPr algn="r"/>
                      <a:r>
                        <a:rPr sz="1150" b="0">
                          <a:solidFill>
                            <a:srgbClr val="5D6D7E"/>
                          </a:solidFill>
                          <a:latin typeface="Arial"/>
                        </a:rPr>
                        <a:t>100%</a:t>
                      </a:r>
                    </a:p>
                  </a:txBody>
                  <a:tcPr>
                    <a:solidFill>
                      <a:srgbClr val="FFFFFF"/>
                    </a:solidFill>
                  </a:tcPr>
                </a:tc>
              </a:tr>
              <a:tr h="310896">
                <a:tc>
                  <a:txBody>
                    <a:bodyPr/>
                    <a:lstStyle/>
                    <a:p>
                      <a:pPr algn="l"/>
                      <a:r>
                        <a:rPr sz="1150" b="0">
                          <a:solidFill>
                            <a:srgbClr val="5D6D7E"/>
                          </a:solidFill>
                          <a:latin typeface="Arial"/>
                        </a:rPr>
                        <a:t>Risk (b2)</a:t>
                      </a:r>
                    </a:p>
                  </a:txBody>
                  <a:tcPr>
                    <a:solidFill>
                      <a:srgbClr val="FFFFFF"/>
                    </a:solidFill>
                  </a:tcPr>
                </a:tc>
                <a:tc>
                  <a:txBody>
                    <a:bodyPr/>
                    <a:lstStyle/>
                    <a:p>
                      <a:pPr algn="r"/>
                      <a:r>
                        <a:rPr sz="1150" b="0">
                          <a:solidFill>
                            <a:srgbClr val="5D6D7E"/>
                          </a:solidFill>
                          <a:latin typeface="Arial"/>
                        </a:rPr>
                        <a:t>4.26%</a:t>
                      </a:r>
                    </a:p>
                  </a:txBody>
                  <a:tcPr>
                    <a:solidFill>
                      <a:srgbClr val="FFFFFF"/>
                    </a:solidFill>
                  </a:tcPr>
                </a:tc>
                <a:tc>
                  <a:txBody>
                    <a:bodyPr/>
                    <a:lstStyle/>
                    <a:p>
                      <a:pPr algn="r"/>
                      <a:r>
                        <a:rPr sz="1150" b="0">
                          <a:solidFill>
                            <a:srgbClr val="5D6D7E"/>
                          </a:solidFill>
                          <a:latin typeface="Arial"/>
                        </a:rPr>
                        <a:t>3.51%</a:t>
                      </a:r>
                    </a:p>
                  </a:txBody>
                  <a:tcPr>
                    <a:solidFill>
                      <a:srgbClr val="FFFFFF"/>
                    </a:solidFill>
                  </a:tcPr>
                </a:tc>
                <a:tc>
                  <a:txBody>
                    <a:bodyPr/>
                    <a:lstStyle/>
                    <a:p>
                      <a:pPr algn="r"/>
                      <a:r>
                        <a:rPr sz="1150" b="0">
                          <a:solidFill>
                            <a:srgbClr val="5D6D7E"/>
                          </a:solidFill>
                          <a:latin typeface="Arial"/>
                        </a:rPr>
                        <a:t>3.85%</a:t>
                      </a:r>
                    </a:p>
                  </a:txBody>
                  <a:tcPr>
                    <a:solidFill>
                      <a:srgbClr val="FFFFFF"/>
                    </a:solidFill>
                  </a:tcPr>
                </a:tc>
              </a:tr>
            </a:tbl>
          </a:graphicData>
        </a:graphic>
      </p:graphicFrame>
      <p:sp>
        <p:nvSpPr>
          <p:cNvPr id="8" name="TextBox 7"/>
          <p:cNvSpPr txBox="1"/>
          <p:nvPr/>
        </p:nvSpPr>
        <p:spPr>
          <a:xfrm>
            <a:off x="7699248" y="3611880"/>
            <a:ext cx="3886200" cy="1463040"/>
          </a:xfrm>
          <a:prstGeom prst="rect">
            <a:avLst/>
          </a:prstGeom>
          <a:noFill/>
        </p:spPr>
        <p:txBody>
          <a:bodyPr wrap="square">
            <a:spAutoFit/>
          </a:bodyPr>
          <a:lstStyle/>
          <a:p>
            <a:pPr algn="l">
              <a:lnSpc>
                <a:spcPct val="120000"/>
              </a:lnSpc>
            </a:pPr>
            <a:r>
              <a:rPr sz="1050" b="0">
                <a:solidFill>
                  <a:srgbClr val="5D6D7E"/>
                </a:solidFill>
                <a:latin typeface="Arial"/>
              </a:rPr>
              <a:t>Risk blends by expected H6 exposure, the base of b2: stores are 29% of demand but 55% of exposure, because they convert 61% of what they are asked for and Online 21%. Online's 4.26% carries the reject-inference uplift on its own book (realized 4.18%).</a:t>
            </a:r>
          </a:p>
        </p:txBody>
      </p:sp>
      <p:sp>
        <p:nvSpPr>
          <p:cNvPr id="9" name="TextBox 8"/>
          <p:cNvSpPr txBox="1"/>
          <p:nvPr/>
        </p:nvSpPr>
        <p:spPr>
          <a:xfrm>
            <a:off x="566928" y="4215384"/>
            <a:ext cx="6858000" cy="2276856"/>
          </a:xfrm>
          <a:prstGeom prst="rect">
            <a:avLst/>
          </a:prstGeom>
          <a:noFill/>
        </p:spPr>
        <p:txBody>
          <a:bodyPr wrap="square">
            <a:spAutoFit/>
          </a:bodyPr>
          <a:lstStyle/>
          <a:p>
            <a:pPr>
              <a:spcAft>
                <a:spcPts val="900"/>
              </a:spcAft>
            </a:pPr>
            <a:r>
              <a:rPr sz="1050" b="1">
                <a:solidFill>
                  <a:srgbClr val="2C3E50"/>
                </a:solidFill>
                <a:latin typeface="Arial"/>
              </a:rPr>
              <a:t>1 · Score and bin.  </a:t>
            </a:r>
            <a:r>
              <a:rPr sz="1050">
                <a:solidFill>
                  <a:srgbClr val="5D6D7E"/>
                </a:solidFill>
                <a:latin typeface="Arial"/>
              </a:rPr>
              <a:t>Every application gets its EFX score and one of the 20 bins of the Online curve.</a:t>
            </a:r>
          </a:p>
          <a:p>
            <a:pPr>
              <a:spcAft>
                <a:spcPts val="900"/>
              </a:spcAft>
            </a:pPr>
            <a:r>
              <a:rPr sz="1050" b="1">
                <a:solidFill>
                  <a:srgbClr val="2C3E50"/>
                </a:solidFill>
                <a:latin typeface="Arial"/>
              </a:rPr>
              <a:t>2 · Apply the Online grid.  </a:t>
            </a:r>
            <a:r>
              <a:rPr sz="1050">
                <a:solidFill>
                  <a:srgbClr val="5D6D7E"/>
                </a:solidFill>
                <a:latin typeface="Arial"/>
              </a:rPr>
              <a:t>Accepted if above its group's reject threshold and not rejected by another rule — only the score rule is swapped; the engine's other rules stay.</a:t>
            </a:r>
          </a:p>
          <a:p>
            <a:pPr>
              <a:spcAft>
                <a:spcPts val="900"/>
              </a:spcAft>
            </a:pPr>
            <a:r>
              <a:rPr sz="1050" b="1">
                <a:solidFill>
                  <a:srgbClr val="2C3E50"/>
                </a:solidFill>
                <a:latin typeface="Arial"/>
              </a:rPr>
              <a:t>3 · Expected production.  </a:t>
            </a:r>
            <a:r>
              <a:rPr sz="1050">
                <a:solidFill>
                  <a:srgbClr val="5D6D7E"/>
                </a:solidFill>
                <a:latin typeface="Arial"/>
              </a:rPr>
              <a:t>€ applied for × the actual take-up of its engine decision (stores: approved 82%, referred 18%); cancellations are assumed to behave as today.</a:t>
            </a:r>
          </a:p>
          <a:p>
            <a:pPr>
              <a:spcAft>
                <a:spcPts val="900"/>
              </a:spcAft>
            </a:pPr>
            <a:r>
              <a:rPr sz="1050" b="1">
                <a:solidFill>
                  <a:srgbClr val="2C3E50"/>
                </a:solidFill>
                <a:latin typeface="Arial"/>
              </a:rPr>
              <a:t>4 · Impute risk.  </a:t>
            </a:r>
            <a:r>
              <a:rPr sz="1050">
                <a:solidFill>
                  <a:srgbClr val="5D6D7E"/>
                </a:solidFill>
                <a:latin typeface="Arial"/>
              </a:rPr>
              <a:t>Each accepted € takes its bin's Online risk (reject-inference blended), weighted by expected H6 exposure; the level is rescaled by 0.952 so that today's store book reproduces its realized 3.74%.</a:t>
            </a:r>
          </a:p>
          <a:p>
            <a:pPr>
              <a:spcAft>
                <a:spcPts val="900"/>
              </a:spcAft>
            </a:pPr>
            <a:r>
              <a:rPr sz="1050" b="1">
                <a:solidFill>
                  <a:srgbClr val="2C3E50"/>
                </a:solidFill>
                <a:latin typeface="Arial"/>
              </a:rPr>
              <a:t>5 · What the grid leaves out.  </a:t>
            </a:r>
            <a:r>
              <a:rPr sz="1050">
                <a:solidFill>
                  <a:srgbClr val="5D6D7E"/>
                </a:solidFill>
                <a:latin typeface="Arial"/>
              </a:rPr>
              <a:t>The swap-out is 2.0% of demand with 48% imputed risk (median EFX 19): the octroi's weakest approvals. The swap-in brings 19.3% of demand at 4.1%.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METHODOLOGY · SEASONALITY</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Full years 2024 and 2025</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How months are annualised</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3624"/>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18488"/>
            <a:ext cx="420624" cy="310896"/>
          </a:xfrm>
          <a:prstGeom prst="rect">
            <a:avLst/>
          </a:prstGeom>
          <a:noFill/>
        </p:spPr>
        <p:txBody>
          <a:bodyPr wrap="square">
            <a:spAutoFit/>
          </a:bodyPr>
          <a:lstStyle/>
          <a:p>
            <a:pPr algn="ctr">
              <a:lnSpc>
                <a:spcPct val="100000"/>
              </a:lnSpc>
            </a:pPr>
            <a:r>
              <a:rPr sz="1400" b="1">
                <a:solidFill>
                  <a:srgbClr val="FFFFFF"/>
                </a:solidFill>
                <a:latin typeface="Arial"/>
              </a:rPr>
              <a:t>1</a:t>
            </a:r>
          </a:p>
        </p:txBody>
      </p:sp>
      <p:sp>
        <p:nvSpPr>
          <p:cNvPr id="8" name="TextBox 7"/>
          <p:cNvSpPr txBox="1"/>
          <p:nvPr/>
        </p:nvSpPr>
        <p:spPr>
          <a:xfrm>
            <a:off x="1188720" y="1563624"/>
            <a:ext cx="8863279" cy="274320"/>
          </a:xfrm>
          <a:prstGeom prst="rect">
            <a:avLst/>
          </a:prstGeom>
          <a:noFill/>
        </p:spPr>
        <p:txBody>
          <a:bodyPr wrap="square">
            <a:spAutoFit/>
          </a:bodyPr>
          <a:lstStyle/>
          <a:p>
            <a:pPr algn="l">
              <a:lnSpc>
                <a:spcPct val="100000"/>
              </a:lnSpc>
            </a:pPr>
            <a:r>
              <a:rPr sz="1300" b="1">
                <a:solidFill>
                  <a:srgbClr val="2C3E50"/>
                </a:solidFill>
                <a:latin typeface="Arial"/>
              </a:rPr>
              <a:t>The problem: stores only have the score for Aug–Sep 2026</a:t>
            </a:r>
          </a:p>
        </p:txBody>
      </p:sp>
      <p:sp>
        <p:nvSpPr>
          <p:cNvPr id="9" name="TextBox 8"/>
          <p:cNvSpPr txBox="1"/>
          <p:nvPr/>
        </p:nvSpPr>
        <p:spPr>
          <a:xfrm>
            <a:off x="1188720" y="1837944"/>
            <a:ext cx="8863279" cy="603504"/>
          </a:xfrm>
          <a:prstGeom prst="rect">
            <a:avLst/>
          </a:prstGeom>
          <a:noFill/>
        </p:spPr>
        <p:txBody>
          <a:bodyPr wrap="square">
            <a:spAutoFit/>
          </a:bodyPr>
          <a:lstStyle/>
          <a:p>
            <a:pPr algn="l">
              <a:lnSpc>
                <a:spcPct val="118000"/>
              </a:lnSpc>
            </a:pPr>
            <a:r>
              <a:rPr sz="1100" b="0">
                <a:solidFill>
                  <a:srgbClr val="5D6D7E"/>
                </a:solidFill>
                <a:latin typeface="Arial"/>
              </a:rPr>
              <a:t>The EFX score went live in stores in Aug 2026. Comparing 2 months on their own against a twelve-month average requires knowing what each month is worth.</a:t>
            </a:r>
          </a:p>
        </p:txBody>
      </p:sp>
      <p:sp>
        <p:nvSpPr>
          <p:cNvPr id="10" name="TextBox 9"/>
          <p:cNvSpPr txBox="1"/>
          <p:nvPr/>
        </p:nvSpPr>
        <p:spPr>
          <a:xfrm>
            <a:off x="10161727" y="1581912"/>
            <a:ext cx="1463040" cy="274320"/>
          </a:xfrm>
          <a:prstGeom prst="rect">
            <a:avLst/>
          </a:prstGeom>
          <a:noFill/>
        </p:spPr>
        <p:txBody>
          <a:bodyPr wrap="square">
            <a:spAutoFit/>
          </a:bodyPr>
          <a:lstStyle/>
          <a:p>
            <a:pPr algn="r">
              <a:lnSpc>
                <a:spcPct val="100000"/>
              </a:lnSpc>
            </a:pPr>
            <a:r>
              <a:rPr sz="1000" b="1">
                <a:solidFill>
                  <a:srgbClr val="3498DB"/>
                </a:solidFill>
                <a:latin typeface="Arial"/>
              </a:rPr>
              <a:t>MEASURED</a:t>
            </a:r>
          </a:p>
        </p:txBody>
      </p:sp>
      <p:sp>
        <p:nvSpPr>
          <p:cNvPr id="11" name="Rectangle 10"/>
          <p:cNvSpPr/>
          <p:nvPr/>
        </p:nvSpPr>
        <p:spPr>
          <a:xfrm>
            <a:off x="566928" y="2496312"/>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51176"/>
            <a:ext cx="420624" cy="310896"/>
          </a:xfrm>
          <a:prstGeom prst="rect">
            <a:avLst/>
          </a:prstGeom>
          <a:noFill/>
        </p:spPr>
        <p:txBody>
          <a:bodyPr wrap="square">
            <a:spAutoFit/>
          </a:bodyPr>
          <a:lstStyle/>
          <a:p>
            <a:pPr algn="ctr">
              <a:lnSpc>
                <a:spcPct val="100000"/>
              </a:lnSpc>
            </a:pPr>
            <a:r>
              <a:rPr sz="1400" b="1">
                <a:solidFill>
                  <a:srgbClr val="FFFFFF"/>
                </a:solidFill>
                <a:latin typeface="Arial"/>
              </a:rPr>
              <a:t>2</a:t>
            </a:r>
          </a:p>
        </p:txBody>
      </p:sp>
      <p:sp>
        <p:nvSpPr>
          <p:cNvPr id="13" name="TextBox 12"/>
          <p:cNvSpPr txBox="1"/>
          <p:nvPr/>
        </p:nvSpPr>
        <p:spPr>
          <a:xfrm>
            <a:off x="1188720" y="2496312"/>
            <a:ext cx="8863279" cy="274320"/>
          </a:xfrm>
          <a:prstGeom prst="rect">
            <a:avLst/>
          </a:prstGeom>
          <a:noFill/>
        </p:spPr>
        <p:txBody>
          <a:bodyPr wrap="square">
            <a:spAutoFit/>
          </a:bodyPr>
          <a:lstStyle/>
          <a:p>
            <a:pPr algn="l">
              <a:lnSpc>
                <a:spcPct val="100000"/>
              </a:lnSpc>
            </a:pPr>
            <a:r>
              <a:rPr sz="1300" b="1">
                <a:solidFill>
                  <a:srgbClr val="2C3E50"/>
                </a:solidFill>
                <a:latin typeface="Arial"/>
              </a:rPr>
              <a:t>August and September: no average month, and each channel has its own</a:t>
            </a:r>
          </a:p>
        </p:txBody>
      </p:sp>
      <p:sp>
        <p:nvSpPr>
          <p:cNvPr id="14" name="TextBox 13"/>
          <p:cNvSpPr txBox="1"/>
          <p:nvPr/>
        </p:nvSpPr>
        <p:spPr>
          <a:xfrm>
            <a:off x="1188720" y="2770632"/>
            <a:ext cx="8863279" cy="603504"/>
          </a:xfrm>
          <a:prstGeom prst="rect">
            <a:avLst/>
          </a:prstGeom>
          <a:noFill/>
        </p:spPr>
        <p:txBody>
          <a:bodyPr wrap="square">
            <a:spAutoFit/>
          </a:bodyPr>
          <a:lstStyle/>
          <a:p>
            <a:pPr algn="l">
              <a:lnSpc>
                <a:spcPct val="118000"/>
              </a:lnSpc>
            </a:pPr>
            <a:r>
              <a:rPr sz="1100" b="0">
                <a:solidFill>
                  <a:srgbClr val="5D6D7E"/>
                </a:solidFill>
                <a:latin typeface="Arial"/>
              </a:rPr>
              <a:t>Index for Aug and Sep: 0.49 / 2.03 in Online and 0.76 / 0.69 in stores. Online concentrates demand around the iPhone launch (Sep 2.03) and stores around Christmas (Dec 1.70). The correlation between the two profiles is 0.39: not the same pattern.</a:t>
            </a:r>
          </a:p>
        </p:txBody>
      </p:sp>
      <p:sp>
        <p:nvSpPr>
          <p:cNvPr id="15" name="TextBox 14"/>
          <p:cNvSpPr txBox="1"/>
          <p:nvPr/>
        </p:nvSpPr>
        <p:spPr>
          <a:xfrm>
            <a:off x="10161727" y="2514600"/>
            <a:ext cx="1463040" cy="274320"/>
          </a:xfrm>
          <a:prstGeom prst="rect">
            <a:avLst/>
          </a:prstGeom>
          <a:noFill/>
        </p:spPr>
        <p:txBody>
          <a:bodyPr wrap="square">
            <a:spAutoFit/>
          </a:bodyPr>
          <a:lstStyle/>
          <a:p>
            <a:pPr algn="r">
              <a:lnSpc>
                <a:spcPct val="100000"/>
              </a:lnSpc>
            </a:pPr>
            <a:r>
              <a:rPr sz="1000" b="1">
                <a:solidFill>
                  <a:srgbClr val="3498DB"/>
                </a:solidFill>
                <a:latin typeface="Arial"/>
              </a:rPr>
              <a:t>MEASURED</a:t>
            </a:r>
          </a:p>
        </p:txBody>
      </p:sp>
      <p:sp>
        <p:nvSpPr>
          <p:cNvPr id="16" name="Rectangle 15"/>
          <p:cNvSpPr/>
          <p:nvPr/>
        </p:nvSpPr>
        <p:spPr>
          <a:xfrm>
            <a:off x="566928" y="3429000"/>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483864"/>
            <a:ext cx="420624" cy="310896"/>
          </a:xfrm>
          <a:prstGeom prst="rect">
            <a:avLst/>
          </a:prstGeom>
          <a:noFill/>
        </p:spPr>
        <p:txBody>
          <a:bodyPr wrap="square">
            <a:spAutoFit/>
          </a:bodyPr>
          <a:lstStyle/>
          <a:p>
            <a:pPr algn="ctr">
              <a:lnSpc>
                <a:spcPct val="100000"/>
              </a:lnSpc>
            </a:pPr>
            <a:r>
              <a:rPr sz="1400" b="1">
                <a:solidFill>
                  <a:srgbClr val="FFFFFF"/>
                </a:solidFill>
                <a:latin typeface="Arial"/>
              </a:rPr>
              <a:t>3</a:t>
            </a:r>
          </a:p>
        </p:txBody>
      </p:sp>
      <p:sp>
        <p:nvSpPr>
          <p:cNvPr id="18" name="TextBox 17"/>
          <p:cNvSpPr txBox="1"/>
          <p:nvPr/>
        </p:nvSpPr>
        <p:spPr>
          <a:xfrm>
            <a:off x="1188720" y="3429000"/>
            <a:ext cx="8863279" cy="274320"/>
          </a:xfrm>
          <a:prstGeom prst="rect">
            <a:avLst/>
          </a:prstGeom>
          <a:noFill/>
        </p:spPr>
        <p:txBody>
          <a:bodyPr wrap="square">
            <a:spAutoFit/>
          </a:bodyPr>
          <a:lstStyle/>
          <a:p>
            <a:pPr algn="l">
              <a:lnSpc>
                <a:spcPct val="100000"/>
              </a:lnSpc>
            </a:pPr>
            <a:r>
              <a:rPr sz="1300" b="1">
                <a:solidFill>
                  <a:srgbClr val="2C3E50"/>
                </a:solidFill>
                <a:latin typeface="Arial"/>
              </a:rPr>
              <a:t>Effective months instead of calendar months</a:t>
            </a:r>
          </a:p>
        </p:txBody>
      </p:sp>
      <p:sp>
        <p:nvSpPr>
          <p:cNvPr id="19" name="TextBox 18"/>
          <p:cNvSpPr txBox="1"/>
          <p:nvPr/>
        </p:nvSpPr>
        <p:spPr>
          <a:xfrm>
            <a:off x="1188720" y="3703320"/>
            <a:ext cx="8863279" cy="603504"/>
          </a:xfrm>
          <a:prstGeom prst="rect">
            <a:avLst/>
          </a:prstGeom>
          <a:noFill/>
        </p:spPr>
        <p:txBody>
          <a:bodyPr wrap="square">
            <a:spAutoFit/>
          </a:bodyPr>
          <a:lstStyle/>
          <a:p>
            <a:pPr algn="l">
              <a:lnSpc>
                <a:spcPct val="118000"/>
              </a:lnSpc>
            </a:pPr>
            <a:r>
              <a:rPr sz="1100" b="0">
                <a:solidFill>
                  <a:srgbClr val="5D6D7E"/>
                </a:solidFill>
                <a:latin typeface="Arial"/>
              </a:rPr>
              <a:t>The run-rate is divided not by the number of months but by the sum of the seasonal index over the months covered. A full calendar year sums to 12.00 and changes nothing; the stores window (Aug–Sep 2026) sums to 1.45 and corrects for falling in weak store months.</a:t>
            </a:r>
          </a:p>
        </p:txBody>
      </p:sp>
      <p:sp>
        <p:nvSpPr>
          <p:cNvPr id="20" name="TextBox 19"/>
          <p:cNvSpPr txBox="1"/>
          <p:nvPr/>
        </p:nvSpPr>
        <p:spPr>
          <a:xfrm>
            <a:off x="10161727" y="3447288"/>
            <a:ext cx="1463040" cy="274320"/>
          </a:xfrm>
          <a:prstGeom prst="rect">
            <a:avLst/>
          </a:prstGeom>
          <a:noFill/>
        </p:spPr>
        <p:txBody>
          <a:bodyPr wrap="square">
            <a:spAutoFit/>
          </a:bodyPr>
          <a:lstStyle/>
          <a:p>
            <a:pPr algn="r">
              <a:lnSpc>
                <a:spcPct val="100000"/>
              </a:lnSpc>
            </a:pPr>
            <a:r>
              <a:rPr sz="1000" b="1">
                <a:solidFill>
                  <a:srgbClr val="5D6D7E"/>
                </a:solidFill>
                <a:latin typeface="Arial"/>
              </a:rPr>
              <a:t>CORRECTED</a:t>
            </a:r>
          </a:p>
        </p:txBody>
      </p:sp>
      <p:sp>
        <p:nvSpPr>
          <p:cNvPr id="21" name="Rectangle 20"/>
          <p:cNvSpPr/>
          <p:nvPr/>
        </p:nvSpPr>
        <p:spPr>
          <a:xfrm>
            <a:off x="566928" y="4361688"/>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416552"/>
            <a:ext cx="420624" cy="310896"/>
          </a:xfrm>
          <a:prstGeom prst="rect">
            <a:avLst/>
          </a:prstGeom>
          <a:noFill/>
        </p:spPr>
        <p:txBody>
          <a:bodyPr wrap="square">
            <a:spAutoFit/>
          </a:bodyPr>
          <a:lstStyle/>
          <a:p>
            <a:pPr algn="ctr">
              <a:lnSpc>
                <a:spcPct val="100000"/>
              </a:lnSpc>
            </a:pPr>
            <a:r>
              <a:rPr sz="1400" b="1">
                <a:solidFill>
                  <a:srgbClr val="FFFFFF"/>
                </a:solidFill>
                <a:latin typeface="Arial"/>
              </a:rPr>
              <a:t>4</a:t>
            </a:r>
          </a:p>
        </p:txBody>
      </p:sp>
      <p:sp>
        <p:nvSpPr>
          <p:cNvPr id="23" name="TextBox 22"/>
          <p:cNvSpPr txBox="1"/>
          <p:nvPr/>
        </p:nvSpPr>
        <p:spPr>
          <a:xfrm>
            <a:off x="1188720" y="4361688"/>
            <a:ext cx="8863279" cy="274320"/>
          </a:xfrm>
          <a:prstGeom prst="rect">
            <a:avLst/>
          </a:prstGeom>
          <a:noFill/>
        </p:spPr>
        <p:txBody>
          <a:bodyPr wrap="square">
            <a:spAutoFit/>
          </a:bodyPr>
          <a:lstStyle/>
          <a:p>
            <a:pPr algn="l">
              <a:lnSpc>
                <a:spcPct val="100000"/>
              </a:lnSpc>
            </a:pPr>
            <a:r>
              <a:rPr sz="1300" b="1">
                <a:solidFill>
                  <a:srgbClr val="2C3E50"/>
                </a:solidFill>
                <a:latin typeface="Arial"/>
              </a:rPr>
              <a:t>Effect on stores' weight in Apple Total</a:t>
            </a:r>
          </a:p>
        </p:txBody>
      </p:sp>
      <p:sp>
        <p:nvSpPr>
          <p:cNvPr id="24" name="TextBox 23"/>
          <p:cNvSpPr txBox="1"/>
          <p:nvPr/>
        </p:nvSpPr>
        <p:spPr>
          <a:xfrm>
            <a:off x="1188720" y="4636008"/>
            <a:ext cx="8863279" cy="603504"/>
          </a:xfrm>
          <a:prstGeom prst="rect">
            <a:avLst/>
          </a:prstGeom>
          <a:noFill/>
        </p:spPr>
        <p:txBody>
          <a:bodyPr wrap="square">
            <a:spAutoFit/>
          </a:bodyPr>
          <a:lstStyle/>
          <a:p>
            <a:pPr algn="l">
              <a:lnSpc>
                <a:spcPct val="118000"/>
              </a:lnSpc>
            </a:pPr>
            <a:r>
              <a:rPr sz="1100" b="0">
                <a:solidFill>
                  <a:srgbClr val="5D6D7E"/>
                </a:solidFill>
                <a:latin typeface="Arial"/>
              </a:rPr>
              <a:t>Uncorrected, stores appeared to be 23% of demand. With their own seasonality they are 29%. Had Online's profile been applied —the only option before stores' history was available— we would have said 19%, and every scenario would show less production than there really is.</a:t>
            </a:r>
          </a:p>
        </p:txBody>
      </p:sp>
      <p:sp>
        <p:nvSpPr>
          <p:cNvPr id="25" name="TextBox 24"/>
          <p:cNvSpPr txBox="1"/>
          <p:nvPr/>
        </p:nvSpPr>
        <p:spPr>
          <a:xfrm>
            <a:off x="10161727" y="4379976"/>
            <a:ext cx="1463040" cy="274320"/>
          </a:xfrm>
          <a:prstGeom prst="rect">
            <a:avLst/>
          </a:prstGeom>
          <a:noFill/>
        </p:spPr>
        <p:txBody>
          <a:bodyPr wrap="square">
            <a:spAutoFit/>
          </a:bodyPr>
          <a:lstStyle/>
          <a:p>
            <a:pPr algn="r">
              <a:lnSpc>
                <a:spcPct val="100000"/>
              </a:lnSpc>
            </a:pPr>
            <a:r>
              <a:rPr sz="1000" b="1">
                <a:solidFill>
                  <a:srgbClr val="3498DB"/>
                </a:solidFill>
                <a:latin typeface="Arial"/>
              </a:rPr>
              <a:t>MEASURED</a:t>
            </a:r>
          </a:p>
        </p:txBody>
      </p:sp>
      <p:sp>
        <p:nvSpPr>
          <p:cNvPr id="26" name="TextBox 25"/>
          <p:cNvSpPr txBox="1"/>
          <p:nvPr/>
        </p:nvSpPr>
        <p:spPr>
          <a:xfrm>
            <a:off x="566928" y="5806440"/>
            <a:ext cx="11057839" cy="822960"/>
          </a:xfrm>
          <a:prstGeom prst="rect">
            <a:avLst/>
          </a:prstGeom>
          <a:noFill/>
        </p:spPr>
        <p:txBody>
          <a:bodyPr wrap="square">
            <a:spAutoFit/>
          </a:bodyPr>
          <a:lstStyle/>
          <a:p>
            <a:pPr algn="l">
              <a:lnSpc>
                <a:spcPct val="120000"/>
              </a:lnSpc>
            </a:pPr>
            <a:r>
              <a:rPr sz="1150" b="0">
                <a:solidFill>
                  <a:srgbClr val="5D6D7E"/>
                </a:solidFill>
                <a:latin typeface="Arial"/>
              </a:rPr>
              <a:t>The index averages complete calendar years, so year-on-year volume growth is not mistaken for seasonality. What remains open is whether the Aug–Sep 2026 mix in stores is representative of the year.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APPENDIX · THE ENGINE OF THE STUDY</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Originations Mar 2025 – Feb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The EFX score ranks risk in e-commerce</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urve.png"/>
          <p:cNvPicPr>
            <a:picLocks noChangeAspect="1"/>
          </p:cNvPicPr>
          <p:nvPr/>
        </p:nvPicPr>
        <p:blipFill>
          <a:blip r:embed="rId2"/>
          <a:stretch>
            <a:fillRect/>
          </a:stretch>
        </p:blipFill>
        <p:spPr>
          <a:xfrm>
            <a:off x="1798613" y="1563624"/>
            <a:ext cx="8594469"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The risk curve by bin is the only measured piece of the study. Everything else —store risk, the scenarios— derives from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APPENDIX · BREAKDOWN BY SEGMENT</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Stores Aug–Sep 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Where the stores improvement comes from</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ores_segments.png"/>
          <p:cNvPicPr>
            <a:picLocks noChangeAspect="1"/>
          </p:cNvPicPr>
          <p:nvPr/>
        </p:nvPicPr>
        <p:blipFill>
          <a:blip r:embed="rId2"/>
          <a:stretch>
            <a:fillRect/>
          </a:stretch>
        </p:blipFill>
        <p:spPr>
          <a:xfrm>
            <a:off x="648653" y="1563624"/>
            <a:ext cx="10894388"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'New' is 81% of store demand and where risk falls. Take-up is measured by segment and by engine decision (approved / referred). '&gt;=G' is absent: it is always rejected, so it has neither acceptance nor risk.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APPENDIX · ANNUALISATION</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Full years 2024 and 2025</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The two channels do not share a seasonality</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asonality.png"/>
          <p:cNvPicPr>
            <a:picLocks noChangeAspect="1"/>
          </p:cNvPicPr>
          <p:nvPr/>
        </p:nvPicPr>
        <p:blipFill>
          <a:blip r:embed="rId2"/>
          <a:stretch>
            <a:fillRect/>
          </a:stretch>
        </p:blipFill>
        <p:spPr>
          <a:xfrm>
            <a:off x="1296112" y="1563624"/>
            <a:ext cx="9599470"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Stores only have the score for Aug–Sep 2026, so their weight in Apple depends on how it is annualised. Stores peak in December and September is their weakest month, the opposite of Online: using Online's curve would have cut their weight to 19% when with their own seasonality it is 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LIMITATIONS AND NEXT STEPS</a:t>
            </a:r>
          </a:p>
        </p:txBody>
      </p:sp>
      <p:sp>
        <p:nvSpPr>
          <p:cNvPr id="3" name="TextBox 2"/>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What is missing and what needs deciding</a:t>
            </a:r>
          </a:p>
        </p:txBody>
      </p:sp>
      <p:sp>
        <p:nvSpPr>
          <p:cNvPr id="4" name="Rectangle 3"/>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5394960" cy="365760"/>
          </a:xfrm>
          <a:prstGeom prst="rect">
            <a:avLst/>
          </a:prstGeom>
          <a:noFill/>
        </p:spPr>
        <p:txBody>
          <a:bodyPr wrap="square">
            <a:spAutoFit/>
          </a:bodyPr>
          <a:lstStyle/>
          <a:p>
            <a:pPr algn="l">
              <a:lnSpc>
                <a:spcPct val="100000"/>
              </a:lnSpc>
            </a:pPr>
            <a:r>
              <a:rPr sz="1500" b="1">
                <a:solidFill>
                  <a:srgbClr val="E74C3C"/>
                </a:solidFill>
                <a:latin typeface="Arial"/>
              </a:rPr>
              <a:t>Study limitations</a:t>
            </a:r>
          </a:p>
        </p:txBody>
      </p:sp>
      <p:sp>
        <p:nvSpPr>
          <p:cNvPr id="6" name="TextBox 5"/>
          <p:cNvSpPr txBox="1"/>
          <p:nvPr/>
        </p:nvSpPr>
        <p:spPr>
          <a:xfrm>
            <a:off x="566928" y="2020824"/>
            <a:ext cx="5394960" cy="4471416"/>
          </a:xfrm>
          <a:prstGeom prst="rect">
            <a:avLst/>
          </a:prstGeom>
          <a:noFill/>
        </p:spPr>
        <p:txBody>
          <a:bodyPr wrap="square">
            <a:spAutoFit/>
          </a:bodyPr>
          <a:lstStyle/>
          <a:p>
            <a:pPr>
              <a:spcAft>
                <a:spcPts val="900"/>
              </a:spcAft>
            </a:pPr>
            <a:r>
              <a:rPr sz="1200" b="1">
                <a:solidFill>
                  <a:srgbClr val="2C3E50"/>
                </a:solidFill>
                <a:latin typeface="Arial"/>
              </a:rPr>
              <a:t>Store risk is estimated.  </a:t>
            </a:r>
            <a:r>
              <a:rPr sz="1200">
                <a:solidFill>
                  <a:srgbClr val="5D6D7E"/>
                </a:solidFill>
                <a:latin typeface="Arial"/>
              </a:rPr>
              <a:t>Store contracts with EFX are 0–2 months old and have no observable performance yet. H3 around Dec 2026, H6 around Mar 2027.</a:t>
            </a:r>
          </a:p>
          <a:p>
            <a:pPr>
              <a:spcAft>
                <a:spcPts val="900"/>
              </a:spcAft>
            </a:pPr>
            <a:r>
              <a:rPr sz="1200" b="1">
                <a:solidFill>
                  <a:srgbClr val="2C3E50"/>
                </a:solidFill>
                <a:latin typeface="Arial"/>
              </a:rPr>
              <a:t>Conditional comparison.  </a:t>
            </a:r>
            <a:r>
              <a:rPr sz="1200">
                <a:solidFill>
                  <a:srgbClr val="5D6D7E"/>
                </a:solidFill>
                <a:latin typeface="Arial"/>
              </a:rPr>
              <a:t>The internal score and EFX are compared with EFX's yardstick. It does not prove EFX is better in stores: it assumes it. What is checked is the risk level, not the ranking power.</a:t>
            </a:r>
          </a:p>
          <a:p>
            <a:pPr>
              <a:spcAft>
                <a:spcPts val="900"/>
              </a:spcAft>
            </a:pPr>
            <a:r>
              <a:rPr sz="1200" b="1">
                <a:solidFill>
                  <a:srgbClr val="2C3E50"/>
                </a:solidFill>
                <a:latin typeface="Arial"/>
              </a:rPr>
              <a:t>Weak low bins.  </a:t>
            </a:r>
            <a:r>
              <a:rPr sz="1200">
                <a:solidFill>
                  <a:srgbClr val="5D6D7E"/>
                </a:solidFill>
                <a:latin typeface="Arial"/>
              </a:rPr>
              <a:t>Bins 1-5 carry under 0.5% of production each, and that is where the selection uplift weighs most (2.4x). They are the ones that open the loosest scenario.</a:t>
            </a:r>
          </a:p>
          <a:p>
            <a:pPr>
              <a:spcAft>
                <a:spcPts val="900"/>
              </a:spcAft>
            </a:pPr>
            <a:r>
              <a:rPr sz="1200" b="1">
                <a:solidFill>
                  <a:srgbClr val="2C3E50"/>
                </a:solidFill>
                <a:latin typeface="Arial"/>
              </a:rPr>
              <a:t>Only Aug–Sep 2026 in stores.  </a:t>
            </a:r>
            <a:r>
              <a:rPr sz="1200">
                <a:solidFill>
                  <a:srgbClr val="5D6D7E"/>
                </a:solidFill>
                <a:latin typeface="Arial"/>
              </a:rPr>
              <a:t>Their own seasonality is already measured, but a 2-month mix may not be representative, and store demand runs 40% above the average of the 'today' window: part of the improvement versus what was measured is volume, not grid.</a:t>
            </a:r>
          </a:p>
        </p:txBody>
      </p:sp>
      <p:sp>
        <p:nvSpPr>
          <p:cNvPr id="7" name="TextBox 6"/>
          <p:cNvSpPr txBox="1"/>
          <p:nvPr/>
        </p:nvSpPr>
        <p:spPr>
          <a:xfrm>
            <a:off x="6327648" y="1563624"/>
            <a:ext cx="5394960" cy="365760"/>
          </a:xfrm>
          <a:prstGeom prst="rect">
            <a:avLst/>
          </a:prstGeom>
          <a:noFill/>
        </p:spPr>
        <p:txBody>
          <a:bodyPr wrap="square">
            <a:spAutoFit/>
          </a:bodyPr>
          <a:lstStyle/>
          <a:p>
            <a:pPr algn="l">
              <a:lnSpc>
                <a:spcPct val="100000"/>
              </a:lnSpc>
            </a:pPr>
            <a:r>
              <a:rPr sz="1500" b="1">
                <a:solidFill>
                  <a:srgbClr val="3498DB"/>
                </a:solidFill>
                <a:latin typeface="Arial"/>
              </a:rPr>
              <a:t>Next steps</a:t>
            </a:r>
          </a:p>
        </p:txBody>
      </p:sp>
      <p:sp>
        <p:nvSpPr>
          <p:cNvPr id="8" name="TextBox 7"/>
          <p:cNvSpPr txBox="1"/>
          <p:nvPr/>
        </p:nvSpPr>
        <p:spPr>
          <a:xfrm>
            <a:off x="6327648" y="2020824"/>
            <a:ext cx="5394960" cy="4471416"/>
          </a:xfrm>
          <a:prstGeom prst="rect">
            <a:avLst/>
          </a:prstGeom>
          <a:noFill/>
        </p:spPr>
        <p:txBody>
          <a:bodyPr wrap="square">
            <a:spAutoFit/>
          </a:bodyPr>
          <a:lstStyle/>
          <a:p>
            <a:pPr>
              <a:spcAft>
                <a:spcPts val="900"/>
              </a:spcAft>
            </a:pPr>
            <a:r>
              <a:rPr sz="1200" b="1">
                <a:solidFill>
                  <a:srgbClr val="2C3E50"/>
                </a:solidFill>
                <a:latin typeface="Arial"/>
              </a:rPr>
              <a:t>Extraction.  </a:t>
            </a:r>
            <a:r>
              <a:rPr sz="1200">
                <a:solidFill>
                  <a:srgbClr val="5D6D7E"/>
                </a:solidFill>
                <a:latin typeface="Arial"/>
              </a:rPr>
              <a:t>Refresh Online through Sep 2026, EFX score in stores and their performance history to anchor the risk level.</a:t>
            </a:r>
          </a:p>
          <a:p>
            <a:pPr>
              <a:spcAft>
                <a:spcPts val="900"/>
              </a:spcAft>
            </a:pPr>
            <a:r>
              <a:rPr sz="1200" b="1">
                <a:solidFill>
                  <a:srgbClr val="2C3E50"/>
                </a:solidFill>
                <a:latin typeface="Arial"/>
              </a:rPr>
              <a:t>Business decision.  </a:t>
            </a:r>
            <a:r>
              <a:rPr sz="1200">
                <a:solidFill>
                  <a:srgbClr val="5D6D7E"/>
                </a:solidFill>
                <a:latin typeface="Arial"/>
              </a:rPr>
              <a:t>Global risk target, and whether the cutoff is single or by segment.</a:t>
            </a:r>
          </a:p>
          <a:p>
            <a:pPr>
              <a:spcAft>
                <a:spcPts val="900"/>
              </a:spcAft>
            </a:pPr>
            <a:r>
              <a:rPr sz="1200" b="1">
                <a:solidFill>
                  <a:srgbClr val="2C3E50"/>
                </a:solidFill>
                <a:latin typeface="Arial"/>
              </a:rPr>
              <a:t>Validation.  </a:t>
            </a:r>
            <a:r>
              <a:rPr sz="1200">
                <a:solidFill>
                  <a:srgbClr val="5D6D7E"/>
                </a:solidFill>
                <a:latin typeface="Arial"/>
              </a:rPr>
              <a:t>Rerun with the full pipeline: reject inference, confidence intervals and swap-in / swap-out audit.</a:t>
            </a:r>
          </a:p>
          <a:p>
            <a:pPr>
              <a:spcAft>
                <a:spcPts val="900"/>
              </a:spcAft>
            </a:pPr>
            <a:r>
              <a:rPr sz="1200" b="1">
                <a:solidFill>
                  <a:srgbClr val="2C3E50"/>
                </a:solidFill>
                <a:latin typeface="Arial"/>
              </a:rPr>
              <a:t>Measurement.  </a:t>
            </a:r>
            <a:r>
              <a:rPr sz="1200">
                <a:solidFill>
                  <a:srgbClr val="5D6D7E"/>
                </a:solidFill>
                <a:latin typeface="Arial"/>
              </a:rPr>
              <a:t>Review in Dec 2026 with H3 and in Mar 2027 with actual store H6.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